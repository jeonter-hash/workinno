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905970" cy="6858000"/>
  <p:notesSz cx="6858000" cy="990597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현재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A3A3A"/>
                    </a:solidFill>
                    <a:latin typeface="맑은 고딕"/>
                    <a:ea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업무 이관율</c:v>
                  </c:pt>
                  <c:pt idx="1">
                    <c:v>교육 수료율</c:v>
                  </c:pt>
                  <c:pt idx="2">
                    <c:v>표준 준수율</c:v>
                  </c:pt>
                  <c:pt idx="3">
                    <c:v>자동화 적용률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35</c:v>
                </c:pt>
                <c:pt idx="2">
                  <c:v>48</c:v>
                </c:pt>
                <c:pt idx="3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목표</c:v>
                </c:pt>
              </c:strCache>
            </c:strRef>
          </c:tx>
          <c:spPr>
            <a:solidFill>
              <a:srgbClr val="4A649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A3A3A"/>
                    </a:solidFill>
                    <a:latin typeface="맑은 고딕"/>
                    <a:ea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업무 이관율</c:v>
                  </c:pt>
                  <c:pt idx="1">
                    <c:v>교육 수료율</c:v>
                  </c:pt>
                  <c:pt idx="2">
                    <c:v>표준 준수율</c:v>
                  </c:pt>
                  <c:pt idx="3">
                    <c:v>자동화 적용률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</c:v>
                </c:pt>
                <c:pt idx="1">
                  <c:v>92</c:v>
                </c:pt>
                <c:pt idx="2">
                  <c:v>85</c:v>
                </c:pt>
                <c:pt idx="3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3A3A3A"/>
                  </a:solidFill>
                  <a:latin typeface="맑은 고딕"/>
                  <a:ea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7C7C7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6B6B"/>
                </a:solidFill>
                <a:latin typeface="맑은 고딕"/>
                <a:ea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C7C7C7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6B6B"/>
                </a:solidFill>
                <a:latin typeface="맑은 고딕"/>
                <a:ea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6B6B6B"/>
              </a:solidFill>
              <a:latin typeface="맑은 고딕"/>
              <a:ea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SA_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49808"/>
            <a:ext cx="8991570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77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전환 로드맵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446520"/>
            <a:ext cx="9905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B6B6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SA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446520"/>
            <a:ext cx="9905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B6B6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1.png"/><Relationship Id="rId4" Type="http://schemas.openxmlformats.org/officeDocument/2006/relationships/image" Target="../media/image-1-1.png"/><Relationship Id="rId5" Type="http://schemas.openxmlformats.org/officeDocument/2006/relationships/image" Target="../media/image-1-1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SA_COVER_RECT 표지 사진 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"/>
            <a:ext cx="2628443" cy="2386584"/>
          </a:xfrm>
          <a:prstGeom prst="rect">
            <a:avLst/>
          </a:prstGeom>
        </p:spPr>
      </p:pic>
      <p:pic>
        <p:nvPicPr>
          <p:cNvPr id="3" name="Image 1" descr="KSA_COVER_BAND 표지 사진 2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78242" y="109728"/>
            <a:ext cx="2628443" cy="2386584"/>
          </a:xfrm>
          <a:prstGeom prst="parallelogram">
            <a:avLst>
              <a:gd name="adj" fmla="val 21260"/>
            </a:avLst>
          </a:prstGeom>
        </p:spPr>
      </p:pic>
      <p:pic>
        <p:nvPicPr>
          <p:cNvPr id="4" name="Image 2" descr="KSA_COVER_BAND 표지 사진 3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99284" y="109728"/>
            <a:ext cx="2628443" cy="2386584"/>
          </a:xfrm>
          <a:prstGeom prst="parallelogram">
            <a:avLst>
              <a:gd name="adj" fmla="val 21260"/>
            </a:avLst>
          </a:prstGeom>
        </p:spPr>
      </p:pic>
      <p:pic>
        <p:nvPicPr>
          <p:cNvPr id="5" name="Image 3" descr="KSA_COVER_BAND 표지 사진 4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820327" y="109728"/>
            <a:ext cx="2628443" cy="2386584"/>
          </a:xfrm>
          <a:prstGeom prst="parallelogram">
            <a:avLst>
              <a:gd name="adj" fmla="val 21260"/>
            </a:avLst>
          </a:prstGeom>
        </p:spPr>
      </p:pic>
      <p:sp>
        <p:nvSpPr>
          <p:cNvPr id="6" name="Shape 0"/>
          <p:cNvSpPr/>
          <p:nvPr/>
        </p:nvSpPr>
        <p:spPr>
          <a:xfrm flipV="1">
            <a:off x="2578242" y="109728"/>
            <a:ext cx="507401" cy="2386584"/>
          </a:xfrm>
          <a:prstGeom prst="line">
            <a:avLst/>
          </a:prstGeom>
          <a:noFill/>
          <a:ln w="88900">
            <a:solidFill>
              <a:srgbClr val="FFFFFF"/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 flipV="1">
            <a:off x="4699284" y="109728"/>
            <a:ext cx="507401" cy="2386584"/>
          </a:xfrm>
          <a:prstGeom prst="line">
            <a:avLst/>
          </a:prstGeom>
          <a:noFill/>
          <a:ln w="88900">
            <a:solidFill>
              <a:srgbClr val="FFFFFF"/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 flipV="1">
            <a:off x="6820327" y="109728"/>
            <a:ext cx="507401" cy="2386584"/>
          </a:xfrm>
          <a:prstGeom prst="line">
            <a:avLst/>
          </a:prstGeom>
          <a:noFill/>
          <a:ln w="88900">
            <a:solidFill>
              <a:srgbClr val="FFFFFF"/>
            </a:solidFill>
            <a:prstDash val="solid"/>
          </a:ln>
        </p:spPr>
      </p:sp>
      <p:pic>
        <p:nvPicPr>
          <p:cNvPr id="9" name="Image 4" descr="KSA_COVER_HERO 표지 대형 사진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291840" y="2642616"/>
            <a:ext cx="6156930" cy="4215384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457200" y="2642616"/>
            <a:ext cx="3803904" cy="421538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1" name="Shape 4"/>
          <p:cNvSpPr/>
          <p:nvPr/>
        </p:nvSpPr>
        <p:spPr>
          <a:xfrm flipV="1">
            <a:off x="4261104" y="2642616"/>
            <a:ext cx="950976" cy="4215384"/>
          </a:xfrm>
          <a:prstGeom prst="rtTriangle">
            <a:avLst/>
          </a:prstGeom>
          <a:solidFill>
            <a:srgbClr val="1F3864"/>
          </a:solidFill>
          <a:ln/>
        </p:spPr>
      </p:sp>
      <p:sp>
        <p:nvSpPr>
          <p:cNvPr id="12" name="Shape 5"/>
          <p:cNvSpPr/>
          <p:nvPr/>
        </p:nvSpPr>
        <p:spPr>
          <a:xfrm flipV="1">
            <a:off x="4261104" y="2642616"/>
            <a:ext cx="950976" cy="4215384"/>
          </a:xfrm>
          <a:prstGeom prst="line">
            <a:avLst/>
          </a:prstGeom>
          <a:noFill/>
          <a:ln w="88900">
            <a:solidFill>
              <a:srgbClr val="FFFFF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48640" y="34564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○○공단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548640" y="37490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전환 로드맵</a:t>
            </a:r>
            <a:endParaRPr lang="en-US" sz="2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(최종보고)</a:t>
            </a:r>
            <a:endParaRPr lang="en-US" sz="2600" dirty="0"/>
          </a:p>
        </p:txBody>
      </p:sp>
      <p:sp>
        <p:nvSpPr>
          <p:cNvPr id="15" name="Shape 8"/>
          <p:cNvSpPr/>
          <p:nvPr/>
        </p:nvSpPr>
        <p:spPr>
          <a:xfrm>
            <a:off x="548640" y="4956048"/>
            <a:ext cx="35661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566928" y="50840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2026.01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566928" y="54315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한국표준협회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59536"/>
            <a:ext cx="89915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spc="-40" kern="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929384"/>
            <a:ext cx="899157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299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C430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80160" y="20208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 진단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90994" y="2194560"/>
            <a:ext cx="6480536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ysDot"/>
          </a:ln>
        </p:spPr>
      </p:sp>
      <p:sp>
        <p:nvSpPr>
          <p:cNvPr id="7" name="Text 5"/>
          <p:cNvSpPr/>
          <p:nvPr/>
        </p:nvSpPr>
        <p:spPr>
          <a:xfrm>
            <a:off x="8808690" y="20208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업무시간 구조와 절감 여력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38784" y="2551176"/>
            <a:ext cx="5232745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ysDot"/>
          </a:ln>
        </p:spPr>
      </p:sp>
      <p:sp>
        <p:nvSpPr>
          <p:cNvPr id="10" name="Text 8"/>
          <p:cNvSpPr/>
          <p:nvPr/>
        </p:nvSpPr>
        <p:spPr>
          <a:xfrm>
            <a:off x="8808690" y="2377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554480" y="2624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절감 경로별 기여도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956804" y="2798064"/>
            <a:ext cx="5714726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ysDot"/>
          </a:ln>
        </p:spPr>
      </p:sp>
      <p:sp>
        <p:nvSpPr>
          <p:cNvPr id="13" name="Text 11"/>
          <p:cNvSpPr/>
          <p:nvPr/>
        </p:nvSpPr>
        <p:spPr>
          <a:xfrm>
            <a:off x="8808690" y="26243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554480" y="28712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경로 분해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598999" y="3044952"/>
            <a:ext cx="6072530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ysDot"/>
          </a:ln>
        </p:spPr>
      </p:sp>
      <p:sp>
        <p:nvSpPr>
          <p:cNvPr id="16" name="Text 14"/>
          <p:cNvSpPr/>
          <p:nvPr/>
        </p:nvSpPr>
        <p:spPr>
          <a:xfrm>
            <a:off x="8808690" y="28712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191256"/>
            <a:ext cx="899157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826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C430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80160" y="3273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 과제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190994" y="3447288"/>
            <a:ext cx="6480536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ysDot"/>
          </a:ln>
        </p:spPr>
      </p:sp>
      <p:sp>
        <p:nvSpPr>
          <p:cNvPr id="21" name="Text 19"/>
          <p:cNvSpPr/>
          <p:nvPr/>
        </p:nvSpPr>
        <p:spPr>
          <a:xfrm>
            <a:off x="8808690" y="32735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54480" y="3630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게이트와 통과 기준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73039" y="3803904"/>
            <a:ext cx="5298491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ysDot"/>
          </a:ln>
        </p:spPr>
      </p:sp>
      <p:sp>
        <p:nvSpPr>
          <p:cNvPr id="24" name="Text 22"/>
          <p:cNvSpPr/>
          <p:nvPr/>
        </p:nvSpPr>
        <p:spPr>
          <a:xfrm>
            <a:off x="8808690" y="36301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3950208"/>
            <a:ext cx="899157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041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C430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280160" y="40325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로드맵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368845" y="4206240"/>
            <a:ext cx="6302685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ysDot"/>
          </a:ln>
        </p:spPr>
      </p:sp>
      <p:sp>
        <p:nvSpPr>
          <p:cNvPr id="29" name="Text 27"/>
          <p:cNvSpPr/>
          <p:nvPr/>
        </p:nvSpPr>
        <p:spPr>
          <a:xfrm>
            <a:off x="8808690" y="40325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55448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 착수 4개 과제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934950" y="4562856"/>
            <a:ext cx="5736580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ysDot"/>
          </a:ln>
        </p:spPr>
      </p:sp>
      <p:sp>
        <p:nvSpPr>
          <p:cNvPr id="32" name="Text 30"/>
          <p:cNvSpPr/>
          <p:nvPr/>
        </p:nvSpPr>
        <p:spPr>
          <a:xfrm>
            <a:off x="8808690" y="4389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55448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체계와 역할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810774" y="4809744"/>
            <a:ext cx="5860755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ysDot"/>
          </a:ln>
        </p:spPr>
      </p:sp>
      <p:sp>
        <p:nvSpPr>
          <p:cNvPr id="35" name="Text 33"/>
          <p:cNvSpPr/>
          <p:nvPr/>
        </p:nvSpPr>
        <p:spPr>
          <a:xfrm>
            <a:off x="8808690" y="46360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554480" y="4882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12개월 실행 일정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825405" y="5056632"/>
            <a:ext cx="5846125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ysDot"/>
          </a:ln>
        </p:spPr>
      </p:sp>
      <p:sp>
        <p:nvSpPr>
          <p:cNvPr id="38" name="Text 36"/>
          <p:cNvSpPr/>
          <p:nvPr/>
        </p:nvSpPr>
        <p:spPr>
          <a:xfrm>
            <a:off x="8808690" y="48828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57200" y="5202936"/>
            <a:ext cx="899157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5294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C430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280160" y="5285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관리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190994" y="5458968"/>
            <a:ext cx="6480536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ysDot"/>
          </a:ln>
        </p:spPr>
      </p:sp>
      <p:sp>
        <p:nvSpPr>
          <p:cNvPr id="43" name="Text 41"/>
          <p:cNvSpPr/>
          <p:nvPr/>
        </p:nvSpPr>
        <p:spPr>
          <a:xfrm>
            <a:off x="8808690" y="52852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554480" y="56418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 교육 체계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2598999" y="5815584"/>
            <a:ext cx="6072530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ysDot"/>
          </a:ln>
        </p:spPr>
      </p:sp>
      <p:sp>
        <p:nvSpPr>
          <p:cNvPr id="46" name="Text 44"/>
          <p:cNvSpPr/>
          <p:nvPr/>
        </p:nvSpPr>
        <p:spPr>
          <a:xfrm>
            <a:off x="8808690" y="56418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554480" y="58887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성과지표 5종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555199" y="6062472"/>
            <a:ext cx="6116330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ysDot"/>
          </a:ln>
        </p:spPr>
      </p:sp>
      <p:sp>
        <p:nvSpPr>
          <p:cNvPr id="49" name="Text 47"/>
          <p:cNvSpPr/>
          <p:nvPr/>
        </p:nvSpPr>
        <p:spPr>
          <a:xfrm>
            <a:off x="8808690" y="58887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446520"/>
            <a:ext cx="9905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B6B6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" kern="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9915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spc="-40" kern="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요약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07592"/>
            <a:ext cx="8991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절감 여력 8,100시간 중 65%가 상위 4개 업무에 집중되어 있어, 선별 추진 시 1년 내 6,300시간 절감이 가능함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9384"/>
            <a:ext cx="211071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038198"/>
            <a:ext cx="1799814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12,400h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12648" y="2615184"/>
            <a:ext cx="1799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총 업무시간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50790" y="1929384"/>
            <a:ext cx="211071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6238" y="2038198"/>
            <a:ext cx="1799814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8,100h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906238" y="2615184"/>
            <a:ext cx="1799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정형·반복 구간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44379" y="1929384"/>
            <a:ext cx="211071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9827" y="2038198"/>
            <a:ext cx="1799814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199827" y="2615184"/>
            <a:ext cx="1799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절감 상위 업무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38060" y="1929384"/>
            <a:ext cx="2110710" cy="109728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3508" y="2038198"/>
            <a:ext cx="1799814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493508" y="2615184"/>
            <a:ext cx="1799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4개 집중도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319272"/>
            <a:ext cx="2875239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3474720"/>
            <a:ext cx="2564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진단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" y="3785616"/>
            <a:ext cx="2564343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3961067"/>
            <a:ext cx="146304" cy="19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13816" y="3961067"/>
            <a:ext cx="2363175" cy="19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 업무의 시간을 실측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2648" y="4473702"/>
            <a:ext cx="146304" cy="19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13816" y="4473702"/>
            <a:ext cx="2363175" cy="19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절감 경로 3대 유형을 확인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515319" y="3319272"/>
            <a:ext cx="2875239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70767" y="3474720"/>
            <a:ext cx="2564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설계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70767" y="3785616"/>
            <a:ext cx="2564343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70767" y="3961067"/>
            <a:ext cx="146304" cy="19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871935" y="3961067"/>
            <a:ext cx="2363175" cy="19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게이트를 구성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70767" y="4473702"/>
            <a:ext cx="146304" cy="19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871935" y="4473702"/>
            <a:ext cx="2363175" cy="19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 기준을 사전 합의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573530" y="3319272"/>
            <a:ext cx="2875239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8978" y="3474720"/>
            <a:ext cx="2564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실행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728978" y="3785616"/>
            <a:ext cx="2564343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8978" y="3961067"/>
            <a:ext cx="146304" cy="19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930146" y="3961067"/>
            <a:ext cx="2363175" cy="19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4개 과제부터 착수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728978" y="4473702"/>
            <a:ext cx="146304" cy="19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930146" y="4473702"/>
            <a:ext cx="2363175" cy="19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분기마다 산출물 1건을 확인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7200" y="5074920"/>
            <a:ext cx="8991570" cy="658368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" y="5074920"/>
            <a:ext cx="86806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4개에 자원을 모으면 1년 안에 목표의 82%에 도달 — 나머지는 2차 연도로 이월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" y="6044184"/>
            <a:ext cx="89915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주) 절감 시간은 12개 업무의 실측값이며, 인건비 환산액은 포함하지 않음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446520"/>
            <a:ext cx="9905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B6B6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" kern="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현황 진단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9915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spc="-40" kern="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절감 경로별 기여도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07592"/>
            <a:ext cx="8991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경로 중 문서 자동화가 21천 시간으로 최대 기여하며, 4개 합산 시 목표 72천 시간 수준에 도달함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9384"/>
            <a:ext cx="899157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20939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업무시간 절감 경로 (천 시간)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6656" y="2386584"/>
            <a:ext cx="475488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9595" y="2829716"/>
            <a:ext cx="743404" cy="235493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003" y="2610260"/>
            <a:ext cx="10725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8427" y="5230368"/>
            <a:ext cx="1145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6270" y="2829716"/>
            <a:ext cx="743404" cy="398819"/>
          </a:xfrm>
          <a:prstGeom prst="rect">
            <a:avLst/>
          </a:prstGeom>
          <a:solidFill>
            <a:srgbClr val="E4E4E4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1678" y="2610260"/>
            <a:ext cx="10725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-21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15102" y="5230368"/>
            <a:ext cx="1145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자동화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92945" y="3228535"/>
            <a:ext cx="743404" cy="265879"/>
          </a:xfrm>
          <a:prstGeom prst="rect">
            <a:avLst/>
          </a:prstGeom>
          <a:solidFill>
            <a:srgbClr val="E4E4E4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28353" y="3009079"/>
            <a:ext cx="10725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-14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91777" y="5230368"/>
            <a:ext cx="1145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연계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69620" y="3494415"/>
            <a:ext cx="743404" cy="208905"/>
          </a:xfrm>
          <a:prstGeom prst="rect">
            <a:avLst/>
          </a:prstGeom>
          <a:solidFill>
            <a:srgbClr val="E4E4E4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5028" y="3274959"/>
            <a:ext cx="10725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-11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68452" y="5230368"/>
            <a:ext cx="1145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표준화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46295" y="3703320"/>
            <a:ext cx="743404" cy="113948"/>
          </a:xfrm>
          <a:prstGeom prst="rect">
            <a:avLst/>
          </a:prstGeom>
          <a:solidFill>
            <a:srgbClr val="E4E4E4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81703" y="3483864"/>
            <a:ext cx="10725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5127" y="5230368"/>
            <a:ext cx="1145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이관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22970" y="3817268"/>
            <a:ext cx="743404" cy="136738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58378" y="3597812"/>
            <a:ext cx="10725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21802" y="5230368"/>
            <a:ext cx="1145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" y="5184648"/>
            <a:ext cx="8260050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" y="5596128"/>
            <a:ext cx="8552658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" y="5669280"/>
            <a:ext cx="85526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4개 업무만으로 목표의 82%에 도달 — 나머지는 2차 연도로 이월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446520"/>
            <a:ext cx="9905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B6B6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" kern="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현황 진단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9915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spc="-40" kern="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절감 시간의 3대 경로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07592"/>
            <a:ext cx="8991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절감 시간은 자동화·표준화·이관 3개 경로로 구성되며, 해당 경로 외 활동은 절감 산정에서 제외함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9384"/>
            <a:ext cx="585216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3621024"/>
            <a:ext cx="1234440" cy="65836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3621024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절감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8,100h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892808" y="3950208"/>
            <a:ext cx="201168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93976" y="2734056"/>
            <a:ext cx="0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93976" y="2734056"/>
            <a:ext cx="0" cy="1216152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93976" y="2734056"/>
            <a:ext cx="164592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2432304"/>
            <a:ext cx="1325880" cy="603504"/>
          </a:xfrm>
          <a:prstGeom prst="rect">
            <a:avLst/>
          </a:prstGeom>
          <a:solidFill>
            <a:srgbClr val="E4E4E4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2432304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3,600h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41648" y="2157984"/>
            <a:ext cx="1691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2157984"/>
            <a:ext cx="1545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생성  1,900h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0" y="2734056"/>
            <a:ext cx="146304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03904" y="2414016"/>
            <a:ext cx="0" cy="32004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03904" y="2414016"/>
            <a:ext cx="237744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41648" y="2816352"/>
            <a:ext cx="1691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2816352"/>
            <a:ext cx="1545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입력  1,700h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0" y="2734056"/>
            <a:ext cx="146304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03904" y="2734056"/>
            <a:ext cx="0" cy="338328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03904" y="3072384"/>
            <a:ext cx="237744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93976" y="3950208"/>
            <a:ext cx="0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93976" y="3950208"/>
            <a:ext cx="0" cy="82296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93976" y="4032504"/>
            <a:ext cx="164592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31720" y="3730752"/>
            <a:ext cx="1325880" cy="603504"/>
          </a:xfrm>
          <a:prstGeom prst="rect">
            <a:avLst/>
          </a:prstGeom>
          <a:solidFill>
            <a:srgbClr val="E4E4E4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31720" y="3730752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2,700h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041648" y="3456432"/>
            <a:ext cx="1691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0" y="3456432"/>
            <a:ext cx="1545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기준  1,500h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0" y="4032504"/>
            <a:ext cx="146304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03904" y="3712464"/>
            <a:ext cx="0" cy="32004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03904" y="3712464"/>
            <a:ext cx="237744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41648" y="4114800"/>
            <a:ext cx="1691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0" y="4114800"/>
            <a:ext cx="1545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 통일  1,200h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0" y="4032504"/>
            <a:ext cx="146304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03904" y="4032504"/>
            <a:ext cx="0" cy="338328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03904" y="4370832"/>
            <a:ext cx="237744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93976" y="3950208"/>
            <a:ext cx="0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93976" y="3950208"/>
            <a:ext cx="0" cy="1380744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93976" y="5330952"/>
            <a:ext cx="164592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31720" y="5029200"/>
            <a:ext cx="1325880" cy="603504"/>
          </a:xfrm>
          <a:prstGeom prst="rect">
            <a:avLst/>
          </a:prstGeom>
          <a:solidFill>
            <a:srgbClr val="E4E4E4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31720" y="5029200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1,800h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041648" y="4754880"/>
            <a:ext cx="1691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0" y="4754880"/>
            <a:ext cx="1545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검토  1,100h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0" y="5330952"/>
            <a:ext cx="146304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03904" y="5010912"/>
            <a:ext cx="0" cy="32004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03904" y="5010912"/>
            <a:ext cx="237744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041648" y="5413248"/>
            <a:ext cx="1691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0" y="5413248"/>
            <a:ext cx="1545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응대  700h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0" y="5330952"/>
            <a:ext cx="146304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03904" y="5330952"/>
            <a:ext cx="0" cy="338328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03904" y="5669280"/>
            <a:ext cx="237744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83680" y="1929384"/>
            <a:ext cx="2865090" cy="1289304"/>
          </a:xfrm>
          <a:prstGeom prst="rect">
            <a:avLst/>
          </a:prstGeom>
          <a:solidFill>
            <a:srgbClr val="F4F4F4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66560" y="20574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766560" y="2350008"/>
            <a:ext cx="24993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 — 검증된 도구를 적용하므로 3개월 내 완료 가능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6583680" y="3410712"/>
            <a:ext cx="2865090" cy="1289304"/>
          </a:xfrm>
          <a:prstGeom prst="rect">
            <a:avLst/>
          </a:prstGeom>
          <a:solidFill>
            <a:srgbClr val="C4303C"/>
          </a:solidFill>
          <a:ln w="9525">
            <a:solidFill>
              <a:srgbClr val="C4303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66560" y="35387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C7C7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766560" y="3831336"/>
            <a:ext cx="24993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— 부서 합의가 병목이므로 게이트로 구간을 끊어 관리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6583680" y="4892040"/>
            <a:ext cx="2865090" cy="1289304"/>
          </a:xfrm>
          <a:prstGeom prst="rect">
            <a:avLst/>
          </a:prstGeom>
          <a:solidFill>
            <a:srgbClr val="F4F4F4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6656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766560" y="5312664"/>
            <a:ext cx="24993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— 교육을 병행하지 않으면 종전 방식으로 원복될 우려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446520"/>
            <a:ext cx="9905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B6B6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" kern="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전환 과제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9915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spc="-40" kern="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게이트와 통과 기준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07592"/>
            <a:ext cx="8991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산출물을 다음 단계 입력으로 연결하며, 게이트 미통과 시 다음 단계 진입을 유보함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9384"/>
            <a:ext cx="2072634" cy="768096"/>
          </a:xfrm>
          <a:prstGeom prst="homePlate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929384"/>
            <a:ext cx="1569714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진단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17068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목록·시간 실측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09794" y="1929384"/>
            <a:ext cx="2072634" cy="768096"/>
          </a:xfrm>
          <a:prstGeom prst="chevron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84114" y="1929384"/>
            <a:ext cx="1569714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설계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447538" y="2788920"/>
            <a:ext cx="17068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업무 단위 확정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62388" y="1929384"/>
            <a:ext cx="2072634" cy="768096"/>
          </a:xfrm>
          <a:prstGeom prst="chevron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36708" y="1929384"/>
            <a:ext cx="1569714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시범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00132" y="2788920"/>
            <a:ext cx="17068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 부서 파일럿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14982" y="1929384"/>
            <a:ext cx="2072634" cy="768096"/>
          </a:xfrm>
          <a:prstGeom prst="chevron">
            <a:avLst/>
          </a:prstGeom>
          <a:solidFill>
            <a:srgbClr val="4A649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02" y="1929384"/>
            <a:ext cx="1569714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확산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52726" y="2788920"/>
            <a:ext cx="17068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전사 이관·교육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67576" y="1929384"/>
            <a:ext cx="2072634" cy="768096"/>
          </a:xfrm>
          <a:prstGeom prst="chevron">
            <a:avLst/>
          </a:prstGeom>
          <a:solidFill>
            <a:srgbClr val="C7C7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41896" y="1929384"/>
            <a:ext cx="1569714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정착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05320" y="2788920"/>
            <a:ext cx="17068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측정·보정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75304"/>
          <a:ext cx="899157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463040"/>
                <a:gridCol w="1463040"/>
                <a:gridCol w="185925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통과 기준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난이도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자원 소요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선행 조건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목록 100% 실측 완료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E9E9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 업무 단위 정의서 승인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진단 완료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파일럿 2개 부서 KPI 달성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설계 승인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 부서 이관율 90% 이상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파일럿 성공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6062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높음   ◐ 보통   ○ 낮음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446520"/>
            <a:ext cx="9905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B6B6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" kern="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실행 로드맵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9915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spc="-40" kern="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 착수 4개 과제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07592"/>
            <a:ext cx="8991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 대·난이도 소 영역의 4개 과제를 1차 추진하고, 우측 하단 영역은 당해연도 착수 대상에서 제외함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4128" y="2148840"/>
            <a:ext cx="534924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148840"/>
            <a:ext cx="2674620" cy="1805940"/>
          </a:xfrm>
          <a:prstGeom prst="rect">
            <a:avLst/>
          </a:prstGeom>
          <a:solidFill>
            <a:srgbClr val="F4F4F4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98748" y="2148840"/>
            <a:ext cx="0" cy="3611880"/>
          </a:xfrm>
          <a:prstGeom prst="line">
            <a:avLst/>
          </a:prstGeom>
          <a:noFill/>
          <a:ln w="9525">
            <a:solidFill>
              <a:srgbClr val="C7C7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3954780"/>
            <a:ext cx="5349240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221992"/>
            <a:ext cx="2491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착수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90188" y="2221992"/>
            <a:ext cx="2491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선별 추진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4027932"/>
            <a:ext cx="2491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 위임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90188" y="4027932"/>
            <a:ext cx="2491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유보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148840"/>
            <a:ext cx="530352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절감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↑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24128" y="5815584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난이도 →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63217" y="2633472"/>
            <a:ext cx="475488" cy="475488"/>
          </a:xfrm>
          <a:prstGeom prst="ellipse">
            <a:avLst/>
          </a:prstGeom>
          <a:solidFill>
            <a:srgbClr val="C4303C"/>
          </a:solidFill>
          <a:ln w="9525">
            <a:solidFill>
              <a:srgbClr val="C430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93569" y="2761488"/>
            <a:ext cx="7828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C430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자동화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8686" y="3175711"/>
            <a:ext cx="402336" cy="402336"/>
          </a:xfrm>
          <a:prstGeom prst="ellipse">
            <a:avLst/>
          </a:prstGeom>
          <a:solidFill>
            <a:srgbClr val="C4303C"/>
          </a:solidFill>
          <a:ln w="9525">
            <a:solidFill>
              <a:srgbClr val="C430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5886" y="3267151"/>
            <a:ext cx="7828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C430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연계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724558" y="3582619"/>
            <a:ext cx="310896" cy="310896"/>
          </a:xfrm>
          <a:prstGeom prst="ellipse">
            <a:avLst/>
          </a:prstGeom>
          <a:solidFill>
            <a:srgbClr val="C4303C"/>
          </a:solidFill>
          <a:ln w="9525">
            <a:solidFill>
              <a:srgbClr val="C430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90318" y="3628339"/>
            <a:ext cx="65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C430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 통일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94914" y="2471623"/>
            <a:ext cx="365760" cy="365760"/>
          </a:xfrm>
          <a:prstGeom prst="ellipse">
            <a:avLst/>
          </a:prstGeom>
          <a:solidFill>
            <a:srgbClr val="C4303C"/>
          </a:solidFill>
          <a:ln w="9525">
            <a:solidFill>
              <a:srgbClr val="C430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5538" y="2544775"/>
            <a:ext cx="7828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C430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표준화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15307" y="3086100"/>
            <a:ext cx="292608" cy="292608"/>
          </a:xfrm>
          <a:prstGeom prst="ellipse">
            <a:avLst/>
          </a:prstGeom>
          <a:solidFill>
            <a:srgbClr val="C7C7C7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2779" y="3122676"/>
            <a:ext cx="65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응대 이관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998671" y="4404665"/>
            <a:ext cx="256032" cy="256032"/>
          </a:xfrm>
          <a:prstGeom prst="ellipse">
            <a:avLst/>
          </a:prstGeom>
          <a:solidFill>
            <a:srgbClr val="C7C7C7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09567" y="4422953"/>
            <a:ext cx="65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처리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45913" y="4801514"/>
            <a:ext cx="329184" cy="329184"/>
          </a:xfrm>
          <a:prstGeom prst="ellipse">
            <a:avLst/>
          </a:prstGeom>
          <a:solidFill>
            <a:srgbClr val="C7C7C7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9961" y="4856378"/>
            <a:ext cx="7828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전면 재개발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1929384"/>
            <a:ext cx="2590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4개 과제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858000" y="2221992"/>
            <a:ext cx="259077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2441448"/>
            <a:ext cx="259077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25511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68896" y="2532888"/>
            <a:ext cx="2279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자동화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168896" y="2825496"/>
            <a:ext cx="22798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1,900h · 3개월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58000" y="3282696"/>
            <a:ext cx="259077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33924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68896" y="3374136"/>
            <a:ext cx="2279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표준화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168896" y="3666744"/>
            <a:ext cx="22798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1,500h · 4개월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58000" y="4123944"/>
            <a:ext cx="259077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42336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168896" y="4215384"/>
            <a:ext cx="2279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연계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168896" y="4507992"/>
            <a:ext cx="22798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1,700h · 5개월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58000" y="4965192"/>
            <a:ext cx="259077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50749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168896" y="5056632"/>
            <a:ext cx="2279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 통일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168896" y="5349240"/>
            <a:ext cx="22798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1,200h · 2개월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858000" y="5605272"/>
            <a:ext cx="25907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합계 6,300시간 · 1년 내 완결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858000" y="5605272"/>
            <a:ext cx="2590770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446520"/>
            <a:ext cx="9905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B6B6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" kern="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실행 로드맵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9915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spc="-40" kern="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체계와 역할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07592"/>
            <a:ext cx="8991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추진단을 중심으로 의사결정·실행·지원을 3층으로 분리하고 부서 담당자를 실행층에 상시 배치함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98505" y="1929384"/>
            <a:ext cx="3108960" cy="566928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98505" y="192938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경영진 협의체 (분기)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98505" y="2788920"/>
            <a:ext cx="3108960" cy="566928"/>
          </a:xfrm>
          <a:prstGeom prst="rect">
            <a:avLst/>
          </a:prstGeom>
          <a:solidFill>
            <a:srgbClr val="E4E4E4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98505" y="27889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전환추진단 (월)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52985" y="2496312"/>
            <a:ext cx="0" cy="292608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648456"/>
            <a:ext cx="211071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48456"/>
            <a:ext cx="21107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표준화반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512555" y="3520440"/>
            <a:ext cx="0" cy="128016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50790" y="3648456"/>
            <a:ext cx="211071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50790" y="3648456"/>
            <a:ext cx="21107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 실행반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06144" y="3520440"/>
            <a:ext cx="0" cy="128016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44379" y="3648456"/>
            <a:ext cx="211071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4379" y="3648456"/>
            <a:ext cx="21107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교육·이관반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99734" y="3520440"/>
            <a:ext cx="0" cy="128016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38060" y="3648456"/>
            <a:ext cx="211071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38060" y="3648456"/>
            <a:ext cx="21107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관리반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93415" y="3520440"/>
            <a:ext cx="0" cy="128016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12555" y="3520440"/>
            <a:ext cx="6880860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52985" y="3355848"/>
            <a:ext cx="0" cy="164592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61688"/>
          <a:ext cx="899157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840480"/>
                <a:gridCol w="313941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경영진 협의체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자원 배분·중단 판단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분기 심의 결과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전환추진단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과제 관리·게이트 운영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월간 추진 보고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실행반(4개)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과제 수행·현업 협의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과제별 산출물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446520"/>
            <a:ext cx="9905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B6B6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" kern="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실행 로드맵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9915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spc="-40" kern="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12개월 실행 일정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07592"/>
            <a:ext cx="8991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분기별 산출물 1건을 원칙으로 하며, 분기 말 확인이 불가한 과제는 로드맵에서 제외함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1929384"/>
            <a:ext cx="14249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1분기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2203704"/>
            <a:ext cx="0" cy="3163824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36612" y="1929384"/>
            <a:ext cx="14249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36612" y="2203704"/>
            <a:ext cx="0" cy="3163824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1545" y="1929384"/>
            <a:ext cx="14249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61545" y="2203704"/>
            <a:ext cx="0" cy="3163824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6477" y="1929384"/>
            <a:ext cx="14249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86477" y="2203704"/>
            <a:ext cx="0" cy="3163824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11410" y="2203704"/>
            <a:ext cx="0" cy="3163824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2203704"/>
            <a:ext cx="5699730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951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표준화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11680" y="2843784"/>
            <a:ext cx="5699730" cy="0"/>
          </a:xfrm>
          <a:prstGeom prst="line">
            <a:avLst/>
          </a:prstGeom>
          <a:noFill/>
          <a:ln w="9525">
            <a:solidFill>
              <a:srgbClr val="F4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2331720"/>
            <a:ext cx="2564878" cy="402336"/>
          </a:xfrm>
          <a:prstGeom prst="roundRect">
            <a:avLst>
              <a:gd name="adj" fmla="val 9091"/>
            </a:avLst>
          </a:prstGeom>
          <a:solidFill>
            <a:srgbClr val="1F3864"/>
          </a:solidFill>
          <a:ln/>
        </p:spPr>
      </p:sp>
      <p:sp>
        <p:nvSpPr>
          <p:cNvPr id="18" name="Shape 16"/>
          <p:cNvSpPr/>
          <p:nvPr/>
        </p:nvSpPr>
        <p:spPr>
          <a:xfrm>
            <a:off x="4498834" y="2459736"/>
            <a:ext cx="155448" cy="15544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C430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12578" y="231343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정의서 승인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9169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자동화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11680" y="3465576"/>
            <a:ext cx="5699730" cy="0"/>
          </a:xfrm>
          <a:prstGeom prst="line">
            <a:avLst/>
          </a:prstGeom>
          <a:noFill/>
          <a:ln w="9525">
            <a:solidFill>
              <a:srgbClr val="F4F4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51626" y="2953512"/>
            <a:ext cx="1994905" cy="402336"/>
          </a:xfrm>
          <a:prstGeom prst="roundRect">
            <a:avLst>
              <a:gd name="adj" fmla="val 9091"/>
            </a:avLst>
          </a:prstGeom>
          <a:solidFill>
            <a:srgbClr val="1F3864"/>
          </a:solidFill>
          <a:ln/>
        </p:spPr>
      </p:sp>
      <p:sp>
        <p:nvSpPr>
          <p:cNvPr id="23" name="Shape 21"/>
          <p:cNvSpPr/>
          <p:nvPr/>
        </p:nvSpPr>
        <p:spPr>
          <a:xfrm>
            <a:off x="5068807" y="3081528"/>
            <a:ext cx="155448" cy="15544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C430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12578" y="293522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부서 적용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538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연계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011680" y="4087368"/>
            <a:ext cx="5699730" cy="0"/>
          </a:xfrm>
          <a:prstGeom prst="line">
            <a:avLst/>
          </a:prstGeom>
          <a:noFill/>
          <a:ln w="9525">
            <a:solidFill>
              <a:srgbClr val="F4F4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06585" y="3575304"/>
            <a:ext cx="2279892" cy="402336"/>
          </a:xfrm>
          <a:prstGeom prst="roundRect">
            <a:avLst>
              <a:gd name="adj" fmla="val 9091"/>
            </a:avLst>
          </a:prstGeom>
          <a:solidFill>
            <a:srgbClr val="4A6491"/>
          </a:solidFill>
          <a:ln/>
        </p:spPr>
      </p:sp>
      <p:sp>
        <p:nvSpPr>
          <p:cNvPr id="28" name="Shape 26"/>
          <p:cNvSpPr/>
          <p:nvPr/>
        </p:nvSpPr>
        <p:spPr>
          <a:xfrm>
            <a:off x="6208753" y="3703320"/>
            <a:ext cx="155448" cy="15544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C430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12578" y="355701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오픈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160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교육·이관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011680" y="4709160"/>
            <a:ext cx="5699730" cy="0"/>
          </a:xfrm>
          <a:prstGeom prst="line">
            <a:avLst/>
          </a:prstGeom>
          <a:noFill/>
          <a:ln w="9525">
            <a:solidFill>
              <a:srgbClr val="F4F4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61545" y="4197096"/>
            <a:ext cx="2849865" cy="402336"/>
          </a:xfrm>
          <a:prstGeom prst="roundRect">
            <a:avLst>
              <a:gd name="adj" fmla="val 9091"/>
            </a:avLst>
          </a:prstGeom>
          <a:solidFill>
            <a:srgbClr val="4A6491"/>
          </a:solidFill>
          <a:ln/>
        </p:spPr>
      </p:sp>
      <p:sp>
        <p:nvSpPr>
          <p:cNvPr id="33" name="Shape 31"/>
          <p:cNvSpPr/>
          <p:nvPr/>
        </p:nvSpPr>
        <p:spPr>
          <a:xfrm>
            <a:off x="7633686" y="4325112"/>
            <a:ext cx="155448" cy="15544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C430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12578" y="417880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이관율 90%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7823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측정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011680" y="5330952"/>
            <a:ext cx="5699730" cy="0"/>
          </a:xfrm>
          <a:prstGeom prst="line">
            <a:avLst/>
          </a:prstGeom>
          <a:noFill/>
          <a:ln w="9525">
            <a:solidFill>
              <a:srgbClr val="F4F4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86477" y="4818888"/>
            <a:ext cx="1424932" cy="402336"/>
          </a:xfrm>
          <a:prstGeom prst="roundRect">
            <a:avLst>
              <a:gd name="adj" fmla="val 9091"/>
            </a:avLst>
          </a:prstGeom>
          <a:solidFill>
            <a:srgbClr val="C7C7C7"/>
          </a:solidFill>
          <a:ln/>
        </p:spPr>
      </p:sp>
      <p:sp>
        <p:nvSpPr>
          <p:cNvPr id="38" name="Shape 36"/>
          <p:cNvSpPr/>
          <p:nvPr/>
        </p:nvSpPr>
        <p:spPr>
          <a:xfrm>
            <a:off x="7633686" y="4946904"/>
            <a:ext cx="155448" cy="15544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C430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12578" y="480060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보정 완료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5404104"/>
            <a:ext cx="8991570" cy="859536"/>
          </a:xfrm>
          <a:prstGeom prst="rect">
            <a:avLst/>
          </a:prstGeom>
          <a:solidFill>
            <a:srgbClr val="F4F4F4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" y="5522976"/>
            <a:ext cx="25857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산출물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6656" y="5769864"/>
            <a:ext cx="25857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정의서 → 적용 보고 →</a:t>
            </a:r>
            <a:endParaRPr lang="en-US" sz="1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문서 → 성과 리포트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673846" y="5522976"/>
            <a:ext cx="25857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주체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73846" y="5769864"/>
            <a:ext cx="25857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전환추진단 월 단위</a:t>
            </a:r>
            <a:endParaRPr lang="en-US" sz="1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경영진 분기 단위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671036" y="5522976"/>
            <a:ext cx="25857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중단 기준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671036" y="5769864"/>
            <a:ext cx="25857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2회 연속 미달하면</a:t>
            </a:r>
            <a:endParaRPr lang="en-US" sz="1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과제를 재설계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446520"/>
            <a:ext cx="9905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B6B6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" kern="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성과 관리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9915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spc="-40" kern="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 교육 체계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07592"/>
            <a:ext cx="8991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직원 공통 과정을 기반으로 직무별 심화와 추진단 전문 과정을 단계적으로 구성함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80160" y="1929384"/>
            <a:ext cx="7345650" cy="768096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26464" y="1929384"/>
            <a:ext cx="23506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 과정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777681" y="1929384"/>
            <a:ext cx="47012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전환추진단 15명 · 과제 설계·게이트 운영 · 40시간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83080" y="2752344"/>
            <a:ext cx="6339810" cy="768096"/>
          </a:xfrm>
          <a:prstGeom prst="rect">
            <a:avLst/>
          </a:prstGeom>
          <a:solidFill>
            <a:srgbClr val="4A6491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9384" y="2752344"/>
            <a:ext cx="202873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 과정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938615" y="2752344"/>
            <a:ext cx="405747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직무별 60명 · 표준 업무 단위 적용 실습 · 24시간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0" y="3575304"/>
            <a:ext cx="5333970" cy="768096"/>
          </a:xfrm>
          <a:prstGeom prst="rect">
            <a:avLst/>
          </a:prstGeom>
          <a:solidFill>
            <a:srgbClr val="E4E4E4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3575304"/>
            <a:ext cx="170687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과정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099550" y="3575304"/>
            <a:ext cx="34137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직원 320명 · AX 개념·업무 변화 이해 · 8시간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44568"/>
          <a:ext cx="899157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463040"/>
                <a:gridCol w="2011680"/>
                <a:gridCol w="222501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내용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 기준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공통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320명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8h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AX 개념·업무 변화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수료율 90%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심화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24h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 업무 단위 실습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과제 제출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40h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게이트 운영·성과 측정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인증 취득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446520"/>
            <a:ext cx="9905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B6B6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" kern="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성과 관리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9915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spc="-40" kern="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성과지표 5종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07592"/>
            <a:ext cx="8991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선행지표(이관율·수료율)와 결과지표(절감시간·오류율)를 분리하여 관리하고 측정 주기를 사전 확정함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9384"/>
            <a:ext cx="211071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038198"/>
            <a:ext cx="1799814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6,300h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12648" y="2569464"/>
            <a:ext cx="1799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절감 목표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50790" y="1929384"/>
            <a:ext cx="211071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6238" y="2038198"/>
            <a:ext cx="1799814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906238" y="2569464"/>
            <a:ext cx="1799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이관율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44379" y="1929384"/>
            <a:ext cx="211071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9827" y="2038198"/>
            <a:ext cx="1799814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-40%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199827" y="2569464"/>
            <a:ext cx="1799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오류율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38060" y="1929384"/>
            <a:ext cx="2110710" cy="10515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3508" y="2038198"/>
            <a:ext cx="1799814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92%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493508" y="2569464"/>
            <a:ext cx="1799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수료율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127248"/>
            <a:ext cx="89915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선행지표의 현재와 목표 (%)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19856"/>
            <a:ext cx="899157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graphicFrame>
        <p:nvGraphicFramePr>
          <p:cNvPr id="19" name="Chart 0" descr=""/>
          <p:cNvGraphicFramePr/>
          <p:nvPr/>
        </p:nvGraphicFramePr>
        <p:xfrm>
          <a:off x="457200" y="3502152"/>
          <a:ext cx="8991570" cy="21214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457200" y="5733288"/>
            <a:ext cx="8991570" cy="530352"/>
          </a:xfrm>
          <a:prstGeom prst="rect">
            <a:avLst/>
          </a:prstGeom>
          <a:solidFill>
            <a:srgbClr val="F4F4F4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2648" y="5733288"/>
            <a:ext cx="86806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선행지표가 2회 연속 목표에 미달하는 경우 해당 과제를 재설계함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446520"/>
            <a:ext cx="9905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B6B6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 전환 로드맵</dc:title>
  <dc:subject>PptxGenJS Presentation</dc:subject>
  <dc:creator>한국표준협회</dc:creator>
  <cp:lastModifiedBy>한국표준협회</cp:lastModifiedBy>
  <cp:revision>1</cp:revision>
  <dcterms:created xsi:type="dcterms:W3CDTF">2026-08-26T06:05:41Z</dcterms:created>
  <dcterms:modified xsi:type="dcterms:W3CDTF">2026-08-26T06:05:41Z</dcterms:modified>
</cp:coreProperties>
</file>
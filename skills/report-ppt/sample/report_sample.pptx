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905970" cy="6858000"/>
  <p:notesSz cx="6858000" cy="9905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문서 작성·검토</c:v>
                  </c:pt>
                  <c:pt idx="1">
                    <c:v>데이터 입력·정합</c:v>
                  </c:pt>
                  <c:pt idx="2">
                    <c:v>판정·승인 처리</c:v>
                  </c:pt>
                  <c:pt idx="3">
                    <c:v>서식 관리</c:v>
                  </c:pt>
                  <c:pt idx="4">
                    <c:v>1차 검토</c:v>
                  </c:pt>
                  <c:pt idx="5">
                    <c:v>민원 응대</c:v>
                  </c:pt>
                  <c:pt idx="6">
                    <c:v>실적 집계</c:v>
                  </c:pt>
                  <c:pt idx="7">
                    <c:v>자료 배포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1900</c:v>
                </c:pt>
                <c:pt idx="1">
                  <c:v>1700</c:v>
                </c:pt>
                <c:pt idx="2">
                  <c:v>1500</c:v>
                </c:pt>
                <c:pt idx="3">
                  <c:v>1200</c:v>
                </c:pt>
                <c:pt idx="4">
                  <c:v>1100</c:v>
                </c:pt>
                <c:pt idx="5">
                  <c:v>700</c:v>
                </c:pt>
                <c:pt idx="6">
                  <c:v>620</c:v>
                </c:pt>
                <c:pt idx="7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맑은 고딕"/>
                  <a:ea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1111"/>
              </a:solidFill>
              <a:effectLst/>
            </c:spPr>
          </c:dPt>
          <c:dPt>
            <c:idx val="1"/>
            <c:bubble3D val="0"/>
            <c:spPr>
              <a:solidFill>
                <a:srgbClr val="6B6B6B"/>
              </a:solidFill>
              <a:effectLst/>
            </c:spPr>
          </c:dPt>
          <c:dPt>
            <c:idx val="2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bubble3D val="0"/>
            <c:spPr>
              <a:solidFill>
                <a:srgbClr val="C7C7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A3A3A"/>
                      </a:solidFill>
                      <a:latin typeface="맑은 고딕"/>
                      <a:ea typeface="맑은 고딕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A3A3A"/>
                      </a:solidFill>
                      <a:latin typeface="맑은 고딕"/>
                      <a:ea typeface="맑은 고딕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A3A3A"/>
                      </a:solidFill>
                      <a:latin typeface="맑은 고딕"/>
                      <a:ea typeface="맑은 고딕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A3A3A"/>
                      </a:solidFill>
                      <a:latin typeface="맑은 고딕"/>
                      <a:ea typeface="맑은 고딕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맑은 고딕"/>
                    <a:ea typeface="맑은 고딕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문서 자동화</c:v>
                </c:pt>
                <c:pt idx="1">
                  <c:v>데이터 연계</c:v>
                </c:pt>
                <c:pt idx="2">
                  <c:v>판정 표준화</c:v>
                </c:pt>
                <c:pt idx="3">
                  <c:v>업무 이관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21</c:v>
                </c:pt>
                <c:pt idx="1">
                  <c:v>14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B6B"/>
              </a:solidFill>
              <a:latin typeface="맑은 고딕"/>
              <a:ea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문서 자동화</c:v>
                  </c:pt>
                  <c:pt idx="1">
                    <c:v>판정 표준화</c:v>
                  </c:pt>
                  <c:pt idx="2">
                    <c:v>서식 통일</c:v>
                  </c:pt>
                  <c:pt idx="3">
                    <c:v>데이터 연계</c:v>
                  </c:pt>
                  <c:pt idx="4">
                    <c:v>응대 이관</c:v>
                  </c:pt>
                  <c:pt idx="5">
                    <c:v>예외 처리</c:v>
                  </c:pt>
                  <c:pt idx="6">
                    <c:v>전면 재개발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</c:v>
                </c:pt>
                <c:pt idx="1">
                  <c:v>3.8</c:v>
                </c:pt>
                <c:pt idx="2">
                  <c:v>3.4</c:v>
                </c:pt>
                <c:pt idx="3">
                  <c:v>3.2</c:v>
                </c:pt>
                <c:pt idx="4">
                  <c:v>2.6</c:v>
                </c:pt>
                <c:pt idx="5">
                  <c:v>1.8</c:v>
                </c:pt>
                <c:pt idx="6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맑은 고딕"/>
                  <a:ea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11111"/>
            </a:solidFill>
            <a:ln w="28575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19</c:v>
                </c:pt>
                <c:pt idx="2">
                  <c:v>26</c:v>
                </c:pt>
                <c:pt idx="3">
                  <c:v>34</c:v>
                </c:pt>
                <c:pt idx="4">
                  <c:v>41</c:v>
                </c:pt>
                <c:pt idx="5">
                  <c:v>49</c:v>
                </c:pt>
                <c:pt idx="6">
                  <c:v>58</c:v>
                </c:pt>
                <c:pt idx="7">
                  <c:v>66</c:v>
                </c:pt>
                <c:pt idx="8">
                  <c:v>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6B6B6B"/>
            </a:solidFill>
            <a:ln w="28575" cap="flat">
              <a:solidFill>
                <a:srgbClr val="6B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맑은 고딕"/>
                    <a:ea typeface="맑은 고딕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6B6B"/>
              </a:solidFill>
              <a:ln w="9525" cap="flat">
                <a:solidFill>
                  <a:srgbClr val="6B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</c:v>
                </c:pt>
                <c:pt idx="1">
                  <c:v>31</c:v>
                </c:pt>
                <c:pt idx="2">
                  <c:v>42</c:v>
                </c:pt>
                <c:pt idx="3">
                  <c:v>53</c:v>
                </c:pt>
                <c:pt idx="4">
                  <c:v>63</c:v>
                </c:pt>
                <c:pt idx="5">
                  <c:v>72</c:v>
                </c:pt>
                <c:pt idx="6">
                  <c:v>80</c:v>
                </c:pt>
                <c:pt idx="7">
                  <c:v>86</c:v>
                </c:pt>
                <c:pt idx="8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맑은 고딕"/>
                  <a:ea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7C7C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맑은 고딕"/>
                <a:ea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B6B"/>
              </a:solidFill>
              <a:latin typeface="맑은 고딕"/>
              <a:ea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A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49808"/>
            <a:ext cx="899157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77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로드맵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SA_COVER_RECT 표지 사진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"/>
            <a:ext cx="2628443" cy="2386584"/>
          </a:xfrm>
          <a:prstGeom prst="rect">
            <a:avLst/>
          </a:prstGeom>
        </p:spPr>
      </p:pic>
      <p:pic>
        <p:nvPicPr>
          <p:cNvPr id="3" name="Image 1" descr="KSA_COVER_BAND 표지 사진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78242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pic>
        <p:nvPicPr>
          <p:cNvPr id="4" name="Image 2" descr="KSA_COVER_BAND 표지 사진 3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99284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pic>
        <p:nvPicPr>
          <p:cNvPr id="5" name="Image 3" descr="KSA_COVER_BAND 표지 사진 4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20327" y="109728"/>
            <a:ext cx="2628443" cy="2386584"/>
          </a:xfrm>
          <a:prstGeom prst="parallelogram">
            <a:avLst>
              <a:gd name="adj" fmla="val 21260"/>
            </a:avLst>
          </a:prstGeom>
        </p:spPr>
      </p:pic>
      <p:sp>
        <p:nvSpPr>
          <p:cNvPr id="6" name="Shape 0"/>
          <p:cNvSpPr/>
          <p:nvPr/>
        </p:nvSpPr>
        <p:spPr>
          <a:xfrm flipV="1">
            <a:off x="2578242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 flipV="1">
            <a:off x="4699284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 flipV="1">
            <a:off x="6820327" y="109728"/>
            <a:ext cx="507401" cy="23865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pic>
        <p:nvPicPr>
          <p:cNvPr id="9" name="Image 4" descr="KSA_COVER_HERO 표지 대형 사진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91840" y="2642616"/>
            <a:ext cx="6156930" cy="421538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57200" y="2642616"/>
            <a:ext cx="3803904" cy="4215384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1" name="Shape 4"/>
          <p:cNvSpPr/>
          <p:nvPr/>
        </p:nvSpPr>
        <p:spPr>
          <a:xfrm flipV="1">
            <a:off x="4261104" y="2642616"/>
            <a:ext cx="950976" cy="4215384"/>
          </a:xfrm>
          <a:prstGeom prst="rtTriangle">
            <a:avLst/>
          </a:prstGeom>
          <a:solidFill>
            <a:srgbClr val="3A3A3A"/>
          </a:solidFill>
          <a:ln/>
        </p:spPr>
      </p:sp>
      <p:sp>
        <p:nvSpPr>
          <p:cNvPr id="12" name="Shape 5"/>
          <p:cNvSpPr/>
          <p:nvPr/>
        </p:nvSpPr>
        <p:spPr>
          <a:xfrm flipV="1">
            <a:off x="4261104" y="2642616"/>
            <a:ext cx="950976" cy="4215384"/>
          </a:xfrm>
          <a:prstGeom prst="line">
            <a:avLst/>
          </a:prstGeom>
          <a:noFill/>
          <a:ln w="88900">
            <a:solidFill>
              <a:srgbClr val="FFFFF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48640" y="3456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○○공단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실행계획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(최종보고)</a:t>
            </a:r>
            <a:endParaRPr lang="en-US" sz="2600" dirty="0"/>
          </a:p>
        </p:txBody>
      </p:sp>
      <p:sp>
        <p:nvSpPr>
          <p:cNvPr id="15" name="Shape 8"/>
          <p:cNvSpPr/>
          <p:nvPr/>
        </p:nvSpPr>
        <p:spPr>
          <a:xfrm>
            <a:off x="548640" y="4956048"/>
            <a:ext cx="3566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66928" y="5084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66928" y="5431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한국표준협회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93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0994" y="2093976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7" name="Text 5"/>
          <p:cNvSpPr/>
          <p:nvPr/>
        </p:nvSpPr>
        <p:spPr>
          <a:xfrm>
            <a:off x="8808690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276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구조와 절감 여력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784" y="2450592"/>
            <a:ext cx="523274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8808690" y="2276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54480" y="2523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경로별 기여도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56804" y="2697480"/>
            <a:ext cx="571472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8808690" y="2523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54480" y="2770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경로 분해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98999" y="2944368"/>
            <a:ext cx="60725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8808690" y="2770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82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3172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과제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0994" y="3346704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8808690" y="3172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529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게이트와 통과 기준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73039" y="3703320"/>
            <a:ext cx="5298491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8808690" y="3529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41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로드맵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68845" y="4105656"/>
            <a:ext cx="630268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29" name="Text 27"/>
          <p:cNvSpPr/>
          <p:nvPr/>
        </p:nvSpPr>
        <p:spPr>
          <a:xfrm>
            <a:off x="880869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4288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착수 4개 과제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934950" y="4462272"/>
            <a:ext cx="573658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8808690" y="4288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554480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체계와 역할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10774" y="4709160"/>
            <a:ext cx="586075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5" name="Text 33"/>
          <p:cNvSpPr/>
          <p:nvPr/>
        </p:nvSpPr>
        <p:spPr>
          <a:xfrm>
            <a:off x="880869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554480" y="4782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실행 일정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825405" y="4956048"/>
            <a:ext cx="5846125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8808690" y="47823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102352"/>
            <a:ext cx="899157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80160" y="5184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관리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190994" y="5358384"/>
            <a:ext cx="648053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3" name="Text 41"/>
          <p:cNvSpPr/>
          <p:nvPr/>
        </p:nvSpPr>
        <p:spPr>
          <a:xfrm>
            <a:off x="8808690" y="5184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5541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교육 체계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598999" y="5715000"/>
            <a:ext cx="60725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6" name="Text 44"/>
          <p:cNvSpPr/>
          <p:nvPr/>
        </p:nvSpPr>
        <p:spPr>
          <a:xfrm>
            <a:off x="8808690" y="5541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554480" y="5788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성과지표 5종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55199" y="5961888"/>
            <a:ext cx="611633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ysDot"/>
          </a:ln>
        </p:spPr>
      </p:sp>
      <p:sp>
        <p:nvSpPr>
          <p:cNvPr id="49" name="Text 47"/>
          <p:cNvSpPr/>
          <p:nvPr/>
        </p:nvSpPr>
        <p:spPr>
          <a:xfrm>
            <a:off x="8808690" y="5788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업무 실측 결과 정형·반복 구간이 전체의 65%를 차지하며, 상위 4개 과제 우선 추진 시 1년 내 6,300시간 절감이 가능함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3461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12,400h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 업무시간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6260" y="1828800"/>
            <a:ext cx="13461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5988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8,100h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095988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정형·반복 구간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15319" y="1828800"/>
            <a:ext cx="13461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5047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6,300h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25047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내 절감 목표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44379" y="1828800"/>
            <a:ext cx="13461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4107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54107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 업무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73530" y="1828800"/>
            <a:ext cx="13461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258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83258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추진 과제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02590" y="1828800"/>
            <a:ext cx="1346180" cy="77724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2318" y="1905610"/>
            <a:ext cx="1126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12318" y="2240280"/>
            <a:ext cx="1126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집중도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15768"/>
            <a:ext cx="2875239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25496"/>
            <a:ext cx="26557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136392"/>
            <a:ext cx="265578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46120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" y="3246120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업무 4,820건을 실측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3452368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8096" y="3452368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정형·반복 구간 8,100시간을 확인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3658616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3658616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간 중복 처리가 21%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15319" y="2715768"/>
            <a:ext cx="2875239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5047" y="2825496"/>
            <a:ext cx="26557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25047" y="3136392"/>
            <a:ext cx="265578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5047" y="3246120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26215" y="3246120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경로를 3대 경로로 정의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25047" y="3452368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26215" y="3452368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게이트와 통과 기준을 합의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25047" y="3658616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26215" y="3658616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산출물과 담당을 지정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73530" y="2715768"/>
            <a:ext cx="2875239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3258" y="2825496"/>
            <a:ext cx="26557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83258" y="3136392"/>
            <a:ext cx="2655783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3258" y="3246120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84426" y="3246120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4개 과제를 1년 안에 완결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83258" y="3452368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84426" y="3452368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분기마다 산출물 하나를 확인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83258" y="3658616"/>
            <a:ext cx="146304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84426" y="3658616"/>
            <a:ext cx="245461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분기 연속 미달하면 재설계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32504"/>
          <a:ext cx="899157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371600"/>
                <a:gridCol w="259077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 과제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산출물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자동화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템플릿 12종·적용 보고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연계 API 명세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표준화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서식 통일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서식 24종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457200" y="5897880"/>
            <a:ext cx="8991570" cy="36576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928" y="5897880"/>
            <a:ext cx="877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과제에 자원을 집중할 경우 1차 연도에 목표의 78% 달성이 가능하며, 잔여 8개는 2차 연도로 이월함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진단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범위 및 수행 절차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12개 업무를 활동 단위까지 분해하여 담당자 자기기록과 시스템 로그를 교차 검증함으로써 실측값의 신뢰도를 확보함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72634" cy="475488"/>
          </a:xfrm>
          <a:prstGeom prst="homePlat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자료 수집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09794" y="1828800"/>
            <a:ext cx="2072634" cy="47548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4114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활동 분해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62388" y="1828800"/>
            <a:ext cx="2072634" cy="47548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6708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시간 실측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4982" y="1828800"/>
            <a:ext cx="2072634" cy="475488"/>
          </a:xfrm>
          <a:prstGeom prst="chevron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02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유형 판정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67576" y="1828800"/>
            <a:ext cx="2072634" cy="475488"/>
          </a:xfrm>
          <a:prstGeom prst="chevron">
            <a:avLst/>
          </a:prstGeom>
          <a:solidFill>
            <a:srgbClr val="C7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1896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절감 산정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899157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2011680"/>
                <a:gridCol w="204213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자료 수집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업무분장표·시스템 로그·서식 수집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원자료 목록 218건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활동 분해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업무를 활동 단위로 분해(평균 34개)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마스터 4,820건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시간 실측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기록·시스템 로그 대조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업무별 연간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유형 판정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정형/비정형, 반복/일회 판정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 분류표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 절감 산정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경로별 절감률 적용·검증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시나리오 3안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535424"/>
            <a:ext cx="4404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대상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828032"/>
            <a:ext cx="4404299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919472"/>
            <a:ext cx="44042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8개 · 인원 320명 · 업무 12개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4,820건 (업무당 평균 34건)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응답률 96.3% (308/320명)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로그 대조 기간 12개월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44379" y="4535424"/>
            <a:ext cx="4404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44379" y="4828032"/>
            <a:ext cx="4404299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4379" y="4919472"/>
            <a:ext cx="44042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 — 입력·판단 규칙이 문서화된 활동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— 월 4회 이상 발생 활동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대상 — 정형 + 반복 + 시스템 접근 가능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— 정형 + 저난이도 + 대면 불필요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6044184"/>
            <a:ext cx="8991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주) 실측 시간은 담당자 자기기록과 시스템 로그의 중앙값이며, 두 값의 편차가 20%를 초과한 항목은 재조사함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업무 구조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 시간 구조 및 절감 여력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업무가 전체 업무시간의 45%, 절감 여력의 65%를 차지하는 반면 잔여 8개 업무는 정형비율이 낮아 절감 여력이 제한적임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991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 절감 여력 (상위 8개, 시간)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9915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2176272"/>
          <a:ext cx="899157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90288"/>
          <a:ext cx="899157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463040"/>
                <a:gridCol w="1554480"/>
                <a:gridCol w="259077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정형비율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여력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상위 1~4위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7,310h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6,300h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5~8위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3,280h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9~12위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1,810h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12,400h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8,100h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062472"/>
            <a:ext cx="8991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주) 정형비율은 활동 건수 기준이며, 절감 여력은 경로별 절감률(자동화 70%·표준화 45%·이관 60%)을 적용한 값임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절감 경로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절감 기여도 및 산정 근거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경로 중 문서 자동화가 21천 시간으로 최대 기여하며, 4개 합산 시 52천 시간 절감이 가능하나 목표 초과분은 2차 연도로 이월함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절감 경로 (천 시간)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2249424"/>
            <a:ext cx="3840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0801" y="2538937"/>
            <a:ext cx="444398" cy="1447847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9" y="2319481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963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43761" y="2538937"/>
            <a:ext cx="444398" cy="245200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9169" y="2319481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4259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6721" y="2784137"/>
            <a:ext cx="444398" cy="163467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2129" y="2564681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6555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9681" y="2947604"/>
            <a:ext cx="444398" cy="128438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5089" y="2728148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8851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12641" y="3076042"/>
            <a:ext cx="444398" cy="70057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8049" y="2856586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1147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35601" y="3146099"/>
            <a:ext cx="444398" cy="84068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1009" y="2926643"/>
            <a:ext cx="773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4433" y="4032504"/>
            <a:ext cx="846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986784"/>
            <a:ext cx="493776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361688"/>
            <a:ext cx="5157216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434840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4개 업무만으로 목표의 82% 달성 가능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1828800"/>
            <a:ext cx="3322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구성비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121408"/>
            <a:ext cx="332229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6126480" y="2157984"/>
          <a:ext cx="3322290" cy="25054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09744"/>
          <a:ext cx="899157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194560"/>
                <a:gridCol w="185925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대상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전제 조건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방법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자동화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작성·검토, 자료 배포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템플릿 표준화 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병행 운영 비교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입력·정합, 실적 집계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API 개방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 1,000건 대조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표준화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판정·승인, 1차 검토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 부서 합의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재판정 일치율 측정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절감 경로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시간의 3대 경로 분해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시간은 자동화·표준화·이관 3개 경로로 구성되며, 해당 경로 외 활동은 절감 산정에서 제외하고 경로별 담당 실행반을 지정함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852928"/>
            <a:ext cx="105156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8529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8,100h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73352" y="3136392"/>
            <a:ext cx="201168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340864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340864"/>
            <a:ext cx="0" cy="79552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340864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084832"/>
            <a:ext cx="1234440" cy="51206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08483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3,600h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1938528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93852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생성 1,900h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340864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8144" y="2112264"/>
            <a:ext cx="0" cy="22860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2112264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2359152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235915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1,700h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340864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8144" y="2340864"/>
            <a:ext cx="0" cy="19202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38144" y="2532888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3136392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3136392"/>
            <a:ext cx="0" cy="4572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4520" y="3182112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2926080"/>
            <a:ext cx="1234440" cy="51206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292608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2,700h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03320" y="2779776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277977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 1,500h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182112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38144" y="2953512"/>
            <a:ext cx="0" cy="22860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38144" y="2953512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3320" y="3200400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320040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 1,200h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91840" y="3182112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8144" y="3182112"/>
            <a:ext cx="0" cy="19202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38144" y="3374136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74520" y="3136392"/>
            <a:ext cx="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74520" y="3136392"/>
            <a:ext cx="0" cy="886968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4023360"/>
            <a:ext cx="164592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3767328"/>
            <a:ext cx="1234440" cy="512064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57400" y="376732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1,800h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03320" y="3621024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6472" y="362102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검토 1,100h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4023360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38144" y="3794760"/>
            <a:ext cx="0" cy="22860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38144" y="3794760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3320" y="4041648"/>
            <a:ext cx="1965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76472" y="404164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응대 700h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4023360"/>
            <a:ext cx="146304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38144" y="4023360"/>
            <a:ext cx="0" cy="19202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38144" y="4215384"/>
            <a:ext cx="265176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341071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88720"/>
                <a:gridCol w="10789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착수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 실행반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표준화반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교육·이관반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관리반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5" name="Text 52"/>
          <p:cNvSpPr/>
          <p:nvPr/>
        </p:nvSpPr>
        <p:spPr>
          <a:xfrm>
            <a:off x="6035040" y="33832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유의사항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035040" y="3675888"/>
            <a:ext cx="3867912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035040" y="3767328"/>
            <a:ext cx="3867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— 검증된 도구 적용으로 3개월 내 완료 가능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— 부서 합의가 병목, 게이트 설정 필요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— 교육 병행 없이는 원복 우려</a:t>
            </a:r>
            <a:endParaRPr lang="en-US" sz="9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09744"/>
          <a:ext cx="899157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463040"/>
                <a:gridCol w="240789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하위 활동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잔여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생성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2,150h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템플릿 12종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입력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1,980h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연계 API 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1,760h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기준서 승인 필요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전환과제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전환과제 정의 및 담당 지정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전환과제 6건을 3개 절감 경로로 묶어 목표·산출물·담당·기간을 사전 확정하고 게이트 통과 기준과 연결함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991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과제 묶음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9915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76272"/>
            <a:ext cx="3271510" cy="658368"/>
          </a:xfrm>
          <a:prstGeom prst="homePlat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176272"/>
            <a:ext cx="276859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905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1·2 — 자동화 실행반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8670" y="2176272"/>
            <a:ext cx="3271510" cy="658368"/>
          </a:xfrm>
          <a:prstGeom prst="chevron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2990" y="2176272"/>
            <a:ext cx="276859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46414" y="2926080"/>
            <a:ext cx="2905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3·4 — 업무 표준화반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60140" y="2176272"/>
            <a:ext cx="3271510" cy="658368"/>
          </a:xfrm>
          <a:prstGeom prst="chevron">
            <a:avLst/>
          </a:prstGeom>
          <a:solidFill>
            <a:srgbClr val="C7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4460" y="2176272"/>
            <a:ext cx="276859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이관·측정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97884" y="2926080"/>
            <a:ext cx="2905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5·6 — 교육·이관반, 성과 관리반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56432"/>
          <a:ext cx="899157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2194560"/>
                <a:gridCol w="2103120"/>
                <a:gridCol w="1188720"/>
                <a:gridCol w="131061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산출물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자동화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작성 시간 70% 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템플릿 12종·적용 보고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 실행반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입력·정합 시간 62% 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연계 API 명세·시험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 실행반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표준화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편차 제거·45% 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기준서·교육 자료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표준화반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서식 통일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서식 관리 시간 50% 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서식 24종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표준화반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검토·응대 60% 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계획서·교육 과정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교육·이관반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측정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5종 상시 측정 체계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매뉴얼·대시보드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관리반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062472"/>
            <a:ext cx="8991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주) 과제 5는 공통·심화 교육 과정 개설이 선행되어야 하며, 과제 6은 과제 1~5의 산출물을 입력으로 사용함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전환과제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게이트 통과 기준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산출물을 다음 단계 입력으로 연결하며, 게이트 미통과 시 진입을 유보하고 2회 연속 미통과 시 과제를 재설계함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72634" cy="475488"/>
          </a:xfrm>
          <a:prstGeom prst="homePlat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진단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09794" y="1828800"/>
            <a:ext cx="2072634" cy="47548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4114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설계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62388" y="1828800"/>
            <a:ext cx="2072634" cy="47548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6708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4982" y="1828800"/>
            <a:ext cx="2072634" cy="475488"/>
          </a:xfrm>
          <a:prstGeom prst="chevron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02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확산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67576" y="1828800"/>
            <a:ext cx="2072634" cy="475488"/>
          </a:xfrm>
          <a:prstGeom prst="chevron">
            <a:avLst/>
          </a:prstGeom>
          <a:solidFill>
            <a:srgbClr val="C7C7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1896" y="1828800"/>
            <a:ext cx="156971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정착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899157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1371600"/>
                <a:gridCol w="1371600"/>
                <a:gridCol w="1188720"/>
                <a:gridCol w="112773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자료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난이도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진단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목록 100% 실측 완료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마스터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E9E9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설계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업무 단위 정의서 승인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문서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시범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2개 부서 KPI 달성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확산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부서 이관율 90%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확인서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 정착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 분기 연속 지표 달성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리포트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4단계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4439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높음   ◐ 보통   ○ 낮음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736592"/>
            <a:ext cx="4404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운영 규칙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5029200"/>
            <a:ext cx="4404299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5120640"/>
            <a:ext cx="44042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주체 — 전환추진단(월 1회 정례)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 — 통과·조건부 통과·유보 3단계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통과 — 4주 내 보완 후 재판정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 연속 유보 — 과제 재설계 절차 착수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44379" y="4736592"/>
            <a:ext cx="4404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44379" y="5029200"/>
            <a:ext cx="4404299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4379" y="5120640"/>
            <a:ext cx="44042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 개정 등 외부 요인은 기간 연장 사유로 인정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장애로 인한 지연은 실측에서 제외</a:t>
            </a:r>
            <a:endParaRPr lang="en-US" sz="950" dirty="0"/>
          </a:p>
          <a:p>
            <a:pPr marL="342900" indent="-342900">
              <a:lnSpc>
                <a:spcPct val="128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부서가 통폐합되면 담당반을 다시 지정해 승계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우선순위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평가 결과 및 추진 순서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대·난이도 소 영역의 4개 과제를 1차 추진하고, 잔여 3개 과제는 1차 성과 확인 후 2차 연도에 재판단함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24128" y="1828800"/>
            <a:ext cx="4206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28800"/>
            <a:ext cx="2103120" cy="1440180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7248" y="1828800"/>
            <a:ext cx="0" cy="288036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268980"/>
            <a:ext cx="420624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착수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8688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추진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33421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위임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18688" y="33421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유보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303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47640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난이도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66621" y="2221992"/>
            <a:ext cx="365760" cy="36576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7245" y="2295144"/>
            <a:ext cx="715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82926" y="2652674"/>
            <a:ext cx="310896" cy="310896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8686" y="2698394"/>
            <a:ext cx="715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69110" y="3025750"/>
            <a:ext cx="256032" cy="256032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0006" y="3044038"/>
            <a:ext cx="601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12694" y="2085746"/>
            <a:ext cx="292608" cy="292608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0166" y="2122322"/>
            <a:ext cx="715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표준화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9624" y="2631643"/>
            <a:ext cx="237744" cy="237744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2640787"/>
            <a:ext cx="601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이관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47288" y="3686861"/>
            <a:ext cx="201168" cy="201168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677717"/>
            <a:ext cx="601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29354" y="4005072"/>
            <a:ext cx="256032" cy="256032"/>
          </a:xfrm>
          <a:prstGeom prst="ellipse">
            <a:avLst/>
          </a:prstGeom>
          <a:solidFill>
            <a:srgbClr val="C7C7C7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0250" y="4023360"/>
            <a:ext cx="715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재개발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182880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평가 점수 (5점 만점)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77840" y="2121408"/>
            <a:ext cx="387065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5577840" y="2157984"/>
          <a:ext cx="3870655" cy="25511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10912"/>
          <a:ext cx="899157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368805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추진 방침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추진(당해)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6,300h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 집중, 분기별 게이트 운영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이월(차년)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성과 확인 후 착수 여부 판단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추진 체계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체계 및 역할 정의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추진단을 중심으로 의사결정·실행·지원을 3층으로 분리하고 부서 담당자를 실행층에 상시 배치함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581385" y="1828800"/>
            <a:ext cx="2743200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81385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협의체 (분기)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81385" y="2487168"/>
            <a:ext cx="2743200" cy="384048"/>
          </a:xfrm>
          <a:prstGeom prst="rect">
            <a:avLst/>
          </a:prstGeom>
          <a:solidFill>
            <a:srgbClr val="E4E4E4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1385" y="24871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전환추진단 (월)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52985" y="2212848"/>
            <a:ext cx="0" cy="27432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45536"/>
            <a:ext cx="211071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45536"/>
            <a:ext cx="2110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표준화반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12555" y="2999232"/>
            <a:ext cx="0" cy="14630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0790" y="3145536"/>
            <a:ext cx="211071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0790" y="3145536"/>
            <a:ext cx="2110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실행반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06144" y="2999232"/>
            <a:ext cx="0" cy="14630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4379" y="3145536"/>
            <a:ext cx="211071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4379" y="3145536"/>
            <a:ext cx="2110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교육·이관반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9734" y="2999232"/>
            <a:ext cx="0" cy="14630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8060" y="3145536"/>
            <a:ext cx="211071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8060" y="3145536"/>
            <a:ext cx="2110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관리반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93415" y="2999232"/>
            <a:ext cx="0" cy="146304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12555" y="2999232"/>
            <a:ext cx="688086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2985" y="2871216"/>
            <a:ext cx="0" cy="128016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85616"/>
          <a:ext cx="899157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194560"/>
                <a:gridCol w="1371600"/>
                <a:gridCol w="131061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경영진 협의체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 배분·중단 판단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 심의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전환추진단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관리·게이트 운영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월간 추진 보고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표준화반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업무 단위 정의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정의서·기준서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 실행반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 적용·연계 개발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템플릿·API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교육·이관반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운영·이관 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과정·이관 계획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관리반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측정·보고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리포트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로드맵·성과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실행 일정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산출물 1건을 원칙으로 하며, 분기 말 확인이 불가한 과제는 로드맵에서 제외함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920240" y="1828800"/>
            <a:ext cx="149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20240" y="2103120"/>
            <a:ext cx="0" cy="252374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3752" y="1828800"/>
            <a:ext cx="149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2분기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13752" y="2103120"/>
            <a:ext cx="0" cy="252374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7265" y="1828800"/>
            <a:ext cx="149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07265" y="2103120"/>
            <a:ext cx="0" cy="252374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777" y="1828800"/>
            <a:ext cx="149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777" y="2103120"/>
            <a:ext cx="0" cy="252374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4290" y="2103120"/>
            <a:ext cx="0" cy="2523744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103120"/>
            <a:ext cx="5974050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표준화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53288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231136"/>
            <a:ext cx="2688322" cy="192024"/>
          </a:xfrm>
          <a:prstGeom prst="roundRect">
            <a:avLst>
              <a:gd name="adj" fmla="val 19048"/>
            </a:avLst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0838" y="225399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5458" y="221284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정의서 승인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자동화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94436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5050" y="2642616"/>
            <a:ext cx="2090917" cy="192024"/>
          </a:xfrm>
          <a:prstGeom prst="roundRect">
            <a:avLst>
              <a:gd name="adj" fmla="val 19048"/>
            </a:avLst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8243" y="266547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5458" y="26243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적용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연계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35584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1157" y="3054096"/>
            <a:ext cx="2389620" cy="192024"/>
          </a:xfrm>
          <a:prstGeom prst="roundRect">
            <a:avLst>
              <a:gd name="adj" fmla="val 19048"/>
            </a:avLst>
          </a:prstGeom>
          <a:solidFill>
            <a:srgbClr val="6B6B6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3053" y="307695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5458" y="30358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통일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376732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7645" y="3465576"/>
            <a:ext cx="1194810" cy="192024"/>
          </a:xfrm>
          <a:prstGeom prst="roundRect">
            <a:avLst>
              <a:gd name="adj" fmla="val 19048"/>
            </a:avLst>
          </a:prstGeom>
          <a:solidFill>
            <a:srgbClr val="6B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3634731" y="348843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5458" y="34472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24종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교육·이관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20240" y="417880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07265" y="3877056"/>
            <a:ext cx="2987025" cy="192024"/>
          </a:xfrm>
          <a:prstGeom prst="roundRect">
            <a:avLst>
              <a:gd name="adj" fmla="val 19048"/>
            </a:avLst>
          </a:prstGeom>
          <a:solidFill>
            <a:srgbClr val="6B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7816566" y="389991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5458" y="385876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이관율 90%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4590288"/>
            <a:ext cx="5974050" cy="0"/>
          </a:xfrm>
          <a:prstGeom prst="line">
            <a:avLst/>
          </a:prstGeom>
          <a:noFill/>
          <a:ln w="9525">
            <a:solidFill>
              <a:srgbClr val="F4F4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777" y="4288536"/>
            <a:ext cx="1493512" cy="192024"/>
          </a:xfrm>
          <a:prstGeom prst="roundRect">
            <a:avLst>
              <a:gd name="adj" fmla="val 19048"/>
            </a:avLst>
          </a:prstGeom>
          <a:solidFill>
            <a:srgbClr val="C7C7C7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6566" y="4311396"/>
            <a:ext cx="155448" cy="1554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5458" y="427024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완료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90288"/>
          <a:ext cx="899157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2011680"/>
                <a:gridCol w="1828800"/>
                <a:gridCol w="176781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업무 단위 정의서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전환추진단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 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합의 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 적용 보고서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전환추진단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 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2개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연계 API 명세·시험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경영진 협의체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 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개방 필요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성과 리포트·보정안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경영진 협의체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 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차년 계획 연계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" kern="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로드맵·성과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991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spc="-40" kern="0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성과지표 정의 및 측정 방법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991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선행지표와 결과지표를 분리하고 산식·자료원·측정주기를 사전 확정하여 지표 해석의 일관성을 확보함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991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 추이 — 업무 이관율 (%)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9915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2176272"/>
          <a:ext cx="899157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86784"/>
          <a:ext cx="899157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822960"/>
                <a:gridCol w="1005840"/>
                <a:gridCol w="2377440"/>
                <a:gridCol w="1371600"/>
                <a:gridCol w="103629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목표(1차)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업무시간 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6,300h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기준시간 − 측정시간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로그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이관율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활동 ÷ 대상 활동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확인서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오류율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 건수 ÷ 처리 건수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점검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수료율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E9E9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수료 인원 ÷ 대상 인원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학습관리시스템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준수율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E9E9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준수 활동 ÷ 점검 활동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 감사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797296"/>
            <a:ext cx="8991570" cy="466344"/>
          </a:xfrm>
          <a:prstGeom prst="rect">
            <a:avLst/>
          </a:prstGeom>
          <a:solidFill>
            <a:srgbClr val="F4F4F4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797296"/>
            <a:ext cx="877211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선행지표가 2회 연속 목표에 미달하는 경우 해당 과제를 재설계함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446520"/>
            <a:ext cx="990597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로드맵</dc:title>
  <dc:subject>PptxGenJS Presentation</dc:subject>
  <dc:creator>한국표준협회</dc:creator>
  <cp:lastModifiedBy>한국표준협회</cp:lastModifiedBy>
  <cp:revision>1</cp:revision>
  <dcterms:created xsi:type="dcterms:W3CDTF">2026-08-26T06:05:41Z</dcterms:created>
  <dcterms:modified xsi:type="dcterms:W3CDTF">2026-08-26T06:05:41Z</dcterms:modified>
</cp:coreProperties>
</file>
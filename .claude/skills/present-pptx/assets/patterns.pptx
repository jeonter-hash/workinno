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3"/>
  </p:notesMasterIdLst>
  <p:sldIdLst>
    <p:sldId id="10171" r:id="rId2"/>
    <p:sldId id="9976" r:id="rId3"/>
    <p:sldId id="10204" r:id="rId4"/>
    <p:sldId id="10174" r:id="rId5"/>
    <p:sldId id="10175" r:id="rId6"/>
    <p:sldId id="10205" r:id="rId7"/>
    <p:sldId id="10191" r:id="rId8"/>
    <p:sldId id="10192" r:id="rId9"/>
    <p:sldId id="10193" r:id="rId10"/>
    <p:sldId id="10194" r:id="rId11"/>
    <p:sldId id="10197" r:id="rId12"/>
    <p:sldId id="10200" r:id="rId13"/>
    <p:sldId id="10199" r:id="rId14"/>
    <p:sldId id="10201" r:id="rId15"/>
    <p:sldId id="10202" r:id="rId16"/>
    <p:sldId id="10195" r:id="rId17"/>
    <p:sldId id="10203" r:id="rId18"/>
    <p:sldId id="10178" r:id="rId19"/>
    <p:sldId id="10176" r:id="rId20"/>
    <p:sldId id="10179" r:id="rId21"/>
    <p:sldId id="10180" r:id="rId22"/>
    <p:sldId id="10181" r:id="rId23"/>
    <p:sldId id="10196" r:id="rId24"/>
    <p:sldId id="10183" r:id="rId25"/>
    <p:sldId id="10184" r:id="rId26"/>
    <p:sldId id="10185" r:id="rId27"/>
    <p:sldId id="10186" r:id="rId28"/>
    <p:sldId id="10187" r:id="rId29"/>
    <p:sldId id="10206" r:id="rId30"/>
    <p:sldId id="10189" r:id="rId31"/>
    <p:sldId id="261" r:id="rId32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만든 이" initials="오전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5740"/>
    <a:srgbClr val="5D6DBE"/>
    <a:srgbClr val="58A7AE"/>
    <a:srgbClr val="1040C3"/>
    <a:srgbClr val="DFE2F2"/>
    <a:srgbClr val="EEF6F7"/>
    <a:srgbClr val="D7EAF8"/>
    <a:srgbClr val="596290"/>
    <a:srgbClr val="002060"/>
    <a:srgbClr val="004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E57ECB-F187-4BAF-9B5F-595A946F085D}" v="4" dt="2026-02-03T00:55:38.247"/>
  </p1510:revLst>
</p1510:revInfo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69" autoAdjust="0"/>
    <p:restoredTop sz="93429" autoAdjust="0"/>
  </p:normalViewPr>
  <p:slideViewPr>
    <p:cSldViewPr snapToGrid="0">
      <p:cViewPr varScale="1">
        <p:scale>
          <a:sx n="92" d="100"/>
          <a:sy n="92" d="100"/>
        </p:scale>
        <p:origin x="78" y="55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45" d="100"/>
          <a:sy n="45" d="100"/>
        </p:scale>
        <p:origin x="1912" y="4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봉관 전" userId="ece79fcb95c39f60" providerId="LiveId" clId="{AB8BC851-572A-474B-8003-F72BC8880479}"/>
    <pc:docChg chg="undo custSel modSld">
      <pc:chgData name="봉관 전" userId="ece79fcb95c39f60" providerId="LiveId" clId="{AB8BC851-572A-474B-8003-F72BC8880479}" dt="2026-02-03T01:01:55.069" v="144" actId="20577"/>
      <pc:docMkLst>
        <pc:docMk/>
      </pc:docMkLst>
      <pc:sldChg chg="modSp mod">
        <pc:chgData name="봉관 전" userId="ece79fcb95c39f60" providerId="LiveId" clId="{AB8BC851-572A-474B-8003-F72BC8880479}" dt="2026-02-03T00:09:48.074" v="100" actId="20577"/>
        <pc:sldMkLst>
          <pc:docMk/>
          <pc:sldMk cId="2032514327" sldId="10171"/>
        </pc:sldMkLst>
        <pc:spChg chg="mod">
          <ac:chgData name="봉관 전" userId="ece79fcb95c39f60" providerId="LiveId" clId="{AB8BC851-572A-474B-8003-F72BC8880479}" dt="2026-02-03T00:09:48.074" v="100" actId="20577"/>
          <ac:spMkLst>
            <pc:docMk/>
            <pc:sldMk cId="2032514327" sldId="10171"/>
            <ac:spMk id="2" creationId="{00000000-0000-0000-0000-000000000000}"/>
          </ac:spMkLst>
        </pc:spChg>
      </pc:sldChg>
      <pc:sldChg chg="modSp mod">
        <pc:chgData name="봉관 전" userId="ece79fcb95c39f60" providerId="LiveId" clId="{AB8BC851-572A-474B-8003-F72BC8880479}" dt="2026-02-02T05:55:12.733" v="86" actId="20577"/>
        <pc:sldMkLst>
          <pc:docMk/>
          <pc:sldMk cId="2187968234" sldId="10174"/>
        </pc:sldMkLst>
        <pc:spChg chg="mod">
          <ac:chgData name="봉관 전" userId="ece79fcb95c39f60" providerId="LiveId" clId="{AB8BC851-572A-474B-8003-F72BC8880479}" dt="2026-02-02T05:55:08.109" v="72" actId="20577"/>
          <ac:spMkLst>
            <pc:docMk/>
            <pc:sldMk cId="2187968234" sldId="10174"/>
            <ac:spMk id="8" creationId="{77E65C83-C30C-7C3C-4D5F-6583762EEF58}"/>
          </ac:spMkLst>
        </pc:spChg>
        <pc:spChg chg="mod">
          <ac:chgData name="봉관 전" userId="ece79fcb95c39f60" providerId="LiveId" clId="{AB8BC851-572A-474B-8003-F72BC8880479}" dt="2026-02-02T05:55:12.733" v="86" actId="20577"/>
          <ac:spMkLst>
            <pc:docMk/>
            <pc:sldMk cId="2187968234" sldId="10174"/>
            <ac:spMk id="17" creationId="{D94203F5-2282-6411-9DA5-D18F35BA2522}"/>
          </ac:spMkLst>
        </pc:spChg>
        <pc:graphicFrameChg chg="modGraphic">
          <ac:chgData name="봉관 전" userId="ece79fcb95c39f60" providerId="LiveId" clId="{AB8BC851-572A-474B-8003-F72BC8880479}" dt="2026-02-02T05:54:26.867" v="58" actId="20577"/>
          <ac:graphicFrameMkLst>
            <pc:docMk/>
            <pc:sldMk cId="2187968234" sldId="10174"/>
            <ac:graphicFrameMk id="2" creationId="{F09B121C-66CD-F584-67F5-0221D133156B}"/>
          </ac:graphicFrameMkLst>
        </pc:graphicFrameChg>
      </pc:sldChg>
      <pc:sldChg chg="modSp mod">
        <pc:chgData name="봉관 전" userId="ece79fcb95c39f60" providerId="LiveId" clId="{AB8BC851-572A-474B-8003-F72BC8880479}" dt="2026-02-03T00:39:15.260" v="115"/>
        <pc:sldMkLst>
          <pc:docMk/>
          <pc:sldMk cId="2743079017" sldId="10185"/>
        </pc:sldMkLst>
        <pc:spChg chg="mod">
          <ac:chgData name="봉관 전" userId="ece79fcb95c39f60" providerId="LiveId" clId="{AB8BC851-572A-474B-8003-F72BC8880479}" dt="2026-02-03T00:39:15.260" v="115"/>
          <ac:spMkLst>
            <pc:docMk/>
            <pc:sldMk cId="2743079017" sldId="10185"/>
            <ac:spMk id="61" creationId="{EDF03FE3-6E7A-33CF-6693-5794C8F92226}"/>
          </ac:spMkLst>
        </pc:spChg>
      </pc:sldChg>
      <pc:sldChg chg="modSp mod">
        <pc:chgData name="봉관 전" userId="ece79fcb95c39f60" providerId="LiveId" clId="{AB8BC851-572A-474B-8003-F72BC8880479}" dt="2026-02-03T00:43:57.508" v="117" actId="6549"/>
        <pc:sldMkLst>
          <pc:docMk/>
          <pc:sldMk cId="3278488688" sldId="10187"/>
        </pc:sldMkLst>
        <pc:spChg chg="mod">
          <ac:chgData name="봉관 전" userId="ece79fcb95c39f60" providerId="LiveId" clId="{AB8BC851-572A-474B-8003-F72BC8880479}" dt="2026-02-03T00:43:57.508" v="117" actId="6549"/>
          <ac:spMkLst>
            <pc:docMk/>
            <pc:sldMk cId="3278488688" sldId="10187"/>
            <ac:spMk id="2" creationId="{009B6939-4174-C337-74A1-F5EA8244EFDE}"/>
          </ac:spMkLst>
        </pc:spChg>
      </pc:sldChg>
      <pc:sldChg chg="modSp mod">
        <pc:chgData name="봉관 전" userId="ece79fcb95c39f60" providerId="LiveId" clId="{AB8BC851-572A-474B-8003-F72BC8880479}" dt="2026-02-03T00:57:11.930" v="143" actId="6549"/>
        <pc:sldMkLst>
          <pc:docMk/>
          <pc:sldMk cId="3599001545" sldId="10189"/>
        </pc:sldMkLst>
        <pc:spChg chg="mod">
          <ac:chgData name="봉관 전" userId="ece79fcb95c39f60" providerId="LiveId" clId="{AB8BC851-572A-474B-8003-F72BC8880479}" dt="2026-02-03T00:57:11.930" v="143" actId="6549"/>
          <ac:spMkLst>
            <pc:docMk/>
            <pc:sldMk cId="3599001545" sldId="10189"/>
            <ac:spMk id="36" creationId="{D7FF8C61-BF9B-9C01-E8FE-3E23E55B4DAB}"/>
          </ac:spMkLst>
        </pc:spChg>
        <pc:spChg chg="mod">
          <ac:chgData name="봉관 전" userId="ece79fcb95c39f60" providerId="LiveId" clId="{AB8BC851-572A-474B-8003-F72BC8880479}" dt="2026-02-03T00:22:06.699" v="109" actId="1036"/>
          <ac:spMkLst>
            <pc:docMk/>
            <pc:sldMk cId="3599001545" sldId="10189"/>
            <ac:spMk id="38" creationId="{03035BF4-76A6-5FAB-326D-8A7C68DD7754}"/>
          </ac:spMkLst>
        </pc:spChg>
        <pc:spChg chg="mod">
          <ac:chgData name="봉관 전" userId="ece79fcb95c39f60" providerId="LiveId" clId="{AB8BC851-572A-474B-8003-F72BC8880479}" dt="2026-02-03T00:22:06.699" v="109" actId="1036"/>
          <ac:spMkLst>
            <pc:docMk/>
            <pc:sldMk cId="3599001545" sldId="10189"/>
            <ac:spMk id="39" creationId="{C12E38E2-8240-56FF-9634-6BB31520332F}"/>
          </ac:spMkLst>
        </pc:spChg>
        <pc:spChg chg="mod">
          <ac:chgData name="봉관 전" userId="ece79fcb95c39f60" providerId="LiveId" clId="{AB8BC851-572A-474B-8003-F72BC8880479}" dt="2026-02-03T00:22:06.699" v="109" actId="1036"/>
          <ac:spMkLst>
            <pc:docMk/>
            <pc:sldMk cId="3599001545" sldId="10189"/>
            <ac:spMk id="40" creationId="{A6F4A44A-FE5C-F46C-E74C-6B97C0B7F8F7}"/>
          </ac:spMkLst>
        </pc:spChg>
        <pc:spChg chg="mod">
          <ac:chgData name="봉관 전" userId="ece79fcb95c39f60" providerId="LiveId" clId="{AB8BC851-572A-474B-8003-F72BC8880479}" dt="2026-02-03T00:22:06.699" v="109" actId="1036"/>
          <ac:spMkLst>
            <pc:docMk/>
            <pc:sldMk cId="3599001545" sldId="10189"/>
            <ac:spMk id="41" creationId="{9E8F4479-6870-B020-C576-A5808E348F8B}"/>
          </ac:spMkLst>
        </pc:spChg>
      </pc:sldChg>
      <pc:sldChg chg="modSp mod">
        <pc:chgData name="봉관 전" userId="ece79fcb95c39f60" providerId="LiveId" clId="{AB8BC851-572A-474B-8003-F72BC8880479}" dt="2026-02-02T06:00:46.230" v="88" actId="20577"/>
        <pc:sldMkLst>
          <pc:docMk/>
          <pc:sldMk cId="2595844606" sldId="10192"/>
        </pc:sldMkLst>
        <pc:spChg chg="mod">
          <ac:chgData name="봉관 전" userId="ece79fcb95c39f60" providerId="LiveId" clId="{AB8BC851-572A-474B-8003-F72BC8880479}" dt="2026-02-02T05:03:09.219" v="34" actId="20577"/>
          <ac:spMkLst>
            <pc:docMk/>
            <pc:sldMk cId="2595844606" sldId="10192"/>
            <ac:spMk id="11" creationId="{DCABFA76-7904-AC43-58B6-02645828374F}"/>
          </ac:spMkLst>
        </pc:spChg>
        <pc:graphicFrameChg chg="modGraphic">
          <ac:chgData name="봉관 전" userId="ece79fcb95c39f60" providerId="LiveId" clId="{AB8BC851-572A-474B-8003-F72BC8880479}" dt="2026-02-02T06:00:46.230" v="88" actId="20577"/>
          <ac:graphicFrameMkLst>
            <pc:docMk/>
            <pc:sldMk cId="2595844606" sldId="10192"/>
            <ac:graphicFrameMk id="12" creationId="{13ECE0FD-757E-26A4-FB14-1E958E82159C}"/>
          </ac:graphicFrameMkLst>
        </pc:graphicFrameChg>
      </pc:sldChg>
      <pc:sldChg chg="modSp mod">
        <pc:chgData name="봉관 전" userId="ece79fcb95c39f60" providerId="LiveId" clId="{AB8BC851-572A-474B-8003-F72BC8880479}" dt="2026-02-02T06:14:10.484" v="98" actId="6549"/>
        <pc:sldMkLst>
          <pc:docMk/>
          <pc:sldMk cId="3136458823" sldId="10194"/>
        </pc:sldMkLst>
        <pc:spChg chg="mod">
          <ac:chgData name="봉관 전" userId="ece79fcb95c39f60" providerId="LiveId" clId="{AB8BC851-572A-474B-8003-F72BC8880479}" dt="2026-02-02T06:14:10.484" v="98" actId="6549"/>
          <ac:spMkLst>
            <pc:docMk/>
            <pc:sldMk cId="3136458823" sldId="10194"/>
            <ac:spMk id="44" creationId="{549FE8BC-3697-D156-E6CD-F6E13249CDFA}"/>
          </ac:spMkLst>
        </pc:spChg>
      </pc:sldChg>
      <pc:sldChg chg="modSp mod">
        <pc:chgData name="봉관 전" userId="ece79fcb95c39f60" providerId="LiveId" clId="{AB8BC851-572A-474B-8003-F72BC8880479}" dt="2026-02-02T06:11:30.191" v="92" actId="20577"/>
        <pc:sldMkLst>
          <pc:docMk/>
          <pc:sldMk cId="1111369450" sldId="10200"/>
        </pc:sldMkLst>
        <pc:graphicFrameChg chg="modGraphic">
          <ac:chgData name="봉관 전" userId="ece79fcb95c39f60" providerId="LiveId" clId="{AB8BC851-572A-474B-8003-F72BC8880479}" dt="2026-02-02T06:11:30.191" v="92" actId="20577"/>
          <ac:graphicFrameMkLst>
            <pc:docMk/>
            <pc:sldMk cId="1111369450" sldId="10200"/>
            <ac:graphicFrameMk id="2" creationId="{D51D1DEB-C46C-667C-D100-527BC6A1102F}"/>
          </ac:graphicFrameMkLst>
        </pc:graphicFrameChg>
      </pc:sldChg>
      <pc:sldChg chg="modSp mod">
        <pc:chgData name="봉관 전" userId="ece79fcb95c39f60" providerId="LiveId" clId="{AB8BC851-572A-474B-8003-F72BC8880479}" dt="2026-02-03T01:01:55.069" v="144" actId="20577"/>
        <pc:sldMkLst>
          <pc:docMk/>
          <pc:sldMk cId="107894988" sldId="10206"/>
        </pc:sldMkLst>
        <pc:spChg chg="mod">
          <ac:chgData name="봉관 전" userId="ece79fcb95c39f60" providerId="LiveId" clId="{AB8BC851-572A-474B-8003-F72BC8880479}" dt="2026-02-03T01:01:55.069" v="144" actId="20577"/>
          <ac:spMkLst>
            <pc:docMk/>
            <pc:sldMk cId="107894988" sldId="10206"/>
            <ac:spMk id="96" creationId="{F56C8E91-0471-B562-5563-FD8808489775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C45B0-2C34-44F0-ADE9-0F583568921E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73836-3853-4C81-8571-61E385CB6B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90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73836-3853-4C81-8571-61E385CB6BC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859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1EB40-FD3F-43A1-ACA3-95D1C061B60A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53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9">
            <a:extLst>
              <a:ext uri="{FF2B5EF4-FFF2-40B4-BE49-F238E27FC236}">
                <a16:creationId xmlns:a16="http://schemas.microsoft.com/office/drawing/2014/main" id="{AB35F302-C0BE-E469-6C29-8551124C1FC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79687" y="6512898"/>
            <a:ext cx="546626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0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sym typeface="맑은 고딕"/>
              </a:rPr>
              <a:t>- </a:t>
            </a:r>
            <a:fld id="{333FD6C3-BEE4-4AF1-81A6-625DB0DCB21E}" type="slidenum">
              <a:rPr lang="en-US" altLang="ko-KR" sz="1000" b="1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sym typeface="맑은 고딕"/>
              </a:rPr>
              <a:pPr algn="ctr">
                <a:lnSpc>
                  <a:spcPct val="100000"/>
                </a:lnSpc>
              </a:pPr>
              <a:t>‹#›</a:t>
            </a:fld>
            <a:r>
              <a:rPr lang="en-US" altLang="ko-KR" sz="10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sym typeface="맑은 고딕"/>
              </a:rPr>
              <a:t> -</a:t>
            </a:r>
            <a:endParaRPr lang="en-US" altLang="ko-KR" sz="700" b="1" i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  <a:sym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A60E6C-A96B-0920-EA76-53443C6C0307}"/>
              </a:ext>
            </a:extLst>
          </p:cNvPr>
          <p:cNvSpPr/>
          <p:nvPr userDrawn="1"/>
        </p:nvSpPr>
        <p:spPr bwMode="auto">
          <a:xfrm>
            <a:off x="214072" y="1318437"/>
            <a:ext cx="9391564" cy="514511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88900" marR="0" indent="-88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255315-3F67-5E46-07B1-A6851B2D5581}"/>
              </a:ext>
            </a:extLst>
          </p:cNvPr>
          <p:cNvGrpSpPr/>
          <p:nvPr userDrawn="1"/>
        </p:nvGrpSpPr>
        <p:grpSpPr>
          <a:xfrm>
            <a:off x="217657" y="1040181"/>
            <a:ext cx="9391564" cy="72000"/>
            <a:chOff x="217657" y="1106441"/>
            <a:chExt cx="9391564" cy="1440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F849317-CCDA-DECE-364F-219B8570CC52}"/>
                </a:ext>
              </a:extLst>
            </p:cNvPr>
            <p:cNvSpPr/>
            <p:nvPr/>
          </p:nvSpPr>
          <p:spPr bwMode="auto">
            <a:xfrm>
              <a:off x="217657" y="1106441"/>
              <a:ext cx="4695782" cy="144000"/>
            </a:xfrm>
            <a:prstGeom prst="rect">
              <a:avLst/>
            </a:prstGeom>
            <a:solidFill>
              <a:srgbClr val="5D6DBE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88900" marR="0" indent="-8890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7257F96-C763-D1C7-6F8B-58FC67559C50}"/>
                </a:ext>
              </a:extLst>
            </p:cNvPr>
            <p:cNvSpPr/>
            <p:nvPr/>
          </p:nvSpPr>
          <p:spPr bwMode="auto">
            <a:xfrm>
              <a:off x="4909854" y="1106441"/>
              <a:ext cx="4699367" cy="144000"/>
            </a:xfrm>
            <a:prstGeom prst="rect">
              <a:avLst/>
            </a:prstGeom>
            <a:solidFill>
              <a:schemeClr val="tx1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88900" marR="0" indent="-8890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AE9882-7838-2C76-A87B-18F19075BD23}"/>
              </a:ext>
            </a:extLst>
          </p:cNvPr>
          <p:cNvGrpSpPr/>
          <p:nvPr userDrawn="1"/>
        </p:nvGrpSpPr>
        <p:grpSpPr>
          <a:xfrm>
            <a:off x="214072" y="508249"/>
            <a:ext cx="9391565" cy="72000"/>
            <a:chOff x="217657" y="1106441"/>
            <a:chExt cx="9391565" cy="14400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9A06F2C-90E4-2DCE-D8CF-857D85EF0096}"/>
                </a:ext>
              </a:extLst>
            </p:cNvPr>
            <p:cNvSpPr/>
            <p:nvPr/>
          </p:nvSpPr>
          <p:spPr bwMode="auto">
            <a:xfrm>
              <a:off x="217657" y="1106441"/>
              <a:ext cx="2197552" cy="144000"/>
            </a:xfrm>
            <a:prstGeom prst="rect">
              <a:avLst/>
            </a:prstGeom>
            <a:solidFill>
              <a:schemeClr val="tx1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88900" marR="0" indent="-8890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F33E9EB-4B69-5087-165F-12209DB9C723}"/>
                </a:ext>
              </a:extLst>
            </p:cNvPr>
            <p:cNvSpPr/>
            <p:nvPr/>
          </p:nvSpPr>
          <p:spPr bwMode="auto">
            <a:xfrm>
              <a:off x="2415210" y="1106441"/>
              <a:ext cx="7194012" cy="144000"/>
            </a:xfrm>
            <a:prstGeom prst="rect">
              <a:avLst/>
            </a:prstGeom>
            <a:solidFill>
              <a:srgbClr val="002060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88900" marR="0" indent="-8890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E8D25611-033A-590C-8A72-94B5718E97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7" t="18901" r="25592" b="76376"/>
          <a:stretch/>
        </p:blipFill>
        <p:spPr>
          <a:xfrm>
            <a:off x="8255448" y="232687"/>
            <a:ext cx="1350185" cy="17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18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1739338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5" name="개체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3051" y="148922"/>
            <a:ext cx="9359900" cy="219737"/>
          </a:xfrm>
        </p:spPr>
        <p:txBody>
          <a:bodyPr/>
          <a:lstStyle>
            <a:lvl1pPr>
              <a:defRPr sz="1300">
                <a:solidFill>
                  <a:srgbClr val="1F4E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73050" y="920347"/>
            <a:ext cx="9359899" cy="852892"/>
          </a:xfrm>
        </p:spPr>
        <p:txBody>
          <a:bodyPr wrap="square"/>
          <a:lstStyle>
            <a:lvl1pPr algn="just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77B219F2-E3CA-43EF-8A24-BDFBAD890A1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73050" y="345651"/>
            <a:ext cx="9359899" cy="435248"/>
          </a:xfrm>
        </p:spPr>
        <p:txBody>
          <a:bodyPr anchor="ctr"/>
          <a:lstStyle>
            <a:lvl1pPr algn="l">
              <a:defRPr sz="2200">
                <a:solidFill>
                  <a:srgbClr val="1F4E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Rectangle 59">
            <a:extLst>
              <a:ext uri="{FF2B5EF4-FFF2-40B4-BE49-F238E27FC236}">
                <a16:creationId xmlns:a16="http://schemas.microsoft.com/office/drawing/2014/main" id="{55CA8CBD-B489-4B57-9D41-FF9B5CF93A7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79687" y="6512898"/>
            <a:ext cx="546626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0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sym typeface="맑은 고딕"/>
              </a:rPr>
              <a:t>- </a:t>
            </a:r>
            <a:fld id="{333FD6C3-BEE4-4AF1-81A6-625DB0DCB21E}" type="slidenum">
              <a:rPr lang="en-US" altLang="ko-KR" sz="1000" b="1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sym typeface="맑은 고딕"/>
              </a:rPr>
              <a:pPr algn="ctr">
                <a:lnSpc>
                  <a:spcPct val="100000"/>
                </a:lnSpc>
              </a:pPr>
              <a:t>‹#›</a:t>
            </a:fld>
            <a:r>
              <a:rPr lang="en-US" altLang="ko-KR" sz="10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sym typeface="맑은 고딕"/>
              </a:rPr>
              <a:t> -</a:t>
            </a:r>
            <a:endParaRPr lang="en-US" altLang="ko-KR" sz="700" b="1" i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  <a:sym typeface="맑은 고딕"/>
            </a:endParaRPr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EF54252E-0AD0-4B52-92F3-E9558ED7F7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7" t="18901" r="25592" b="76376"/>
          <a:stretch/>
        </p:blipFill>
        <p:spPr>
          <a:xfrm>
            <a:off x="8078337" y="6556232"/>
            <a:ext cx="1554612" cy="20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06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172">
          <p15:clr>
            <a:srgbClr val="FBAE40"/>
          </p15:clr>
        </p15:guide>
        <p15:guide id="3" pos="3052">
          <p15:clr>
            <a:srgbClr val="FBAE40"/>
          </p15:clr>
        </p15:guide>
        <p15:guide id="4" pos="6068">
          <p15:clr>
            <a:srgbClr val="FBAE40"/>
          </p15:clr>
        </p15:guide>
        <p15:guide id="5" pos="3188">
          <p15:clr>
            <a:srgbClr val="FBAE40"/>
          </p15:clr>
        </p15:guide>
        <p15:guide id="6" orient="horz" pos="1117">
          <p15:clr>
            <a:srgbClr val="FBAE40"/>
          </p15:clr>
        </p15:guide>
        <p15:guide id="7" orient="horz" pos="1321">
          <p15:clr>
            <a:srgbClr val="FBAE40"/>
          </p15:clr>
        </p15:guide>
        <p15:guide id="8" orient="horz" pos="1366">
          <p15:clr>
            <a:srgbClr val="FBAE40"/>
          </p15:clr>
        </p15:guide>
        <p15:guide id="9" orient="horz" pos="406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76" r="2823"/>
          <a:stretch/>
        </p:blipFill>
        <p:spPr>
          <a:xfrm flipH="1"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자유형 1"/>
          <p:cNvSpPr>
            <a:spLocks/>
          </p:cNvSpPr>
          <p:nvPr userDrawn="1"/>
        </p:nvSpPr>
        <p:spPr bwMode="auto">
          <a:xfrm flipH="1">
            <a:off x="2" y="-3176"/>
            <a:ext cx="9905998" cy="6861176"/>
          </a:xfrm>
          <a:custGeom>
            <a:avLst/>
            <a:gdLst>
              <a:gd name="connsiteX0" fmla="*/ 0 w 9143998"/>
              <a:gd name="connsiteY0" fmla="*/ 0 h 6861176"/>
              <a:gd name="connsiteX1" fmla="*/ 423860 w 9143998"/>
              <a:gd name="connsiteY1" fmla="*/ 0 h 6861176"/>
              <a:gd name="connsiteX2" fmla="*/ 9143998 w 9143998"/>
              <a:gd name="connsiteY2" fmla="*/ 6861176 h 6861176"/>
              <a:gd name="connsiteX3" fmla="*/ 0 w 9143998"/>
              <a:gd name="connsiteY3" fmla="*/ 6861176 h 686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3998" h="6861176">
                <a:moveTo>
                  <a:pt x="0" y="0"/>
                </a:moveTo>
                <a:lnTo>
                  <a:pt x="423860" y="0"/>
                </a:lnTo>
                <a:lnTo>
                  <a:pt x="9143998" y="6861176"/>
                </a:lnTo>
                <a:lnTo>
                  <a:pt x="0" y="6861176"/>
                </a:lnTo>
                <a:close/>
              </a:path>
            </a:pathLst>
          </a:custGeom>
          <a:solidFill>
            <a:srgbClr val="00113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3" name="자유형 2"/>
          <p:cNvSpPr>
            <a:spLocks/>
          </p:cNvSpPr>
          <p:nvPr userDrawn="1"/>
        </p:nvSpPr>
        <p:spPr bwMode="auto">
          <a:xfrm flipH="1">
            <a:off x="-1" y="5742996"/>
            <a:ext cx="2277210" cy="1115004"/>
          </a:xfrm>
          <a:custGeom>
            <a:avLst/>
            <a:gdLst>
              <a:gd name="connsiteX0" fmla="*/ 1416780 w 2102040"/>
              <a:gd name="connsiteY0" fmla="*/ 0 h 1115004"/>
              <a:gd name="connsiteX1" fmla="*/ 2102040 w 2102040"/>
              <a:gd name="connsiteY1" fmla="*/ 539299 h 1115004"/>
              <a:gd name="connsiteX2" fmla="*/ 2102040 w 2102040"/>
              <a:gd name="connsiteY2" fmla="*/ 1115004 h 1115004"/>
              <a:gd name="connsiteX3" fmla="*/ 0 w 2102040"/>
              <a:gd name="connsiteY3" fmla="*/ 1115004 h 1115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2040" h="1115004">
                <a:moveTo>
                  <a:pt x="1416780" y="0"/>
                </a:moveTo>
                <a:lnTo>
                  <a:pt x="2102040" y="539299"/>
                </a:lnTo>
                <a:lnTo>
                  <a:pt x="2102040" y="1115004"/>
                </a:lnTo>
                <a:lnTo>
                  <a:pt x="0" y="1115004"/>
                </a:lnTo>
                <a:close/>
              </a:path>
            </a:pathLst>
          </a:custGeom>
          <a:solidFill>
            <a:srgbClr val="1F242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4" name="Freeform 9"/>
          <p:cNvSpPr>
            <a:spLocks/>
          </p:cNvSpPr>
          <p:nvPr userDrawn="1"/>
        </p:nvSpPr>
        <p:spPr bwMode="auto">
          <a:xfrm flipH="1">
            <a:off x="8132977" y="-3176"/>
            <a:ext cx="1773023" cy="644293"/>
          </a:xfrm>
          <a:custGeom>
            <a:avLst/>
            <a:gdLst>
              <a:gd name="T0" fmla="*/ 1232 w 1232"/>
              <a:gd name="T1" fmla="*/ 0 h 485"/>
              <a:gd name="T2" fmla="*/ 0 w 1232"/>
              <a:gd name="T3" fmla="*/ 0 h 485"/>
              <a:gd name="T4" fmla="*/ 616 w 1232"/>
              <a:gd name="T5" fmla="*/ 485 h 485"/>
              <a:gd name="T6" fmla="*/ 1232 w 1232"/>
              <a:gd name="T7" fmla="*/ 0 h 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2" h="485">
                <a:moveTo>
                  <a:pt x="1232" y="0"/>
                </a:moveTo>
                <a:lnTo>
                  <a:pt x="0" y="0"/>
                </a:lnTo>
                <a:lnTo>
                  <a:pt x="616" y="485"/>
                </a:lnTo>
                <a:lnTo>
                  <a:pt x="1232" y="0"/>
                </a:lnTo>
                <a:close/>
              </a:path>
            </a:pathLst>
          </a:custGeom>
          <a:solidFill>
            <a:srgbClr val="93939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5" name="Freeform 5"/>
          <p:cNvSpPr>
            <a:spLocks/>
          </p:cNvSpPr>
          <p:nvPr userDrawn="1"/>
        </p:nvSpPr>
        <p:spPr bwMode="auto">
          <a:xfrm flipH="1">
            <a:off x="2" y="-1588"/>
            <a:ext cx="3467025" cy="2518877"/>
          </a:xfrm>
          <a:custGeom>
            <a:avLst/>
            <a:gdLst>
              <a:gd name="T0" fmla="*/ 2428 w 2428"/>
              <a:gd name="T1" fmla="*/ 0 h 1911"/>
              <a:gd name="T2" fmla="*/ 0 w 2428"/>
              <a:gd name="T3" fmla="*/ 0 h 1911"/>
              <a:gd name="T4" fmla="*/ 2428 w 2428"/>
              <a:gd name="T5" fmla="*/ 1911 h 1911"/>
              <a:gd name="T6" fmla="*/ 2428 w 2428"/>
              <a:gd name="T7" fmla="*/ 0 h 1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28" h="1911">
                <a:moveTo>
                  <a:pt x="2428" y="0"/>
                </a:moveTo>
                <a:lnTo>
                  <a:pt x="0" y="0"/>
                </a:lnTo>
                <a:lnTo>
                  <a:pt x="2428" y="1911"/>
                </a:lnTo>
                <a:lnTo>
                  <a:pt x="2428" y="0"/>
                </a:lnTo>
                <a:close/>
              </a:path>
            </a:pathLst>
          </a:custGeom>
          <a:solidFill>
            <a:srgbClr val="00113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9" name="텍스트 개체 틀 9"/>
          <p:cNvSpPr>
            <a:spLocks noGrp="1"/>
          </p:cNvSpPr>
          <p:nvPr>
            <p:ph type="body" sz="quarter" idx="13" hasCustomPrompt="1"/>
          </p:nvPr>
        </p:nvSpPr>
        <p:spPr>
          <a:xfrm>
            <a:off x="5666893" y="3525819"/>
            <a:ext cx="3656257" cy="73866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4800" b="1" baseline="0">
                <a:solidFill>
                  <a:schemeClr val="bg1"/>
                </a:solidFill>
                <a:effectLst/>
                <a:latin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959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자유형: 도형 62">
            <a:extLst>
              <a:ext uri="{FF2B5EF4-FFF2-40B4-BE49-F238E27FC236}">
                <a16:creationId xmlns:a16="http://schemas.microsoft.com/office/drawing/2014/main" id="{5D27DA05-A11E-4608-A7AD-4746FE17B7F0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2389341" y="0"/>
            <a:ext cx="7522723" cy="3861571"/>
          </a:xfrm>
          <a:custGeom>
            <a:avLst/>
            <a:gdLst>
              <a:gd name="connsiteX0" fmla="*/ 0 w 4505536"/>
              <a:gd name="connsiteY0" fmla="*/ 0 h 2386453"/>
              <a:gd name="connsiteX1" fmla="*/ 213 w 4505536"/>
              <a:gd name="connsiteY1" fmla="*/ 0 h 2386453"/>
              <a:gd name="connsiteX2" fmla="*/ 135885 w 4505536"/>
              <a:gd name="connsiteY2" fmla="*/ 131550 h 2386453"/>
              <a:gd name="connsiteX3" fmla="*/ 2337148 w 4505536"/>
              <a:gd name="connsiteY3" fmla="*/ 1553160 h 2386453"/>
              <a:gd name="connsiteX4" fmla="*/ 4340878 w 4505536"/>
              <a:gd name="connsiteY4" fmla="*/ 2344707 h 2386453"/>
              <a:gd name="connsiteX5" fmla="*/ 4505536 w 4505536"/>
              <a:gd name="connsiteY5" fmla="*/ 2386453 h 2386453"/>
              <a:gd name="connsiteX6" fmla="*/ 0 w 4505536"/>
              <a:gd name="connsiteY6" fmla="*/ 2386453 h 238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5536" h="2386453">
                <a:moveTo>
                  <a:pt x="0" y="0"/>
                </a:moveTo>
                <a:lnTo>
                  <a:pt x="213" y="0"/>
                </a:lnTo>
                <a:lnTo>
                  <a:pt x="135885" y="131550"/>
                </a:lnTo>
                <a:cubicBezTo>
                  <a:pt x="610504" y="567177"/>
                  <a:pt x="1398480" y="1086295"/>
                  <a:pt x="2337148" y="1553160"/>
                </a:cubicBezTo>
                <a:cubicBezTo>
                  <a:pt x="3067223" y="1916277"/>
                  <a:pt x="3767503" y="2187625"/>
                  <a:pt x="4340878" y="2344707"/>
                </a:cubicBezTo>
                <a:lnTo>
                  <a:pt x="4505536" y="2386453"/>
                </a:lnTo>
                <a:lnTo>
                  <a:pt x="0" y="2386453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072A98-D457-4701-A641-49CFE6A1E08F}"/>
              </a:ext>
            </a:extLst>
          </p:cNvPr>
          <p:cNvSpPr>
            <a:spLocks/>
          </p:cNvSpPr>
          <p:nvPr userDrawn="1"/>
        </p:nvSpPr>
        <p:spPr bwMode="auto">
          <a:xfrm>
            <a:off x="0" y="-12905"/>
            <a:ext cx="9905998" cy="686286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C1A3350E-8DE4-4E8E-99F0-F1EB3BF8CB68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2383275" y="-12903"/>
            <a:ext cx="7522723" cy="3861571"/>
          </a:xfrm>
          <a:custGeom>
            <a:avLst/>
            <a:gdLst>
              <a:gd name="connsiteX0" fmla="*/ 0 w 4505536"/>
              <a:gd name="connsiteY0" fmla="*/ 0 h 2386453"/>
              <a:gd name="connsiteX1" fmla="*/ 213 w 4505536"/>
              <a:gd name="connsiteY1" fmla="*/ 0 h 2386453"/>
              <a:gd name="connsiteX2" fmla="*/ 135885 w 4505536"/>
              <a:gd name="connsiteY2" fmla="*/ 131550 h 2386453"/>
              <a:gd name="connsiteX3" fmla="*/ 2337148 w 4505536"/>
              <a:gd name="connsiteY3" fmla="*/ 1553160 h 2386453"/>
              <a:gd name="connsiteX4" fmla="*/ 4340878 w 4505536"/>
              <a:gd name="connsiteY4" fmla="*/ 2344707 h 2386453"/>
              <a:gd name="connsiteX5" fmla="*/ 4505536 w 4505536"/>
              <a:gd name="connsiteY5" fmla="*/ 2386453 h 2386453"/>
              <a:gd name="connsiteX6" fmla="*/ 0 w 4505536"/>
              <a:gd name="connsiteY6" fmla="*/ 2386453 h 238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5536" h="2386453">
                <a:moveTo>
                  <a:pt x="0" y="0"/>
                </a:moveTo>
                <a:lnTo>
                  <a:pt x="213" y="0"/>
                </a:lnTo>
                <a:lnTo>
                  <a:pt x="135885" y="131550"/>
                </a:lnTo>
                <a:cubicBezTo>
                  <a:pt x="610504" y="567177"/>
                  <a:pt x="1398480" y="1086295"/>
                  <a:pt x="2337148" y="1553160"/>
                </a:cubicBezTo>
                <a:cubicBezTo>
                  <a:pt x="3067223" y="1916277"/>
                  <a:pt x="3767503" y="2187625"/>
                  <a:pt x="4340878" y="2344707"/>
                </a:cubicBezTo>
                <a:lnTo>
                  <a:pt x="4505536" y="2386453"/>
                </a:lnTo>
                <a:lnTo>
                  <a:pt x="0" y="2386453"/>
                </a:lnTo>
                <a:close/>
              </a:path>
            </a:pathLst>
          </a:custGeom>
          <a:solidFill>
            <a:srgbClr val="00113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1800" dirty="0">
              <a:latin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7EEE2B-34CC-498D-9D8C-2B066305A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"/>
          <a:stretch/>
        </p:blipFill>
        <p:spPr>
          <a:xfrm>
            <a:off x="0" y="5468789"/>
            <a:ext cx="5902036" cy="1381171"/>
          </a:xfrm>
          <a:prstGeom prst="rect">
            <a:avLst/>
          </a:prstGeom>
        </p:spPr>
      </p:pic>
      <p:sp>
        <p:nvSpPr>
          <p:cNvPr id="3" name="텍스트 개체 틀 9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85306" y="3647618"/>
            <a:ext cx="4125681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400" b="1" baseline="0">
                <a:solidFill>
                  <a:schemeClr val="bg1"/>
                </a:solidFill>
                <a:effectLst/>
                <a:latin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 dirty="0"/>
              <a:t>PRESENTATION</a:t>
            </a:r>
            <a:endParaRPr lang="ko-KR" altLang="en-US" dirty="0"/>
          </a:p>
        </p:txBody>
      </p: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4658D5DD-1CF8-4CA8-9E91-CAED120CD956}"/>
              </a:ext>
            </a:extLst>
          </p:cNvPr>
          <p:cNvSpPr>
            <a:spLocks/>
          </p:cNvSpPr>
          <p:nvPr userDrawn="1"/>
        </p:nvSpPr>
        <p:spPr bwMode="auto">
          <a:xfrm rot="11756888">
            <a:off x="-211071" y="6005494"/>
            <a:ext cx="4737844" cy="980225"/>
          </a:xfrm>
          <a:custGeom>
            <a:avLst/>
            <a:gdLst>
              <a:gd name="connsiteX0" fmla="*/ 4737844 w 4737844"/>
              <a:gd name="connsiteY0" fmla="*/ 926458 h 980225"/>
              <a:gd name="connsiteX1" fmla="*/ 4578464 w 4737844"/>
              <a:gd name="connsiteY1" fmla="*/ 937265 h 980225"/>
              <a:gd name="connsiteX2" fmla="*/ 3031943 w 4737844"/>
              <a:gd name="connsiteY2" fmla="*/ 980223 h 980225"/>
              <a:gd name="connsiteX3" fmla="*/ 214837 w 4737844"/>
              <a:gd name="connsiteY3" fmla="*/ 831601 h 980225"/>
              <a:gd name="connsiteX4" fmla="*/ 0 w 4737844"/>
              <a:gd name="connsiteY4" fmla="*/ 804963 h 980225"/>
              <a:gd name="connsiteX5" fmla="*/ 124339 w 4737844"/>
              <a:gd name="connsiteY5" fmla="*/ 754638 h 980225"/>
              <a:gd name="connsiteX6" fmla="*/ 2765095 w 4737844"/>
              <a:gd name="connsiteY6" fmla="*/ 0 h 980225"/>
              <a:gd name="connsiteX7" fmla="*/ 3001548 w 4737844"/>
              <a:gd name="connsiteY7" fmla="*/ 89437 h 980225"/>
              <a:gd name="connsiteX8" fmla="*/ 4311148 w 4737844"/>
              <a:gd name="connsiteY8" fmla="*/ 532923 h 980225"/>
              <a:gd name="connsiteX9" fmla="*/ 4654250 w 4737844"/>
              <a:gd name="connsiteY9" fmla="*/ 633933 h 9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37844" h="980225">
                <a:moveTo>
                  <a:pt x="4737844" y="926458"/>
                </a:moveTo>
                <a:lnTo>
                  <a:pt x="4578464" y="937265"/>
                </a:lnTo>
                <a:cubicBezTo>
                  <a:pt x="4088212" y="965496"/>
                  <a:pt x="3569824" y="980450"/>
                  <a:pt x="3031943" y="980223"/>
                </a:cubicBezTo>
                <a:cubicBezTo>
                  <a:pt x="2023417" y="979799"/>
                  <a:pt x="1063845" y="926057"/>
                  <a:pt x="214837" y="831601"/>
                </a:cubicBezTo>
                <a:lnTo>
                  <a:pt x="0" y="804963"/>
                </a:lnTo>
                <a:lnTo>
                  <a:pt x="124339" y="754638"/>
                </a:lnTo>
                <a:lnTo>
                  <a:pt x="2765095" y="0"/>
                </a:lnTo>
                <a:lnTo>
                  <a:pt x="3001548" y="89437"/>
                </a:lnTo>
                <a:cubicBezTo>
                  <a:pt x="3450416" y="254717"/>
                  <a:pt x="3889694" y="403042"/>
                  <a:pt x="4311148" y="532923"/>
                </a:cubicBezTo>
                <a:lnTo>
                  <a:pt x="4654250" y="633933"/>
                </a:lnTo>
                <a:close/>
              </a:path>
            </a:pathLst>
          </a:custGeom>
          <a:solidFill>
            <a:schemeClr val="bg1">
              <a:lumMod val="65000"/>
              <a:alpha val="36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1800" dirty="0">
              <a:latin typeface="맑은 고딕" panose="020B0503020000020004" pitchFamily="50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8FE0D58-90E3-4AAE-939C-634ACA06CC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668"/>
          <a:stretch/>
        </p:blipFill>
        <p:spPr>
          <a:xfrm>
            <a:off x="8727189" y="386575"/>
            <a:ext cx="623983" cy="6857999"/>
          </a:xfrm>
          <a:custGeom>
            <a:avLst/>
            <a:gdLst>
              <a:gd name="connsiteX0" fmla="*/ 623983 w 623983"/>
              <a:gd name="connsiteY0" fmla="*/ 0 h 6857999"/>
              <a:gd name="connsiteX1" fmla="*/ 623983 w 623983"/>
              <a:gd name="connsiteY1" fmla="*/ 6857999 h 6857999"/>
              <a:gd name="connsiteX2" fmla="*/ 614597 w 623983"/>
              <a:gd name="connsiteY2" fmla="*/ 6857999 h 6857999"/>
              <a:gd name="connsiteX3" fmla="*/ 614597 w 623983"/>
              <a:gd name="connsiteY3" fmla="*/ 1688698 h 6857999"/>
              <a:gd name="connsiteX4" fmla="*/ 0 w 623983"/>
              <a:gd name="connsiteY4" fmla="*/ 1688698 h 6857999"/>
              <a:gd name="connsiteX5" fmla="*/ 1175 w 623983"/>
              <a:gd name="connsiteY5" fmla="*/ 1686152 h 6857999"/>
              <a:gd name="connsiteX6" fmla="*/ 551813 w 623983"/>
              <a:gd name="connsiteY6" fmla="*/ 250630 h 6857999"/>
              <a:gd name="connsiteX7" fmla="*/ 623983 w 623983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3983" h="6857999">
                <a:moveTo>
                  <a:pt x="623983" y="0"/>
                </a:moveTo>
                <a:lnTo>
                  <a:pt x="623983" y="6857999"/>
                </a:lnTo>
                <a:lnTo>
                  <a:pt x="614597" y="6857999"/>
                </a:lnTo>
                <a:lnTo>
                  <a:pt x="614597" y="1688698"/>
                </a:lnTo>
                <a:lnTo>
                  <a:pt x="0" y="1688698"/>
                </a:lnTo>
                <a:lnTo>
                  <a:pt x="1175" y="1686152"/>
                </a:lnTo>
                <a:cubicBezTo>
                  <a:pt x="230865" y="1171671"/>
                  <a:pt x="416032" y="687005"/>
                  <a:pt x="551813" y="250630"/>
                </a:cubicBezTo>
                <a:lnTo>
                  <a:pt x="623983" y="0"/>
                </a:lnTo>
                <a:close/>
              </a:path>
            </a:pathLst>
          </a:custGeom>
        </p:spPr>
      </p:pic>
      <p:pic>
        <p:nvPicPr>
          <p:cNvPr id="67" name="그림 66" descr="텍스트이(가) 표시된 사진&#10;&#10;자동 생성된 설명">
            <a:extLst>
              <a:ext uri="{FF2B5EF4-FFF2-40B4-BE49-F238E27FC236}">
                <a16:creationId xmlns:a16="http://schemas.microsoft.com/office/drawing/2014/main" id="{CA094CB2-36BC-4F62-99CC-E8644E9C4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490106">
            <a:off x="2395475" y="-245751"/>
            <a:ext cx="3141855" cy="1143181"/>
          </a:xfrm>
          <a:custGeom>
            <a:avLst/>
            <a:gdLst>
              <a:gd name="connsiteX0" fmla="*/ 0 w 3286911"/>
              <a:gd name="connsiteY0" fmla="*/ 471803 h 1143181"/>
              <a:gd name="connsiteX1" fmla="*/ 3286911 w 3286911"/>
              <a:gd name="connsiteY1" fmla="*/ 0 h 1143181"/>
              <a:gd name="connsiteX2" fmla="*/ 3286911 w 3286911"/>
              <a:gd name="connsiteY2" fmla="*/ 1143181 h 1143181"/>
              <a:gd name="connsiteX3" fmla="*/ 2823532 w 3286911"/>
              <a:gd name="connsiteY3" fmla="*/ 1012213 h 1143181"/>
              <a:gd name="connsiteX4" fmla="*/ 281732 w 3286911"/>
              <a:gd name="connsiteY4" fmla="*/ 499605 h 1143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6911" h="1143181">
                <a:moveTo>
                  <a:pt x="0" y="471803"/>
                </a:moveTo>
                <a:lnTo>
                  <a:pt x="3286911" y="0"/>
                </a:lnTo>
                <a:lnTo>
                  <a:pt x="3286911" y="1143181"/>
                </a:lnTo>
                <a:lnTo>
                  <a:pt x="2823532" y="1012213"/>
                </a:lnTo>
                <a:cubicBezTo>
                  <a:pt x="1890104" y="758984"/>
                  <a:pt x="1019541" y="586288"/>
                  <a:pt x="281732" y="499605"/>
                </a:cubicBezTo>
                <a:close/>
              </a:path>
            </a:pathLst>
          </a:custGeom>
        </p:spPr>
      </p:pic>
      <p:pic>
        <p:nvPicPr>
          <p:cNvPr id="59" name="그림 58" descr="텍스트이(가) 표시된 사진&#10;&#10;자동 생성된 설명">
            <a:extLst>
              <a:ext uri="{FF2B5EF4-FFF2-40B4-BE49-F238E27FC236}">
                <a16:creationId xmlns:a16="http://schemas.microsoft.com/office/drawing/2014/main" id="{444E6604-890A-4B96-81A6-5DEF5AE5E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802050">
            <a:off x="4970580" y="-549406"/>
            <a:ext cx="4875971" cy="3434465"/>
          </a:xfrm>
          <a:custGeom>
            <a:avLst/>
            <a:gdLst>
              <a:gd name="connsiteX0" fmla="*/ 0 w 4875971"/>
              <a:gd name="connsiteY0" fmla="*/ 1096530 h 3434465"/>
              <a:gd name="connsiteX1" fmla="*/ 4614361 w 4875971"/>
              <a:gd name="connsiteY1" fmla="*/ 0 h 3434465"/>
              <a:gd name="connsiteX2" fmla="*/ 4875971 w 4875971"/>
              <a:gd name="connsiteY2" fmla="*/ 1100086 h 3434465"/>
              <a:gd name="connsiteX3" fmla="*/ 4875971 w 4875971"/>
              <a:gd name="connsiteY3" fmla="*/ 3434465 h 3434465"/>
              <a:gd name="connsiteX4" fmla="*/ 4863333 w 4875971"/>
              <a:gd name="connsiteY4" fmla="*/ 3428088 h 3434465"/>
              <a:gd name="connsiteX5" fmla="*/ 1106311 w 4875971"/>
              <a:gd name="connsiteY5" fmla="*/ 2202835 h 3434465"/>
              <a:gd name="connsiteX6" fmla="*/ 129249 w 4875971"/>
              <a:gd name="connsiteY6" fmla="*/ 2014837 h 3434465"/>
              <a:gd name="connsiteX7" fmla="*/ 0 w 4875971"/>
              <a:gd name="connsiteY7" fmla="*/ 1994555 h 3434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5971" h="3434465">
                <a:moveTo>
                  <a:pt x="0" y="1096530"/>
                </a:moveTo>
                <a:lnTo>
                  <a:pt x="4614361" y="0"/>
                </a:lnTo>
                <a:lnTo>
                  <a:pt x="4875971" y="1100086"/>
                </a:lnTo>
                <a:lnTo>
                  <a:pt x="4875971" y="3434465"/>
                </a:lnTo>
                <a:lnTo>
                  <a:pt x="4863333" y="3428088"/>
                </a:lnTo>
                <a:cubicBezTo>
                  <a:pt x="3923224" y="2968650"/>
                  <a:pt x="2599845" y="2525023"/>
                  <a:pt x="1106311" y="2202835"/>
                </a:cubicBezTo>
                <a:cubicBezTo>
                  <a:pt x="774415" y="2131239"/>
                  <a:pt x="447862" y="2068603"/>
                  <a:pt x="129249" y="2014837"/>
                </a:cubicBezTo>
                <a:lnTo>
                  <a:pt x="0" y="1994555"/>
                </a:lnTo>
                <a:close/>
              </a:path>
            </a:pathLst>
          </a:custGeom>
        </p:spPr>
      </p:pic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038F7FB5-8584-443E-A2BB-9160F79DEA46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4413771" y="1359708"/>
            <a:ext cx="6870905" cy="4125680"/>
          </a:xfrm>
          <a:custGeom>
            <a:avLst/>
            <a:gdLst>
              <a:gd name="connsiteX0" fmla="*/ 0 w 4505536"/>
              <a:gd name="connsiteY0" fmla="*/ 0 h 2386453"/>
              <a:gd name="connsiteX1" fmla="*/ 213 w 4505536"/>
              <a:gd name="connsiteY1" fmla="*/ 0 h 2386453"/>
              <a:gd name="connsiteX2" fmla="*/ 135885 w 4505536"/>
              <a:gd name="connsiteY2" fmla="*/ 131550 h 2386453"/>
              <a:gd name="connsiteX3" fmla="*/ 2337148 w 4505536"/>
              <a:gd name="connsiteY3" fmla="*/ 1553160 h 2386453"/>
              <a:gd name="connsiteX4" fmla="*/ 4340878 w 4505536"/>
              <a:gd name="connsiteY4" fmla="*/ 2344707 h 2386453"/>
              <a:gd name="connsiteX5" fmla="*/ 4505536 w 4505536"/>
              <a:gd name="connsiteY5" fmla="*/ 2386453 h 2386453"/>
              <a:gd name="connsiteX6" fmla="*/ 0 w 4505536"/>
              <a:gd name="connsiteY6" fmla="*/ 2386453 h 238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5536" h="2386453">
                <a:moveTo>
                  <a:pt x="0" y="0"/>
                </a:moveTo>
                <a:lnTo>
                  <a:pt x="213" y="0"/>
                </a:lnTo>
                <a:lnTo>
                  <a:pt x="135885" y="131550"/>
                </a:lnTo>
                <a:cubicBezTo>
                  <a:pt x="610504" y="567177"/>
                  <a:pt x="1398480" y="1086295"/>
                  <a:pt x="2337148" y="1553160"/>
                </a:cubicBezTo>
                <a:cubicBezTo>
                  <a:pt x="3067223" y="1916277"/>
                  <a:pt x="3767503" y="2187625"/>
                  <a:pt x="4340878" y="2344707"/>
                </a:cubicBezTo>
                <a:lnTo>
                  <a:pt x="4505536" y="2386453"/>
                </a:lnTo>
                <a:lnTo>
                  <a:pt x="0" y="2386453"/>
                </a:lnTo>
                <a:close/>
              </a:path>
            </a:pathLst>
          </a:custGeom>
          <a:solidFill>
            <a:srgbClr val="1F242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1800" dirty="0">
              <a:latin typeface="맑은 고딕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327F441-E042-495B-9299-AD600D3C9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6383" y="1666535"/>
            <a:ext cx="4116293" cy="5169301"/>
          </a:xfrm>
          <a:custGeom>
            <a:avLst/>
            <a:gdLst>
              <a:gd name="connsiteX0" fmla="*/ 3501696 w 4116293"/>
              <a:gd name="connsiteY0" fmla="*/ 0 h 5169301"/>
              <a:gd name="connsiteX1" fmla="*/ 4116293 w 4116293"/>
              <a:gd name="connsiteY1" fmla="*/ 0 h 5169301"/>
              <a:gd name="connsiteX2" fmla="*/ 4116293 w 4116293"/>
              <a:gd name="connsiteY2" fmla="*/ 5169301 h 5169301"/>
              <a:gd name="connsiteX3" fmla="*/ 0 w 4116293"/>
              <a:gd name="connsiteY3" fmla="*/ 5169301 h 5169301"/>
              <a:gd name="connsiteX4" fmla="*/ 0 w 4116293"/>
              <a:gd name="connsiteY4" fmla="*/ 5168977 h 5169301"/>
              <a:gd name="connsiteX5" fmla="*/ 227422 w 4116293"/>
              <a:gd name="connsiteY5" fmla="*/ 4962466 h 5169301"/>
              <a:gd name="connsiteX6" fmla="*/ 2685090 w 4116293"/>
              <a:gd name="connsiteY6" fmla="*/ 1611864 h 5169301"/>
              <a:gd name="connsiteX7" fmla="*/ 3322331 w 4116293"/>
              <a:gd name="connsiteY7" fmla="*/ 388616 h 5169301"/>
              <a:gd name="connsiteX8" fmla="*/ 3501696 w 4116293"/>
              <a:gd name="connsiteY8" fmla="*/ 0 h 5169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6293" h="5169301">
                <a:moveTo>
                  <a:pt x="3501696" y="0"/>
                </a:moveTo>
                <a:lnTo>
                  <a:pt x="4116293" y="0"/>
                </a:lnTo>
                <a:lnTo>
                  <a:pt x="4116293" y="5169301"/>
                </a:lnTo>
                <a:lnTo>
                  <a:pt x="0" y="5169301"/>
                </a:lnTo>
                <a:lnTo>
                  <a:pt x="0" y="5168977"/>
                </a:lnTo>
                <a:lnTo>
                  <a:pt x="227422" y="4962466"/>
                </a:lnTo>
                <a:cubicBezTo>
                  <a:pt x="980531" y="4240036"/>
                  <a:pt x="1877977" y="3040636"/>
                  <a:pt x="2685090" y="1611864"/>
                </a:cubicBezTo>
                <a:cubicBezTo>
                  <a:pt x="2920498" y="1195139"/>
                  <a:pt x="3133595" y="784792"/>
                  <a:pt x="3322331" y="388616"/>
                </a:cubicBezTo>
                <a:lnTo>
                  <a:pt x="3501696" y="0"/>
                </a:lnTo>
                <a:close/>
              </a:path>
            </a:pathLst>
          </a:cu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D662B9F7-DFC0-4EC6-839B-96A9DF98EC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82763" y="8039"/>
            <a:ext cx="619913" cy="1658496"/>
          </a:xfrm>
          <a:custGeom>
            <a:avLst/>
            <a:gdLst>
              <a:gd name="connsiteX0" fmla="*/ 613883 w 619913"/>
              <a:gd name="connsiteY0" fmla="*/ 0 h 1658496"/>
              <a:gd name="connsiteX1" fmla="*/ 619913 w 619913"/>
              <a:gd name="connsiteY1" fmla="*/ 0 h 1658496"/>
              <a:gd name="connsiteX2" fmla="*/ 619913 w 619913"/>
              <a:gd name="connsiteY2" fmla="*/ 1658496 h 1658496"/>
              <a:gd name="connsiteX3" fmla="*/ 0 w 619913"/>
              <a:gd name="connsiteY3" fmla="*/ 1658496 h 1658496"/>
              <a:gd name="connsiteX4" fmla="*/ 160949 w 619913"/>
              <a:gd name="connsiteY4" fmla="*/ 1285228 h 1658496"/>
              <a:gd name="connsiteX5" fmla="*/ 547743 w 619913"/>
              <a:gd name="connsiteY5" fmla="*/ 229688 h 165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913" h="1658496">
                <a:moveTo>
                  <a:pt x="613883" y="0"/>
                </a:moveTo>
                <a:lnTo>
                  <a:pt x="619913" y="0"/>
                </a:lnTo>
                <a:lnTo>
                  <a:pt x="619913" y="1658496"/>
                </a:lnTo>
                <a:lnTo>
                  <a:pt x="0" y="1658496"/>
                </a:lnTo>
                <a:lnTo>
                  <a:pt x="160949" y="1285228"/>
                </a:lnTo>
                <a:cubicBezTo>
                  <a:pt x="316292" y="911414"/>
                  <a:pt x="445907" y="556969"/>
                  <a:pt x="547743" y="22968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8769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5040739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5" name="개체 4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이등변 삼각형 12"/>
          <p:cNvSpPr/>
          <p:nvPr userDrawn="1"/>
        </p:nvSpPr>
        <p:spPr bwMode="auto">
          <a:xfrm rot="5400000">
            <a:off x="3904375" y="-3904373"/>
            <a:ext cx="2097249" cy="9906000"/>
          </a:xfrm>
          <a:prstGeom prst="triangle">
            <a:avLst>
              <a:gd name="adj" fmla="val 0"/>
            </a:avLst>
          </a:prstGeom>
          <a:pattFill prst="dkVert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88900" marR="0" indent="-88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ko-KR" altLang="en-US" b="0" i="0" u="none" strike="noStrike" kern="0" cap="none" spc="0" normalizeH="0" baseline="0" noProof="0" dirty="0" err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14" name="직선 연결선 13"/>
          <p:cNvCxnSpPr/>
          <p:nvPr userDrawn="1"/>
        </p:nvCxnSpPr>
        <p:spPr bwMode="auto">
          <a:xfrm>
            <a:off x="659090" y="1943544"/>
            <a:ext cx="8964000" cy="0"/>
          </a:xfrm>
          <a:prstGeom prst="line">
            <a:avLst/>
          </a:prstGeom>
          <a:solidFill>
            <a:srgbClr val="970F43"/>
          </a:solidFill>
          <a:ln w="285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직선 연결선 17"/>
          <p:cNvCxnSpPr/>
          <p:nvPr userDrawn="1"/>
        </p:nvCxnSpPr>
        <p:spPr bwMode="auto">
          <a:xfrm flipH="1" flipV="1">
            <a:off x="6943872" y="628113"/>
            <a:ext cx="2700000" cy="1"/>
          </a:xfrm>
          <a:prstGeom prst="line">
            <a:avLst/>
          </a:prstGeom>
          <a:solidFill>
            <a:srgbClr val="970F43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텍스트 개체 틀 2"/>
          <p:cNvSpPr>
            <a:spLocks noGrp="1"/>
          </p:cNvSpPr>
          <p:nvPr>
            <p:ph type="body" idx="10"/>
          </p:nvPr>
        </p:nvSpPr>
        <p:spPr>
          <a:xfrm>
            <a:off x="704528" y="2079761"/>
            <a:ext cx="8918562" cy="4130910"/>
          </a:xfrm>
        </p:spPr>
        <p:txBody>
          <a:bodyPr lIns="144000" tIns="144000" bIns="144000">
            <a:noAutofit/>
          </a:bodyPr>
          <a:lstStyle>
            <a:lvl1pPr marL="0" indent="0" algn="l">
              <a:lnSpc>
                <a:spcPct val="150000"/>
              </a:lnSpc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3736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0392624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think-cell Slide" r:id="rId9" imgW="360" imgH="360" progId="TCLayout.ActiveDocument.1">
                  <p:embed/>
                </p:oleObj>
              </mc:Choice>
              <mc:Fallback>
                <p:oleObj name="think-cell Slide" r:id="rId9" imgW="360" imgH="360" progId="TCLayout.ActiveDocument.1">
                  <p:embed/>
                  <p:pic>
                    <p:nvPicPr>
                      <p:cNvPr id="2" name="개체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173621"/>
            <a:ext cx="9205449" cy="3935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3075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728700"/>
            <a:ext cx="8928100" cy="900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18993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36" r:id="rId3"/>
    <p:sldLayoutId id="2147483737" r:id="rId4"/>
    <p:sldLayoutId id="2147483738" r:id="rId5"/>
  </p:sldLayoutIdLst>
  <p:hf hdr="0" ftr="0" dt="0"/>
  <p:txStyles>
    <p:titleStyle>
      <a:lvl1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lnSpc>
          <a:spcPct val="110000"/>
        </a:lnSpc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6pPr>
      <a:lvl7pPr marL="914400" algn="l" rtl="0" fontAlgn="base">
        <a:lnSpc>
          <a:spcPct val="110000"/>
        </a:lnSpc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7pPr>
      <a:lvl8pPr marL="1371600" algn="l" rtl="0" fontAlgn="base">
        <a:lnSpc>
          <a:spcPct val="110000"/>
        </a:lnSpc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8pPr>
      <a:lvl9pPr marL="1828800" algn="l" rtl="0" fontAlgn="base">
        <a:lnSpc>
          <a:spcPct val="110000"/>
        </a:lnSpc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0" indent="0" algn="just" rtl="0" eaLnBrk="1" fontAlgn="base" hangingPunct="1">
        <a:spcBef>
          <a:spcPct val="0"/>
        </a:spcBef>
        <a:spcAft>
          <a:spcPct val="30000"/>
        </a:spcAft>
        <a:defRPr kumimoji="1" sz="1400" b="1">
          <a:solidFill>
            <a:schemeClr val="tx1"/>
          </a:solidFill>
          <a:latin typeface="+mn-lt"/>
          <a:ea typeface="+mn-ea"/>
          <a:cs typeface="+mn-cs"/>
        </a:defRPr>
      </a:lvl1pPr>
      <a:lvl2pPr marL="227013" indent="-225425" algn="just" rtl="0" eaLnBrk="1" fontAlgn="ctr" hangingPunct="1">
        <a:spcBef>
          <a:spcPct val="0"/>
        </a:spcBef>
        <a:spcAft>
          <a:spcPct val="40000"/>
        </a:spcAft>
        <a:buClr>
          <a:schemeClr val="tx1"/>
        </a:buClr>
        <a:buFont typeface="Wingdings" pitchFamily="2" charset="2"/>
        <a:buChar char="q"/>
        <a:defRPr kumimoji="1" sz="1400" b="1">
          <a:solidFill>
            <a:schemeClr val="tx1"/>
          </a:solidFill>
          <a:latin typeface="+mn-lt"/>
          <a:ea typeface="+mn-ea"/>
        </a:defRPr>
      </a:lvl2pPr>
      <a:lvl3pPr marL="406400" indent="-177800" algn="just" rtl="0" eaLnBrk="1" fontAlgn="ctr" hangingPunct="1">
        <a:spcBef>
          <a:spcPct val="0"/>
        </a:spcBef>
        <a:spcAft>
          <a:spcPct val="20000"/>
        </a:spcAft>
        <a:buClr>
          <a:schemeClr val="tx1"/>
        </a:buClr>
        <a:buFont typeface="HY견명조" pitchFamily="18" charset="-127"/>
        <a:buChar char="-"/>
        <a:defRPr kumimoji="1" sz="1200" b="1">
          <a:solidFill>
            <a:schemeClr val="tx1"/>
          </a:solidFill>
          <a:latin typeface="+mn-lt"/>
          <a:ea typeface="+mn-ea"/>
        </a:defRPr>
      </a:lvl3pPr>
      <a:lvl4pPr marL="569913" indent="-161925" algn="just" rtl="0" eaLnBrk="1" fontAlgn="ctr" hangingPunct="1">
        <a:spcBef>
          <a:spcPct val="0"/>
        </a:spcBef>
        <a:spcAft>
          <a:spcPct val="40000"/>
        </a:spcAft>
        <a:buClr>
          <a:schemeClr val="tx1"/>
        </a:buClr>
        <a:buSzPct val="90000"/>
        <a:buChar char="•"/>
        <a:defRPr kumimoji="1" sz="1200" b="1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0" fontAlgn="ctr" hangingPunct="0">
        <a:lnSpc>
          <a:spcPct val="110000"/>
        </a:lnSpc>
        <a:spcBef>
          <a:spcPct val="0"/>
        </a:spcBef>
        <a:spcAft>
          <a:spcPct val="40000"/>
        </a:spcAft>
        <a:buClr>
          <a:srgbClr val="006699"/>
        </a:buClr>
        <a:buSzPct val="90000"/>
        <a:buChar char="•"/>
        <a:defRPr kumimoji="1" sz="1200">
          <a:solidFill>
            <a:srgbClr val="000000"/>
          </a:solidFill>
          <a:latin typeface="산돌고딕 M" pitchFamily="18" charset="-127"/>
          <a:ea typeface="산돌고딕 M" pitchFamily="18" charset="-127"/>
        </a:defRPr>
      </a:lvl5pPr>
      <a:lvl6pPr marL="2514600" indent="-228600" algn="just" rtl="0" fontAlgn="ctr">
        <a:lnSpc>
          <a:spcPct val="110000"/>
        </a:lnSpc>
        <a:spcBef>
          <a:spcPct val="0"/>
        </a:spcBef>
        <a:spcAft>
          <a:spcPct val="40000"/>
        </a:spcAft>
        <a:buClr>
          <a:srgbClr val="006699"/>
        </a:buClr>
        <a:buSzPct val="90000"/>
        <a:buChar char="•"/>
        <a:defRPr kumimoji="1" sz="1200">
          <a:solidFill>
            <a:srgbClr val="000000"/>
          </a:solidFill>
          <a:latin typeface="산돌고딕 M" pitchFamily="18" charset="-127"/>
          <a:ea typeface="산돌고딕 M" pitchFamily="18" charset="-127"/>
        </a:defRPr>
      </a:lvl6pPr>
      <a:lvl7pPr marL="2971800" indent="-228600" algn="just" rtl="0" fontAlgn="ctr">
        <a:lnSpc>
          <a:spcPct val="110000"/>
        </a:lnSpc>
        <a:spcBef>
          <a:spcPct val="0"/>
        </a:spcBef>
        <a:spcAft>
          <a:spcPct val="40000"/>
        </a:spcAft>
        <a:buClr>
          <a:srgbClr val="006699"/>
        </a:buClr>
        <a:buSzPct val="90000"/>
        <a:buChar char="•"/>
        <a:defRPr kumimoji="1" sz="1200">
          <a:solidFill>
            <a:srgbClr val="000000"/>
          </a:solidFill>
          <a:latin typeface="산돌고딕 M" pitchFamily="18" charset="-127"/>
          <a:ea typeface="산돌고딕 M" pitchFamily="18" charset="-127"/>
        </a:defRPr>
      </a:lvl7pPr>
      <a:lvl8pPr marL="3429000" indent="-228600" algn="just" rtl="0" fontAlgn="ctr">
        <a:lnSpc>
          <a:spcPct val="110000"/>
        </a:lnSpc>
        <a:spcBef>
          <a:spcPct val="0"/>
        </a:spcBef>
        <a:spcAft>
          <a:spcPct val="40000"/>
        </a:spcAft>
        <a:buClr>
          <a:srgbClr val="006699"/>
        </a:buClr>
        <a:buSzPct val="90000"/>
        <a:buChar char="•"/>
        <a:defRPr kumimoji="1" sz="1200">
          <a:solidFill>
            <a:srgbClr val="000000"/>
          </a:solidFill>
          <a:latin typeface="산돌고딕 M" pitchFamily="18" charset="-127"/>
          <a:ea typeface="산돌고딕 M" pitchFamily="18" charset="-127"/>
        </a:defRPr>
      </a:lvl8pPr>
      <a:lvl9pPr marL="3886200" indent="-228600" algn="just" rtl="0" fontAlgn="ctr">
        <a:lnSpc>
          <a:spcPct val="110000"/>
        </a:lnSpc>
        <a:spcBef>
          <a:spcPct val="0"/>
        </a:spcBef>
        <a:spcAft>
          <a:spcPct val="40000"/>
        </a:spcAft>
        <a:buClr>
          <a:srgbClr val="006699"/>
        </a:buClr>
        <a:buSzPct val="90000"/>
        <a:buChar char="•"/>
        <a:defRPr kumimoji="1" sz="1200">
          <a:solidFill>
            <a:srgbClr val="000000"/>
          </a:solidFill>
          <a:latin typeface="산돌고딕 M" pitchFamily="18" charset="-127"/>
          <a:ea typeface="산돌고딕 M" pitchFamily="18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94102" y="4217423"/>
            <a:ext cx="153888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cs typeface="Tahoma" pitchFamily="34" charset="0"/>
              </a:rPr>
              <a:t>한국표준협회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 panose="020B0503020000020004" pitchFamily="50" charset="-127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494102" y="2498519"/>
            <a:ext cx="5858976" cy="106182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ko-KR" altLang="en-US" sz="3200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산업</a:t>
            </a:r>
            <a:r>
              <a:rPr lang="en-US" altLang="ko-KR" sz="3200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·</a:t>
            </a:r>
            <a:r>
              <a:rPr lang="ko-KR" altLang="en-US" sz="3200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일자리전환 지원센터 제안발표</a:t>
            </a:r>
          </a:p>
          <a:p>
            <a:pPr>
              <a:spcAft>
                <a:spcPts val="600"/>
              </a:spcAft>
            </a:pPr>
            <a:r>
              <a:rPr lang="en-US" altLang="ko-KR" sz="3200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(</a:t>
            </a:r>
            <a:r>
              <a:rPr lang="ko-KR" altLang="en-US" sz="3200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산업전환 고용안정 업무 전담기관</a:t>
            </a:r>
            <a:r>
              <a:rPr lang="en-US" altLang="ko-KR" sz="3200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rPr>
              <a:t>)</a:t>
            </a:r>
            <a:endParaRPr lang="ko-KR" altLang="en-US" sz="3600" kern="0" spc="-3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94104" y="4777522"/>
            <a:ext cx="141064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Tahoma" pitchFamily="34" charset="0"/>
                <a:cs typeface="Tahoma" pitchFamily="34" charset="0"/>
              </a:rPr>
              <a:t>2026. 02. 06.</a:t>
            </a:r>
          </a:p>
        </p:txBody>
      </p:sp>
      <p:pic>
        <p:nvPicPr>
          <p:cNvPr id="3" name="Picture 5" descr="C:\Users\ptins\OneDrive\바탕 화면\VSDVFSDFE.png">
            <a:extLst>
              <a:ext uri="{FF2B5EF4-FFF2-40B4-BE49-F238E27FC236}">
                <a16:creationId xmlns:a16="http://schemas.microsoft.com/office/drawing/2014/main" id="{38DD0AC7-BF38-FD4B-0A7C-7AC57B0EB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14" y="398572"/>
            <a:ext cx="2034781" cy="606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51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think-cell Slide" r:id="rId5" imgW="360" imgH="360" progId="TCLayout.ActiveDocument.1">
                  <p:embed/>
                </p:oleObj>
              </mc:Choice>
              <mc:Fallback>
                <p:oleObj name="think-cell Slide" r:id="rId5" imgW="360" imgH="360" progId="TCLayout.ActiveDocument.1">
                  <p:embed/>
                  <p:pic>
                    <p:nvPicPr>
                      <p:cNvPr id="8" name="개체 7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F253B31-16E6-7480-448D-60A43D19823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800" dirty="0">
                <a:solidFill>
                  <a:schemeClr val="tx1"/>
                </a:solidFill>
              </a:rPr>
              <a:t>사업계획의 적정성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>
                <a:solidFill>
                  <a:schemeClr val="tx1"/>
                </a:solidFill>
              </a:rPr>
              <a:t>사업 수행 능력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>
                <a:solidFill>
                  <a:schemeClr val="tx1"/>
                </a:solidFill>
              </a:rPr>
              <a:t>고용안정지원 연계</a:t>
            </a:r>
            <a:r>
              <a:rPr lang="en-US" altLang="ko-KR" sz="1800" dirty="0">
                <a:solidFill>
                  <a:schemeClr val="tx1"/>
                </a:solidFill>
              </a:rPr>
              <a:t>·</a:t>
            </a:r>
            <a:r>
              <a:rPr lang="ko-KR" altLang="en-US" sz="1800" dirty="0">
                <a:solidFill>
                  <a:schemeClr val="tx1"/>
                </a:solidFill>
              </a:rPr>
              <a:t>신청 지원계획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>
                <a:solidFill>
                  <a:schemeClr val="tx1"/>
                </a:solidFill>
              </a:rPr>
              <a:t>인적자원 투자계획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800" dirty="0">
                <a:solidFill>
                  <a:schemeClr val="tx1"/>
                </a:solidFill>
              </a:rPr>
              <a:t>유관기관 협업</a:t>
            </a:r>
          </a:p>
        </p:txBody>
      </p:sp>
    </p:spTree>
    <p:extLst>
      <p:ext uri="{BB962C8B-B14F-4D97-AF65-F5344CB8AC3E}">
        <p14:creationId xmlns:p14="http://schemas.microsoft.com/office/powerpoint/2010/main" val="3717983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F834-E409-21D7-5FEE-D8EB8981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사다리꼴 69">
            <a:extLst>
              <a:ext uri="{FF2B5EF4-FFF2-40B4-BE49-F238E27FC236}">
                <a16:creationId xmlns:a16="http://schemas.microsoft.com/office/drawing/2014/main" id="{9CE9566D-C72F-7AFF-80E7-3FE8AA48FAF8}"/>
              </a:ext>
            </a:extLst>
          </p:cNvPr>
          <p:cNvSpPr/>
          <p:nvPr/>
        </p:nvSpPr>
        <p:spPr bwMode="auto">
          <a:xfrm rot="5400000">
            <a:off x="5033104" y="3723274"/>
            <a:ext cx="3114773" cy="744056"/>
          </a:xfrm>
          <a:prstGeom prst="trapezoid">
            <a:avLst>
              <a:gd name="adj" fmla="val 56922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88900" marR="0" indent="-88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8087F7C0-2724-8AEB-440E-B92E4F0D486C}"/>
              </a:ext>
            </a:extLst>
          </p:cNvPr>
          <p:cNvSpPr/>
          <p:nvPr/>
        </p:nvSpPr>
        <p:spPr bwMode="auto">
          <a:xfrm>
            <a:off x="427382" y="2113927"/>
            <a:ext cx="2882348" cy="318450"/>
          </a:xfrm>
          <a:prstGeom prst="round2SameRect">
            <a:avLst/>
          </a:prstGeom>
          <a:solidFill>
            <a:srgbClr val="5D6DBE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글로벌 산업구조 대전환</a:t>
            </a:r>
            <a:r>
              <a:rPr lang="en-US" altLang="ko-KR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(Dual Drivers)</a:t>
            </a:r>
            <a:endParaRPr kumimoji="0" lang="ko-KR" altLang="en-US" sz="1200" b="1" i="0" u="none" strike="noStrike" kern="0" cap="none" spc="-8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3D3A175C-2C2A-5B90-2329-A180D6B9405E}"/>
              </a:ext>
            </a:extLst>
          </p:cNvPr>
          <p:cNvSpPr/>
          <p:nvPr/>
        </p:nvSpPr>
        <p:spPr bwMode="auto">
          <a:xfrm>
            <a:off x="427382" y="2424706"/>
            <a:ext cx="2882348" cy="281321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endParaRPr kumimoji="0" lang="ko-KR" altLang="en-US" sz="12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F642AD-8DFC-724D-BB24-EC0D92773FC1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산업구조 재편 가속화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→ 직접적인 고용 위기→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정의로운 전환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(Just Transition)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원칙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중요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C853A3-CE6B-F9F1-3E1A-CFCAD1403C62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ko-KR" altLang="en-US" sz="1600" i="0" u="none" strike="noStrike" kern="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추진 배경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8839DA-1A08-A69B-73C2-8B03CC972A00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탄소중립과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AI·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자동화 확산으로 산업구조 재편이 가속화되며 직무 전환과 고용 불안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지역경제 위축이 동반되고 있어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변화 초기부터 상담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교육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심리지원을 포함한 체계적 ‘정의로운 전환’ 지원이 필요함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9D0791C-BC15-9964-8D61-6FEBF0C33680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탄소중립과 디지털전환의 이중 변화가 기업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근로자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지역경제로 확산되는 가운데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algn="ctr" defTabSz="914400"/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사후 지원이 아닌 변화 초기부터 상담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교육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심리지원을 포함한 체계적 노동전환이 필요합니다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7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98A422DF-0ED8-65B8-11B1-7BCA35AD41DE}"/>
              </a:ext>
            </a:extLst>
          </p:cNvPr>
          <p:cNvSpPr/>
          <p:nvPr/>
        </p:nvSpPr>
        <p:spPr bwMode="auto">
          <a:xfrm>
            <a:off x="625874" y="2564827"/>
            <a:ext cx="2435088" cy="274819"/>
          </a:xfrm>
          <a:prstGeom prst="round2SameRect">
            <a:avLst>
              <a:gd name="adj1" fmla="val 28534"/>
              <a:gd name="adj2" fmla="val 0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en-US" altLang="ko-KR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Driver 1. </a:t>
            </a:r>
            <a:r>
              <a:rPr lang="ko-KR" altLang="en-US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탄소중립</a:t>
            </a:r>
            <a:endParaRPr kumimoji="0" lang="ko-KR" altLang="en-US" sz="1200" b="1" i="0" u="none" strike="noStrike" kern="0" cap="none" spc="-8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6C7A39B6-C7D6-B448-0117-6CD664FEFBE4}"/>
              </a:ext>
            </a:extLst>
          </p:cNvPr>
          <p:cNvSpPr/>
          <p:nvPr/>
        </p:nvSpPr>
        <p:spPr bwMode="auto">
          <a:xfrm>
            <a:off x="625874" y="2839646"/>
            <a:ext cx="2435088" cy="71402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파리협정 이행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RE100 </a:t>
            </a: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캠페인 확산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2050 </a:t>
            </a: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탄소중립 목표 선언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석탄발전 폐지 등 에너지 전환</a:t>
            </a:r>
            <a:endParaRPr kumimoji="0" lang="ko-KR" altLang="en-US" sz="1050" i="0" u="none" strike="noStrike" kern="0" cap="none" spc="-70" normalizeH="0" noProof="0" dirty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498470E4-0C51-61C6-A278-C69F121199C2}"/>
              </a:ext>
            </a:extLst>
          </p:cNvPr>
          <p:cNvSpPr/>
          <p:nvPr/>
        </p:nvSpPr>
        <p:spPr bwMode="auto">
          <a:xfrm>
            <a:off x="625874" y="3691080"/>
            <a:ext cx="2435088" cy="274819"/>
          </a:xfrm>
          <a:prstGeom prst="round2SameRect">
            <a:avLst>
              <a:gd name="adj1" fmla="val 28533"/>
              <a:gd name="adj2" fmla="val 0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en-US" altLang="ko-KR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Driver 2. </a:t>
            </a:r>
            <a:r>
              <a:rPr lang="ko-KR" altLang="en-US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디지털전환</a:t>
            </a:r>
            <a:endParaRPr kumimoji="0" lang="ko-KR" altLang="en-US" sz="1200" b="1" i="0" u="none" strike="noStrike" kern="0" cap="none" spc="-8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F87A216B-6F33-5686-0025-35343AE6874A}"/>
              </a:ext>
            </a:extLst>
          </p:cNvPr>
          <p:cNvSpPr/>
          <p:nvPr/>
        </p:nvSpPr>
        <p:spPr bwMode="auto">
          <a:xfrm>
            <a:off x="625874" y="3965899"/>
            <a:ext cx="2435088" cy="71402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AI, </a:t>
            </a: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빅데이터 기술 급속 확산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자동화</a:t>
            </a:r>
            <a:r>
              <a:rPr lang="en-US" altLang="ko-KR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지능화 기술 발전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차 산업혁명 가속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 경쟁력을 위한 생산성 혁신</a:t>
            </a:r>
            <a:endParaRPr kumimoji="0" lang="ko-KR" altLang="en-US" sz="1050" i="0" u="none" strike="noStrike" kern="0" cap="none" spc="-70" normalizeH="0" noProof="0" dirty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CACBAEB6-9F87-5D33-ABEF-3E6AC7E2B248}"/>
              </a:ext>
            </a:extLst>
          </p:cNvPr>
          <p:cNvSpPr/>
          <p:nvPr/>
        </p:nvSpPr>
        <p:spPr bwMode="auto">
          <a:xfrm>
            <a:off x="625874" y="4832514"/>
            <a:ext cx="2435088" cy="27481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7EAF8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algn="ctr" defTabSz="914400"/>
            <a:r>
              <a:rPr lang="ko-KR" altLang="en-US" sz="12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산업구조 재편 가속화</a:t>
            </a:r>
            <a:endParaRPr kumimoji="0" lang="ko-KR" altLang="en-US" sz="1200" b="1" i="0" u="none" strike="noStrike" kern="0" cap="none" spc="-100" normalizeH="0" noProof="0" dirty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1905C47B-2893-E6A4-0D69-99E22B39745A}"/>
              </a:ext>
            </a:extLst>
          </p:cNvPr>
          <p:cNvSpPr/>
          <p:nvPr/>
        </p:nvSpPr>
        <p:spPr bwMode="auto">
          <a:xfrm>
            <a:off x="3599289" y="2106255"/>
            <a:ext cx="2658541" cy="318450"/>
          </a:xfrm>
          <a:prstGeom prst="round2SameRect">
            <a:avLst/>
          </a:prstGeom>
          <a:solidFill>
            <a:srgbClr val="596290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2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산업전환의 </a:t>
            </a:r>
            <a:r>
              <a:rPr lang="en-US" altLang="ko-KR" sz="12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z="12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단계 연쇄 영향 </a:t>
            </a:r>
            <a:endParaRPr kumimoji="0" lang="ko-KR" altLang="en-US" sz="12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EEB0B1C-24F5-903A-574F-07C8188E37B2}"/>
              </a:ext>
            </a:extLst>
          </p:cNvPr>
          <p:cNvGrpSpPr/>
          <p:nvPr/>
        </p:nvGrpSpPr>
        <p:grpSpPr>
          <a:xfrm>
            <a:off x="3595685" y="2526793"/>
            <a:ext cx="2661992" cy="573157"/>
            <a:chOff x="3508222" y="2526793"/>
            <a:chExt cx="2779644" cy="573157"/>
          </a:xfrm>
        </p:grpSpPr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id="{68BA968F-9920-23B0-4933-A4D7EF147F55}"/>
                </a:ext>
              </a:extLst>
            </p:cNvPr>
            <p:cNvSpPr/>
            <p:nvPr/>
          </p:nvSpPr>
          <p:spPr bwMode="auto">
            <a:xfrm>
              <a:off x="3508222" y="2527058"/>
              <a:ext cx="752062" cy="57289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1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. </a:t>
              </a:r>
            </a:p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거시 환경 변화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DFEA762E-DC43-BBE6-7D63-DE6519CEEC25}"/>
                </a:ext>
              </a:extLst>
            </p:cNvPr>
            <p:cNvSpPr/>
            <p:nvPr/>
          </p:nvSpPr>
          <p:spPr bwMode="auto">
            <a:xfrm>
              <a:off x="4260284" y="2526793"/>
              <a:ext cx="2027582" cy="57289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탄소중립</a:t>
              </a:r>
              <a:r>
                <a:rPr lang="en-US" altLang="ko-KR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디지털전환으로 </a:t>
              </a:r>
              <a:br>
                <a:rPr lang="en-US" altLang="ko-KR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</a:b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산업 패러다임 전환</a:t>
              </a:r>
              <a:endParaRPr kumimoji="0" lang="ko-KR" altLang="en-US" sz="1050" i="0" u="none" strike="noStrike" kern="0" cap="none" spc="-70" normalizeH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D3F00B6-1557-F491-5F56-EAA477039B9E}"/>
              </a:ext>
            </a:extLst>
          </p:cNvPr>
          <p:cNvGrpSpPr/>
          <p:nvPr/>
        </p:nvGrpSpPr>
        <p:grpSpPr>
          <a:xfrm>
            <a:off x="3595685" y="3291192"/>
            <a:ext cx="2661992" cy="573157"/>
            <a:chOff x="3508222" y="3234312"/>
            <a:chExt cx="2779644" cy="573157"/>
          </a:xfrm>
        </p:grpSpPr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195A6F2F-56BE-9ED1-6321-79900D67388D}"/>
                </a:ext>
              </a:extLst>
            </p:cNvPr>
            <p:cNvSpPr/>
            <p:nvPr/>
          </p:nvSpPr>
          <p:spPr bwMode="auto">
            <a:xfrm>
              <a:off x="3508222" y="3234577"/>
              <a:ext cx="752062" cy="57289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2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. </a:t>
              </a:r>
            </a:p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기업 차원 위기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69D50AE9-61E6-9B6C-39A6-D69E6AE70D8F}"/>
                </a:ext>
              </a:extLst>
            </p:cNvPr>
            <p:cNvSpPr/>
            <p:nvPr/>
          </p:nvSpPr>
          <p:spPr bwMode="auto">
            <a:xfrm>
              <a:off x="4260284" y="3234312"/>
              <a:ext cx="2027582" cy="57289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사업 전환</a:t>
              </a:r>
              <a:r>
                <a:rPr lang="en-US" altLang="ko-KR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사업 축소</a:t>
              </a:r>
              <a:r>
                <a:rPr lang="en-US" altLang="ko-KR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br>
                <a:rPr lang="en-US" altLang="ko-KR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</a:b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조직 재편</a:t>
              </a:r>
              <a:endParaRPr kumimoji="0" lang="ko-KR" altLang="en-US" sz="1050" i="0" u="none" strike="noStrike" kern="0" cap="none" spc="-70" normalizeH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14F56E6-4AF9-6A25-198F-A9E7480ACE8D}"/>
              </a:ext>
            </a:extLst>
          </p:cNvPr>
          <p:cNvGrpSpPr/>
          <p:nvPr/>
        </p:nvGrpSpPr>
        <p:grpSpPr>
          <a:xfrm>
            <a:off x="3595685" y="4055591"/>
            <a:ext cx="2661992" cy="738633"/>
            <a:chOff x="3508222" y="3978011"/>
            <a:chExt cx="2779644" cy="738633"/>
          </a:xfrm>
        </p:grpSpPr>
        <p:sp>
          <p:nvSpPr>
            <p:cNvPr id="20" name="사각형: 둥근 위쪽 모서리 19">
              <a:extLst>
                <a:ext uri="{FF2B5EF4-FFF2-40B4-BE49-F238E27FC236}">
                  <a16:creationId xmlns:a16="http://schemas.microsoft.com/office/drawing/2014/main" id="{05EE251A-8C4B-3E37-8F87-A3A26C6376F9}"/>
                </a:ext>
              </a:extLst>
            </p:cNvPr>
            <p:cNvSpPr/>
            <p:nvPr/>
          </p:nvSpPr>
          <p:spPr bwMode="auto">
            <a:xfrm>
              <a:off x="3508222" y="3978276"/>
              <a:ext cx="752062" cy="73836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3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근로자 개인 고용 위기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1" name="사각형: 둥근 위쪽 모서리 20">
              <a:extLst>
                <a:ext uri="{FF2B5EF4-FFF2-40B4-BE49-F238E27FC236}">
                  <a16:creationId xmlns:a16="http://schemas.microsoft.com/office/drawing/2014/main" id="{C6740D3B-1BEB-DA0A-24D4-77C67B6C473E}"/>
                </a:ext>
              </a:extLst>
            </p:cNvPr>
            <p:cNvSpPr/>
            <p:nvPr/>
          </p:nvSpPr>
          <p:spPr bwMode="auto">
            <a:xfrm>
              <a:off x="4260284" y="3978011"/>
              <a:ext cx="2027582" cy="73836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직무 변경 압박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재배치 요구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고용 단절 위험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심리적 불안감 증대</a:t>
              </a:r>
              <a:endParaRPr kumimoji="0" lang="ko-KR" altLang="en-US" sz="1000" i="0" u="none" strike="noStrike" kern="0" cap="none" spc="-70" normalizeH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26AE6E9-7BF7-ED79-A53A-7A0496CD6766}"/>
              </a:ext>
            </a:extLst>
          </p:cNvPr>
          <p:cNvGrpSpPr/>
          <p:nvPr/>
        </p:nvGrpSpPr>
        <p:grpSpPr>
          <a:xfrm>
            <a:off x="3595685" y="4985467"/>
            <a:ext cx="2661992" cy="667486"/>
            <a:chOff x="3508222" y="4985467"/>
            <a:chExt cx="2779644" cy="667486"/>
          </a:xfrm>
        </p:grpSpPr>
        <p:sp>
          <p:nvSpPr>
            <p:cNvPr id="22" name="사각형: 둥근 위쪽 모서리 21">
              <a:extLst>
                <a:ext uri="{FF2B5EF4-FFF2-40B4-BE49-F238E27FC236}">
                  <a16:creationId xmlns:a16="http://schemas.microsoft.com/office/drawing/2014/main" id="{A81F3A11-5DE1-734A-90B5-257A37A1AA0E}"/>
                </a:ext>
              </a:extLst>
            </p:cNvPr>
            <p:cNvSpPr/>
            <p:nvPr/>
          </p:nvSpPr>
          <p:spPr bwMode="auto">
            <a:xfrm>
              <a:off x="3508222" y="4985732"/>
              <a:ext cx="752062" cy="66722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4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지역사회 연쇄 침체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id="{EA31771D-5717-525C-ED11-85DDC62C9DC1}"/>
                </a:ext>
              </a:extLst>
            </p:cNvPr>
            <p:cNvSpPr/>
            <p:nvPr/>
          </p:nvSpPr>
          <p:spPr bwMode="auto">
            <a:xfrm>
              <a:off x="4260284" y="4985467"/>
              <a:ext cx="2027582" cy="66722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협력업체 타격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지역 상권 위축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지역경제 침체</a:t>
              </a:r>
              <a:endParaRPr kumimoji="0" lang="ko-KR" altLang="en-US" sz="1000" i="0" u="none" strike="noStrike" kern="0" cap="none" spc="-70" normalizeH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A2F8BA0-6B4A-AD4B-5F14-6E355876F1C5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타당성 및 적절성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30D9130-DD5A-4DCF-686B-B70EA458F4A9}"/>
              </a:ext>
            </a:extLst>
          </p:cNvPr>
          <p:cNvSpPr/>
          <p:nvPr/>
        </p:nvSpPr>
        <p:spPr bwMode="auto">
          <a:xfrm>
            <a:off x="625877" y="5482841"/>
            <a:ext cx="2435085" cy="272337"/>
          </a:xfrm>
          <a:prstGeom prst="roundRect">
            <a:avLst>
              <a:gd name="adj" fmla="val 50000"/>
            </a:avLst>
          </a:prstGeom>
          <a:solidFill>
            <a:srgbClr val="58A7AE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2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노동시장 지각변동 발생</a:t>
            </a:r>
            <a:endParaRPr lang="ko-KR" altLang="en-US" sz="1200" b="1" kern="0" spc="-1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45EA2711-C7A1-D206-5304-454B6A793EFC}"/>
              </a:ext>
            </a:extLst>
          </p:cNvPr>
          <p:cNvCxnSpPr>
            <a:stCxn id="15" idx="1"/>
            <a:endCxn id="17" idx="3"/>
          </p:cNvCxnSpPr>
          <p:nvPr/>
        </p:nvCxnSpPr>
        <p:spPr bwMode="auto">
          <a:xfrm>
            <a:off x="3955800" y="3099950"/>
            <a:ext cx="0" cy="191507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896968A-613D-2C7F-405D-9D2E7DED4F2F}"/>
              </a:ext>
            </a:extLst>
          </p:cNvPr>
          <p:cNvCxnSpPr>
            <a:cxnSpLocks/>
            <a:stCxn id="17" idx="1"/>
            <a:endCxn id="20" idx="3"/>
          </p:cNvCxnSpPr>
          <p:nvPr/>
        </p:nvCxnSpPr>
        <p:spPr bwMode="auto">
          <a:xfrm>
            <a:off x="3955800" y="3864349"/>
            <a:ext cx="0" cy="191507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5F0EAE0F-58A8-3AF9-F888-B8EBAECE51F9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 bwMode="auto">
          <a:xfrm>
            <a:off x="3955800" y="4794224"/>
            <a:ext cx="0" cy="191508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2BD5A8E5-5C8C-842D-A0B3-84EB9AE65725}"/>
              </a:ext>
            </a:extLst>
          </p:cNvPr>
          <p:cNvCxnSpPr>
            <a:stCxn id="40" idx="3"/>
            <a:endCxn id="14" idx="2"/>
          </p:cNvCxnSpPr>
          <p:nvPr/>
        </p:nvCxnSpPr>
        <p:spPr bwMode="auto">
          <a:xfrm flipV="1">
            <a:off x="3060962" y="2265480"/>
            <a:ext cx="538327" cy="3353530"/>
          </a:xfrm>
          <a:prstGeom prst="bentConnector3">
            <a:avLst>
              <a:gd name="adj1" fmla="val 69229"/>
            </a:avLst>
          </a:prstGeom>
          <a:solidFill>
            <a:srgbClr val="970F43"/>
          </a:solidFill>
          <a:ln w="12700" cap="flat" cmpd="sng" algn="ctr">
            <a:solidFill>
              <a:srgbClr val="58A7AE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C6D7F380-52D2-7ED7-A874-CCCB8DF3D506}"/>
              </a:ext>
            </a:extLst>
          </p:cNvPr>
          <p:cNvSpPr/>
          <p:nvPr/>
        </p:nvSpPr>
        <p:spPr bwMode="auto">
          <a:xfrm>
            <a:off x="6851621" y="2901313"/>
            <a:ext cx="2504311" cy="20698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2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전통적인 대응 방식의 한계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0" name="사각형: 둥근 위쪽 모서리 59">
            <a:extLst>
              <a:ext uri="{FF2B5EF4-FFF2-40B4-BE49-F238E27FC236}">
                <a16:creationId xmlns:a16="http://schemas.microsoft.com/office/drawing/2014/main" id="{1BC5F141-B24F-E8FE-D465-E14E3E329E37}"/>
              </a:ext>
            </a:extLst>
          </p:cNvPr>
          <p:cNvSpPr/>
          <p:nvPr/>
        </p:nvSpPr>
        <p:spPr bwMode="auto">
          <a:xfrm>
            <a:off x="6851620" y="3104928"/>
            <a:ext cx="2504309" cy="2825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/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 → 실직 후 사후 지원 </a:t>
            </a:r>
            <a:r>
              <a:rPr lang="en-US" altLang="ko-KR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이미 늦음</a:t>
            </a:r>
            <a:r>
              <a:rPr lang="en-US" altLang="ko-KR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endParaRPr kumimoji="0" lang="ko-KR" altLang="en-US" sz="1050" i="0" u="none" strike="noStrike" kern="0" cap="none" spc="-70" normalizeH="0" noProof="0" dirty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1" name="사각형: 둥근 위쪽 모서리 60">
            <a:extLst>
              <a:ext uri="{FF2B5EF4-FFF2-40B4-BE49-F238E27FC236}">
                <a16:creationId xmlns:a16="http://schemas.microsoft.com/office/drawing/2014/main" id="{8957BADD-E4B2-735B-35F9-FCFE728128DA}"/>
              </a:ext>
            </a:extLst>
          </p:cNvPr>
          <p:cNvSpPr/>
          <p:nvPr/>
        </p:nvSpPr>
        <p:spPr bwMode="auto">
          <a:xfrm>
            <a:off x="6851624" y="3622766"/>
            <a:ext cx="2504311" cy="28254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정의로운 전환의 원칙</a:t>
            </a:r>
            <a:endParaRPr kumimoji="0" lang="ko-KR" altLang="en-US" sz="105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2" name="사각형: 둥근 위쪽 모서리 61">
            <a:extLst>
              <a:ext uri="{FF2B5EF4-FFF2-40B4-BE49-F238E27FC236}">
                <a16:creationId xmlns:a16="http://schemas.microsoft.com/office/drawing/2014/main" id="{A3548600-846B-92E7-7E5F-BECC4EF3A326}"/>
              </a:ext>
            </a:extLst>
          </p:cNvPr>
          <p:cNvSpPr/>
          <p:nvPr/>
        </p:nvSpPr>
        <p:spPr bwMode="auto">
          <a:xfrm>
            <a:off x="6851623" y="3901936"/>
            <a:ext cx="2504309" cy="139814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171450" indent="-171450" defTabSz="914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사전 예측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변화 신호 조기 포착</a:t>
            </a:r>
          </a:p>
          <a:p>
            <a:pPr marL="171450" indent="-171450" defTabSz="914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선제 지원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상담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교육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훈련을 미리 제공</a:t>
            </a:r>
          </a:p>
          <a:p>
            <a:pPr marL="171450" indent="-171450" defTabSz="914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심리 안정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불안감과 압박감 해소</a:t>
            </a:r>
          </a:p>
          <a:p>
            <a:pPr marL="171450" indent="-171450" defTabSz="914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체계적 관리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근로자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지역 포괄 접근</a:t>
            </a:r>
            <a:endParaRPr kumimoji="0" lang="ko-KR" altLang="en-US" sz="1000" b="1" i="0" u="none" strike="noStrike" kern="0" cap="none" spc="-70" normalizeH="0" noProof="0" dirty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058B75-EAFE-B6CA-5054-F26737F1A094}"/>
              </a:ext>
            </a:extLst>
          </p:cNvPr>
          <p:cNvSpPr txBox="1"/>
          <p:nvPr/>
        </p:nvSpPr>
        <p:spPr>
          <a:xfrm>
            <a:off x="6913712" y="2493499"/>
            <a:ext cx="2380128" cy="253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u="sng" spc="-80" dirty="0">
                <a:solidFill>
                  <a:srgbClr val="1040C3"/>
                </a:solidFill>
              </a:rPr>
              <a:t>정의로운 전환(</a:t>
            </a:r>
            <a:r>
              <a:rPr lang="ko-KR" altLang="en-US" sz="1050" b="1" u="sng" spc="-80" dirty="0" err="1">
                <a:solidFill>
                  <a:srgbClr val="1040C3"/>
                </a:solidFill>
              </a:rPr>
              <a:t>Just</a:t>
            </a:r>
            <a:r>
              <a:rPr lang="ko-KR" altLang="en-US" sz="1050" b="1" u="sng" spc="-80" dirty="0">
                <a:solidFill>
                  <a:srgbClr val="1040C3"/>
                </a:solidFill>
              </a:rPr>
              <a:t> </a:t>
            </a:r>
            <a:r>
              <a:rPr lang="ko-KR" altLang="en-US" sz="1050" b="1" u="sng" spc="-80" dirty="0" err="1">
                <a:solidFill>
                  <a:srgbClr val="1040C3"/>
                </a:solidFill>
              </a:rPr>
              <a:t>Transition</a:t>
            </a:r>
            <a:r>
              <a:rPr lang="ko-KR" altLang="en-US" sz="1050" b="1" u="sng" spc="-80" dirty="0">
                <a:solidFill>
                  <a:srgbClr val="1040C3"/>
                </a:solidFill>
              </a:rPr>
              <a:t>)의 필요성</a:t>
            </a:r>
          </a:p>
        </p:txBody>
      </p:sp>
      <p:pic>
        <p:nvPicPr>
          <p:cNvPr id="71" name="Picture 11">
            <a:extLst>
              <a:ext uri="{FF2B5EF4-FFF2-40B4-BE49-F238E27FC236}">
                <a16:creationId xmlns:a16="http://schemas.microsoft.com/office/drawing/2014/main" id="{D30CFF37-E4AF-C5E3-DDE0-17698310A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383" y="2053703"/>
            <a:ext cx="240787" cy="365127"/>
          </a:xfrm>
          <a:prstGeom prst="rect">
            <a:avLst/>
          </a:prstGeom>
        </p:spPr>
      </p:pic>
      <p:sp>
        <p:nvSpPr>
          <p:cNvPr id="72" name="Freeform 5">
            <a:extLst>
              <a:ext uri="{FF2B5EF4-FFF2-40B4-BE49-F238E27FC236}">
                <a16:creationId xmlns:a16="http://schemas.microsoft.com/office/drawing/2014/main" id="{1F08B719-C6A6-A0FD-9718-F256054F95A4}"/>
              </a:ext>
            </a:extLst>
          </p:cNvPr>
          <p:cNvSpPr>
            <a:spLocks noEditPoints="1"/>
          </p:cNvSpPr>
          <p:nvPr/>
        </p:nvSpPr>
        <p:spPr bwMode="auto">
          <a:xfrm rot="5400000" flipH="1">
            <a:off x="1718834" y="5201565"/>
            <a:ext cx="243476" cy="245291"/>
          </a:xfrm>
          <a:custGeom>
            <a:avLst/>
            <a:gdLst>
              <a:gd name="T0" fmla="*/ 159 w 317"/>
              <a:gd name="T1" fmla="*/ 0 h 317"/>
              <a:gd name="T2" fmla="*/ 317 w 317"/>
              <a:gd name="T3" fmla="*/ 158 h 317"/>
              <a:gd name="T4" fmla="*/ 159 w 317"/>
              <a:gd name="T5" fmla="*/ 317 h 317"/>
              <a:gd name="T6" fmla="*/ 0 w 317"/>
              <a:gd name="T7" fmla="*/ 158 h 317"/>
              <a:gd name="T8" fmla="*/ 159 w 317"/>
              <a:gd name="T9" fmla="*/ 0 h 317"/>
              <a:gd name="T10" fmla="*/ 135 w 317"/>
              <a:gd name="T11" fmla="*/ 183 h 317"/>
              <a:gd name="T12" fmla="*/ 239 w 317"/>
              <a:gd name="T13" fmla="*/ 183 h 317"/>
              <a:gd name="T14" fmla="*/ 240 w 317"/>
              <a:gd name="T15" fmla="*/ 133 h 317"/>
              <a:gd name="T16" fmla="*/ 135 w 317"/>
              <a:gd name="T17" fmla="*/ 134 h 317"/>
              <a:gd name="T18" fmla="*/ 154 w 317"/>
              <a:gd name="T19" fmla="*/ 117 h 317"/>
              <a:gd name="T20" fmla="*/ 118 w 317"/>
              <a:gd name="T21" fmla="*/ 82 h 317"/>
              <a:gd name="T22" fmla="*/ 49 w 317"/>
              <a:gd name="T23" fmla="*/ 159 h 317"/>
              <a:gd name="T24" fmla="*/ 118 w 317"/>
              <a:gd name="T25" fmla="*/ 235 h 317"/>
              <a:gd name="T26" fmla="*/ 154 w 317"/>
              <a:gd name="T27" fmla="*/ 201 h 317"/>
              <a:gd name="T28" fmla="*/ 135 w 317"/>
              <a:gd name="T29" fmla="*/ 183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7" h="317">
                <a:moveTo>
                  <a:pt x="159" y="0"/>
                </a:moveTo>
                <a:cubicBezTo>
                  <a:pt x="246" y="0"/>
                  <a:pt x="317" y="71"/>
                  <a:pt x="317" y="158"/>
                </a:cubicBezTo>
                <a:cubicBezTo>
                  <a:pt x="317" y="246"/>
                  <a:pt x="246" y="317"/>
                  <a:pt x="159" y="317"/>
                </a:cubicBezTo>
                <a:cubicBezTo>
                  <a:pt x="71" y="317"/>
                  <a:pt x="0" y="246"/>
                  <a:pt x="0" y="158"/>
                </a:cubicBezTo>
                <a:cubicBezTo>
                  <a:pt x="0" y="71"/>
                  <a:pt x="71" y="0"/>
                  <a:pt x="159" y="0"/>
                </a:cubicBezTo>
                <a:close/>
                <a:moveTo>
                  <a:pt x="135" y="183"/>
                </a:moveTo>
                <a:cubicBezTo>
                  <a:pt x="239" y="183"/>
                  <a:pt x="239" y="183"/>
                  <a:pt x="239" y="183"/>
                </a:cubicBezTo>
                <a:cubicBezTo>
                  <a:pt x="277" y="183"/>
                  <a:pt x="277" y="133"/>
                  <a:pt x="240" y="133"/>
                </a:cubicBezTo>
                <a:cubicBezTo>
                  <a:pt x="135" y="134"/>
                  <a:pt x="135" y="134"/>
                  <a:pt x="135" y="134"/>
                </a:cubicBezTo>
                <a:cubicBezTo>
                  <a:pt x="142" y="128"/>
                  <a:pt x="148" y="122"/>
                  <a:pt x="154" y="117"/>
                </a:cubicBezTo>
                <a:cubicBezTo>
                  <a:pt x="181" y="88"/>
                  <a:pt x="143" y="52"/>
                  <a:pt x="118" y="82"/>
                </a:cubicBezTo>
                <a:cubicBezTo>
                  <a:pt x="49" y="159"/>
                  <a:pt x="49" y="159"/>
                  <a:pt x="49" y="159"/>
                </a:cubicBezTo>
                <a:cubicBezTo>
                  <a:pt x="118" y="235"/>
                  <a:pt x="118" y="235"/>
                  <a:pt x="118" y="235"/>
                </a:cubicBezTo>
                <a:cubicBezTo>
                  <a:pt x="143" y="266"/>
                  <a:pt x="182" y="227"/>
                  <a:pt x="154" y="201"/>
                </a:cubicBezTo>
                <a:cubicBezTo>
                  <a:pt x="135" y="183"/>
                  <a:pt x="135" y="183"/>
                  <a:pt x="135" y="183"/>
                </a:cubicBezTo>
                <a:close/>
              </a:path>
            </a:pathLst>
          </a:custGeom>
          <a:solidFill>
            <a:srgbClr val="58A7A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22351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334A-52AE-738B-56C7-B54846095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4E291B9-0729-0AF9-47B1-62BA5EB4EECD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분산된 지원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사후 대응의 한계 극복 → </a:t>
            </a:r>
            <a:r>
              <a:rPr lang="ko-KR" altLang="en-US" spc="-30" dirty="0" err="1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선제적</a:t>
            </a:r>
            <a:r>
              <a:rPr lang="en-US" altLang="ko-KR" spc="-30" dirty="0">
                <a:solidFill>
                  <a:srgbClr val="5D6DB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통합적 노동전환 지원체계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필요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956C75-670E-0AB1-5A91-F49DE089887E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타당성 및 적절성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A5A5E1-C8F7-1DFD-4104-E3AA97193D2F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ko-KR" altLang="en-US" sz="1600" i="0" u="none" strike="noStrike" kern="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필요성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E65C83-C30C-7C3C-4D5F-6583762EEF58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서비스 분절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사후 대응이라는 전통적 지원 체계의 한계를 극복하기 위해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산업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일자리전환 지원센터는 분산된 정책을 통합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연계하고 기업과 근로자를 위한 </a:t>
            </a:r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선제적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지원의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컨트롤 타워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로서의 역할이 필요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09B121C-66CD-F584-67F5-0221D1331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017411"/>
              </p:ext>
            </p:extLst>
          </p:nvPr>
        </p:nvGraphicFramePr>
        <p:xfrm>
          <a:off x="444954" y="2518766"/>
          <a:ext cx="4753692" cy="3160029"/>
        </p:xfrm>
        <a:graphic>
          <a:graphicData uri="http://schemas.openxmlformats.org/drawingml/2006/table">
            <a:tbl>
              <a:tblPr/>
              <a:tblGrid>
                <a:gridCol w="1138519">
                  <a:extLst>
                    <a:ext uri="{9D8B030D-6E8A-4147-A177-3AD203B41FA5}">
                      <a16:colId xmlns:a16="http://schemas.microsoft.com/office/drawing/2014/main" val="3071885638"/>
                    </a:ext>
                  </a:extLst>
                </a:gridCol>
                <a:gridCol w="1886734">
                  <a:extLst>
                    <a:ext uri="{9D8B030D-6E8A-4147-A177-3AD203B41FA5}">
                      <a16:colId xmlns:a16="http://schemas.microsoft.com/office/drawing/2014/main" val="1482982044"/>
                    </a:ext>
                  </a:extLst>
                </a:gridCol>
                <a:gridCol w="1728439">
                  <a:extLst>
                    <a:ext uri="{9D8B030D-6E8A-4147-A177-3AD203B41FA5}">
                      <a16:colId xmlns:a16="http://schemas.microsoft.com/office/drawing/2014/main" val="737233828"/>
                    </a:ext>
                  </a:extLst>
                </a:gridCol>
              </a:tblGrid>
              <a:tr h="1737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 영역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접근법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652360"/>
                  </a:ext>
                </a:extLst>
              </a:tr>
              <a:tr h="5398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접근성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5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 사업 정보 분산</a:t>
                      </a:r>
                      <a:r>
                        <a:rPr lang="en-US" altLang="ko-KR" sz="105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5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복잡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0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기업의 활용 어려움</a:t>
                      </a:r>
                      <a:endParaRPr lang="ko-KR" altLang="en-US" sz="1000" b="1" kern="0" spc="-7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895421"/>
                  </a:ext>
                </a:extLst>
              </a:tr>
              <a:tr h="5398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연계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5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분절적 프로그램 운영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00" b="1" kern="0" spc="-7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 지원</a:t>
                      </a:r>
                      <a:r>
                        <a:rPr lang="en-US" altLang="ko-KR" sz="1000" b="1" kern="0" spc="-7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kern="0" spc="-7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사각지대 발생</a:t>
                      </a:r>
                      <a:endParaRPr lang="ko-KR" altLang="en-US" sz="1000" b="1" kern="0" spc="-70" baseline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94671"/>
                  </a:ext>
                </a:extLst>
              </a:tr>
              <a:tr h="6296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대응 시기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5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사후 대응 중심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위기 발생 후 뒤늦은 지원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929907"/>
                  </a:ext>
                </a:extLst>
              </a:tr>
              <a:tr h="6255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맞춤형 지원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5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표준화된 서비스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-7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개별 상황 미반영</a:t>
                      </a:r>
                      <a:endParaRPr lang="ko-KR" altLang="en-US" sz="1000" b="1" kern="0" spc="-70" baseline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037859"/>
                  </a:ext>
                </a:extLst>
              </a:tr>
              <a:tr h="6255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조정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5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 연결 기능 부재</a:t>
                      </a: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-7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 효과성 저하</a:t>
                      </a:r>
                      <a:endParaRPr lang="ko-KR" altLang="en-US" sz="1000" b="1" kern="0" spc="-7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744" marR="20744" marT="17287" marB="172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57576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F05E5A-7C75-C55D-58EA-322B64784D15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기업과 근로자를 위해 분산된 지원 정책을 통합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연계하고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 선제적으로 지원하는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컨트롤 타워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이자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현장 동반자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'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133394F-9AF3-75BA-E0FE-7C9764A7261B}"/>
              </a:ext>
            </a:extLst>
          </p:cNvPr>
          <p:cNvGrpSpPr/>
          <p:nvPr/>
        </p:nvGrpSpPr>
        <p:grpSpPr>
          <a:xfrm>
            <a:off x="444954" y="2154076"/>
            <a:ext cx="2476026" cy="253317"/>
            <a:chOff x="444954" y="2154076"/>
            <a:chExt cx="2476026" cy="253317"/>
          </a:xfrm>
        </p:grpSpPr>
        <p:pic>
          <p:nvPicPr>
            <p:cNvPr id="16" name="그래픽 15" descr="배지 체크 표시1 단색으로 채워진">
              <a:extLst>
                <a:ext uri="{FF2B5EF4-FFF2-40B4-BE49-F238E27FC236}">
                  <a16:creationId xmlns:a16="http://schemas.microsoft.com/office/drawing/2014/main" id="{B52412D8-6166-4AEF-E792-4EF564061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4203F5-2282-6411-9DA5-D18F35BA2522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/>
                <a:t>전통적 지원체계의 한계</a:t>
              </a:r>
            </a:p>
          </p:txBody>
        </p:sp>
      </p:grp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34C01079-9F2E-AB0E-B29F-8F82A6C3BD3B}"/>
              </a:ext>
            </a:extLst>
          </p:cNvPr>
          <p:cNvSpPr/>
          <p:nvPr/>
        </p:nvSpPr>
        <p:spPr bwMode="auto">
          <a:xfrm>
            <a:off x="5550033" y="2518766"/>
            <a:ext cx="3727785" cy="267348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산업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일자리전환 지원센터의 핵심 목표</a:t>
            </a:r>
            <a:endParaRPr kumimoji="0" lang="ko-KR" altLang="en-US" sz="105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B01A0155-D05B-2C54-8D3B-6826D1A6D81F}"/>
              </a:ext>
            </a:extLst>
          </p:cNvPr>
          <p:cNvSpPr/>
          <p:nvPr/>
        </p:nvSpPr>
        <p:spPr bwMode="auto">
          <a:xfrm>
            <a:off x="5550032" y="2786114"/>
            <a:ext cx="3727782" cy="140467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1200"/>
              </a:spcAft>
            </a:pPr>
            <a:endParaRPr kumimoji="0" lang="ko-KR" altLang="en-US" sz="1000" b="1" i="0" u="none" strike="noStrike" kern="0" cap="none" spc="-70" normalizeH="0" noProof="0" dirty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FF2A4BF-2DC1-94EA-B9C7-78C91673DBAD}"/>
              </a:ext>
            </a:extLst>
          </p:cNvPr>
          <p:cNvSpPr/>
          <p:nvPr/>
        </p:nvSpPr>
        <p:spPr bwMode="auto">
          <a:xfrm>
            <a:off x="5900099" y="2938071"/>
            <a:ext cx="3038226" cy="27233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8A7AE"/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① 기업 발굴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·</a:t>
            </a:r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진단 컨설팅</a:t>
            </a:r>
            <a:endParaRPr lang="ko-KR" altLang="en-US" sz="1050" b="1" kern="0" spc="-100" dirty="0">
              <a:solidFill>
                <a:srgbClr val="5D6DBE"/>
              </a:solidFill>
              <a:latin typeface="+mn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5E0082E-6869-FAC1-0288-D2F8A1425A77}"/>
              </a:ext>
            </a:extLst>
          </p:cNvPr>
          <p:cNvSpPr/>
          <p:nvPr/>
        </p:nvSpPr>
        <p:spPr bwMode="auto">
          <a:xfrm>
            <a:off x="5900098" y="3359717"/>
            <a:ext cx="3038226" cy="27233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8A7AE"/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② 맞춤형 고용안정 지원 방안 수립 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+ </a:t>
            </a:r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정부 사업 연계</a:t>
            </a:r>
            <a:endParaRPr lang="ko-KR" altLang="en-US" sz="1050" b="1" kern="0" spc="-100" dirty="0">
              <a:solidFill>
                <a:srgbClr val="5D6DBE"/>
              </a:solidFill>
              <a:latin typeface="+mn-ea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AA176C8-AC39-631A-F8A9-FD3CD43DA6AD}"/>
              </a:ext>
            </a:extLst>
          </p:cNvPr>
          <p:cNvSpPr/>
          <p:nvPr/>
        </p:nvSpPr>
        <p:spPr bwMode="auto">
          <a:xfrm>
            <a:off x="5900098" y="3764133"/>
            <a:ext cx="3038226" cy="27233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8A7AE"/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③ 근로자 상담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·</a:t>
            </a:r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교육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·</a:t>
            </a:r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심리안정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·</a:t>
            </a:r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rPr>
              <a:t>재취업 포괄적 지원</a:t>
            </a:r>
            <a:endParaRPr lang="ko-KR" altLang="en-US" sz="1050" b="1" kern="0" spc="-100" dirty="0">
              <a:solidFill>
                <a:srgbClr val="5D6DBE"/>
              </a:solidFill>
              <a:latin typeface="+mn-ea"/>
            </a:endParaRPr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D9205407-4701-DDCA-7BFC-40E8B38F6934}"/>
              </a:ext>
            </a:extLst>
          </p:cNvPr>
          <p:cNvSpPr/>
          <p:nvPr/>
        </p:nvSpPr>
        <p:spPr bwMode="auto">
          <a:xfrm>
            <a:off x="7358654" y="3232310"/>
            <a:ext cx="102319" cy="109688"/>
          </a:xfrm>
          <a:prstGeom prst="downArrow">
            <a:avLst/>
          </a:prstGeom>
          <a:solidFill>
            <a:srgbClr val="58A7AE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88900" marR="0" indent="-88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8" name="화살표: 아래쪽 27">
            <a:extLst>
              <a:ext uri="{FF2B5EF4-FFF2-40B4-BE49-F238E27FC236}">
                <a16:creationId xmlns:a16="http://schemas.microsoft.com/office/drawing/2014/main" id="{6261822F-1FB7-7289-FD92-080FEECC7F75}"/>
              </a:ext>
            </a:extLst>
          </p:cNvPr>
          <p:cNvSpPr/>
          <p:nvPr/>
        </p:nvSpPr>
        <p:spPr bwMode="auto">
          <a:xfrm>
            <a:off x="7358653" y="3647845"/>
            <a:ext cx="102319" cy="109688"/>
          </a:xfrm>
          <a:prstGeom prst="downArrow">
            <a:avLst/>
          </a:prstGeom>
          <a:solidFill>
            <a:srgbClr val="58A7AE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88900" marR="0" indent="-88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314C77E7-5F90-50C7-6562-67C6C6652970}"/>
              </a:ext>
            </a:extLst>
          </p:cNvPr>
          <p:cNvSpPr/>
          <p:nvPr/>
        </p:nvSpPr>
        <p:spPr bwMode="auto">
          <a:xfrm>
            <a:off x="5550032" y="4300716"/>
            <a:ext cx="3727785" cy="267348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산업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일자리전환 지원센터의 역할</a:t>
            </a:r>
            <a:endParaRPr kumimoji="0" lang="ko-KR" altLang="en-US" sz="105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F292DD3A-AA03-220A-A08A-B2CF7BFABC32}"/>
              </a:ext>
            </a:extLst>
          </p:cNvPr>
          <p:cNvSpPr/>
          <p:nvPr/>
        </p:nvSpPr>
        <p:spPr bwMode="auto">
          <a:xfrm>
            <a:off x="5550032" y="4570869"/>
            <a:ext cx="3727782" cy="110792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1200"/>
              </a:spcAft>
            </a:pP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 분산된 지원 정책을 기업과 근로자 눈높이에 맞춰 통합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연계</a:t>
            </a:r>
          </a:p>
          <a:p>
            <a:pPr defTabSz="914400">
              <a:spcAft>
                <a:spcPts val="1200"/>
              </a:spcAft>
            </a:pP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 선제적으로 제공하는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컨트롤 타워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’</a:t>
            </a:r>
          </a:p>
          <a:p>
            <a:pPr defTabSz="914400">
              <a:spcAft>
                <a:spcPts val="1200"/>
              </a:spcAft>
            </a:pP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 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현장 밀착형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동반자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 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역할 수행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6070E6D-C594-B678-2572-6AC3C8DE55F0}"/>
              </a:ext>
            </a:extLst>
          </p:cNvPr>
          <p:cNvGrpSpPr/>
          <p:nvPr/>
        </p:nvGrpSpPr>
        <p:grpSpPr>
          <a:xfrm>
            <a:off x="5550032" y="2198835"/>
            <a:ext cx="2476026" cy="253317"/>
            <a:chOff x="444954" y="2154076"/>
            <a:chExt cx="2476026" cy="253317"/>
          </a:xfrm>
        </p:grpSpPr>
        <p:pic>
          <p:nvPicPr>
            <p:cNvPr id="33" name="그래픽 32" descr="배지 체크 표시1 단색으로 채워진">
              <a:extLst>
                <a:ext uri="{FF2B5EF4-FFF2-40B4-BE49-F238E27FC236}">
                  <a16:creationId xmlns:a16="http://schemas.microsoft.com/office/drawing/2014/main" id="{FED7630C-31B9-D7AB-5A1C-D87D4DD61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5F2D912-D2FC-DC93-2845-1C3F57624008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/>
                <a:t>본 사업의 역할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7968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3E06B-A1BF-BB56-D5A3-A73CCA76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오른쪽 화살표 141">
            <a:extLst>
              <a:ext uri="{FF2B5EF4-FFF2-40B4-BE49-F238E27FC236}">
                <a16:creationId xmlns:a16="http://schemas.microsoft.com/office/drawing/2014/main" id="{9C630500-93CF-C1DF-4A60-1182F0579763}"/>
              </a:ext>
            </a:extLst>
          </p:cNvPr>
          <p:cNvSpPr/>
          <p:nvPr/>
        </p:nvSpPr>
        <p:spPr>
          <a:xfrm>
            <a:off x="3827024" y="2794517"/>
            <a:ext cx="521926" cy="2503430"/>
          </a:xfrm>
          <a:prstGeom prst="rightArrow">
            <a:avLst>
              <a:gd name="adj1" fmla="val 83821"/>
              <a:gd name="adj2" fmla="val 50000"/>
            </a:avLst>
          </a:prstGeom>
          <a:gradFill flip="none" rotWithShape="1">
            <a:gsLst>
              <a:gs pos="0">
                <a:sysClr val="window" lastClr="FFFFFF">
                  <a:lumMod val="50000"/>
                </a:sysClr>
              </a:gs>
              <a:gs pos="100000">
                <a:srgbClr val="DDDDDD">
                  <a:lumMod val="30000"/>
                  <a:lumOff val="7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8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D97FF8-DFBB-01F8-E095-B4EF3A0DD59D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2025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년 실행 검증 기반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5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대 성공요인 도출 및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년 사업계획 수립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715DC4-9BA3-C149-4FA9-B700DB9D39DA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성공 요인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7EF65C-C5CA-B6D4-CE89-2B739D581C63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한국표준협회는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산업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일자리전환 지원센터 사업 수행을 통해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 핵심 성공요인을 도출하였으며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이를 기반으로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2026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사업계획을 타당하고 체계적으로 수립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27330E-5686-088E-0C57-19874F3866E5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2025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년 현장에서 배우고 →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대 성공요인을 찾아서 →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2026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년을 설계하였습니다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BA0C3-1CBC-84C3-F904-72DCD53ACDC3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타당성 및 적절성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54B9951-65F7-1E78-5E6D-E99CE62D4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936654"/>
              </p:ext>
            </p:extLst>
          </p:nvPr>
        </p:nvGraphicFramePr>
        <p:xfrm>
          <a:off x="444263" y="2353143"/>
          <a:ext cx="3387202" cy="3386178"/>
        </p:xfrm>
        <a:graphic>
          <a:graphicData uri="http://schemas.openxmlformats.org/drawingml/2006/table">
            <a:tbl>
              <a:tblPr/>
              <a:tblGrid>
                <a:gridCol w="1098821">
                  <a:extLst>
                    <a:ext uri="{9D8B030D-6E8A-4147-A177-3AD203B41FA5}">
                      <a16:colId xmlns:a16="http://schemas.microsoft.com/office/drawing/2014/main" val="4141068546"/>
                    </a:ext>
                  </a:extLst>
                </a:gridCol>
                <a:gridCol w="1057612">
                  <a:extLst>
                    <a:ext uri="{9D8B030D-6E8A-4147-A177-3AD203B41FA5}">
                      <a16:colId xmlns:a16="http://schemas.microsoft.com/office/drawing/2014/main" val="2545605003"/>
                    </a:ext>
                  </a:extLst>
                </a:gridCol>
                <a:gridCol w="1230769">
                  <a:extLst>
                    <a:ext uri="{9D8B030D-6E8A-4147-A177-3AD203B41FA5}">
                      <a16:colId xmlns:a16="http://schemas.microsoft.com/office/drawing/2014/main" val="2207850297"/>
                    </a:ext>
                  </a:extLst>
                </a:gridCol>
              </a:tblGrid>
              <a:tr h="214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항목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성과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864273"/>
                  </a:ext>
                </a:extLst>
              </a:tr>
              <a:tr h="214053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수요 발굴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 기업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487</a:t>
                      </a: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355865"/>
                  </a:ext>
                </a:extLst>
              </a:tr>
              <a:tr h="21405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선정 기업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285</a:t>
                      </a: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973370"/>
                  </a:ext>
                </a:extLst>
              </a:tr>
              <a:tr h="21405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선정률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58.5%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811711"/>
                  </a:ext>
                </a:extLst>
              </a:tr>
              <a:tr h="214053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구성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석</a:t>
                      </a:r>
                      <a:r>
                        <a:rPr lang="en-US" altLang="ko-KR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박사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</a:t>
                      </a: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(57.1%)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091332"/>
                  </a:ext>
                </a:extLst>
              </a:tr>
              <a:tr h="21405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공인노무사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</a:t>
                      </a: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(61.9%)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897279"/>
                  </a:ext>
                </a:extLst>
              </a:tr>
              <a:tr h="21405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 </a:t>
                      </a:r>
                      <a:r>
                        <a:rPr lang="en-US" altLang="ko-KR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이상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</a:t>
                      </a: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(66.7%)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237458"/>
                  </a:ext>
                </a:extLst>
              </a:tr>
              <a:tr h="214053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 연계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 기업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27173"/>
                  </a:ext>
                </a:extLst>
              </a:tr>
              <a:tr h="21405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장려금 총액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43.7</a:t>
                      </a: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 원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582084"/>
                  </a:ext>
                </a:extLst>
              </a:tr>
              <a:tr h="21405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기업당 평균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7,289</a:t>
                      </a: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원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993913"/>
                  </a:ext>
                </a:extLst>
              </a:tr>
              <a:tr h="214053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네트워크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유관기관 협력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기관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746064"/>
                  </a:ext>
                </a:extLst>
              </a:tr>
              <a:tr h="389436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 간담회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</a:t>
                      </a:r>
                      <a:endParaRPr lang="en-US" altLang="ko-KR" sz="1000" spc="-8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9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대구</a:t>
                      </a:r>
                      <a:r>
                        <a:rPr lang="en-US" altLang="ko-KR" sz="9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전북</a:t>
                      </a:r>
                      <a:r>
                        <a:rPr lang="en-US" altLang="ko-KR" sz="9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경남</a:t>
                      </a:r>
                      <a:r>
                        <a:rPr lang="en-US" altLang="ko-KR" sz="9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부산</a:t>
                      </a:r>
                      <a:r>
                        <a:rPr lang="en-US" altLang="ko-KR" sz="9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640034"/>
                  </a:ext>
                </a:extLst>
              </a:tr>
              <a:tr h="214053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만족도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종합 만족도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4.88</a:t>
                      </a: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</a:t>
                      </a: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만점</a:t>
                      </a:r>
                      <a:r>
                        <a:rPr lang="en-US" altLang="ko-KR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915661"/>
                  </a:ext>
                </a:extLst>
              </a:tr>
              <a:tr h="21405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수행과정 품질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4.91</a:t>
                      </a:r>
                      <a:r>
                        <a:rPr lang="ko-KR" altLang="en-US" sz="1000" spc="-8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985573"/>
                  </a:ext>
                </a:extLst>
              </a:tr>
              <a:tr h="21405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수행결과 품질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4.87</a:t>
                      </a:r>
                      <a:r>
                        <a:rPr lang="ko-KR" altLang="en-US" sz="1000" spc="-8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</a:p>
                  </a:txBody>
                  <a:tcPr marL="15002" marR="15002" marT="7501" marB="750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75288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7855F973-2764-820C-A574-F7F2390C4142}"/>
              </a:ext>
            </a:extLst>
          </p:cNvPr>
          <p:cNvGrpSpPr/>
          <p:nvPr/>
        </p:nvGrpSpPr>
        <p:grpSpPr>
          <a:xfrm>
            <a:off x="444954" y="2023450"/>
            <a:ext cx="2476026" cy="253317"/>
            <a:chOff x="444954" y="2154076"/>
            <a:chExt cx="2476026" cy="253317"/>
          </a:xfrm>
        </p:grpSpPr>
        <p:pic>
          <p:nvPicPr>
            <p:cNvPr id="15" name="그래픽 14" descr="배지 체크 표시1 단색으로 채워진">
              <a:extLst>
                <a:ext uri="{FF2B5EF4-FFF2-40B4-BE49-F238E27FC236}">
                  <a16:creationId xmlns:a16="http://schemas.microsoft.com/office/drawing/2014/main" id="{E073262B-B0DF-87DA-59CE-D2AFF2072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E744B6-CC76-785D-D440-95ABF1A6DCA5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b="1" spc="-80" dirty="0"/>
                <a:t>2025</a:t>
              </a:r>
              <a:r>
                <a:rPr lang="ko-KR" altLang="en-US" sz="1050" b="1" spc="-80" dirty="0"/>
                <a:t>년 검증된 핵심 성과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4F4A774-5EF5-2E17-2D12-32DBA53C022B}"/>
              </a:ext>
            </a:extLst>
          </p:cNvPr>
          <p:cNvGrpSpPr/>
          <p:nvPr/>
        </p:nvGrpSpPr>
        <p:grpSpPr>
          <a:xfrm>
            <a:off x="4522227" y="2023450"/>
            <a:ext cx="2476026" cy="253317"/>
            <a:chOff x="444954" y="2154076"/>
            <a:chExt cx="2476026" cy="253317"/>
          </a:xfrm>
        </p:grpSpPr>
        <p:pic>
          <p:nvPicPr>
            <p:cNvPr id="20" name="그래픽 19" descr="배지 체크 표시1 단색으로 채워진">
              <a:extLst>
                <a:ext uri="{FF2B5EF4-FFF2-40B4-BE49-F238E27FC236}">
                  <a16:creationId xmlns:a16="http://schemas.microsoft.com/office/drawing/2014/main" id="{3E3495E7-325D-3193-375A-C7E1722EA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0FF592B-9133-A3B2-D7B5-986DEFA2F6F5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b="1" spc="-80" dirty="0"/>
                <a:t>5</a:t>
              </a:r>
              <a:r>
                <a:rPr lang="ko-KR" altLang="en-US" sz="1050" b="1" spc="-80" dirty="0"/>
                <a:t>대 핵심 성공요인</a:t>
              </a:r>
              <a:r>
                <a:rPr lang="en-US" altLang="ko-KR" sz="1050" b="1" spc="-80" dirty="0"/>
                <a:t>(CSF)</a:t>
              </a:r>
              <a:endParaRPr lang="ko-KR" altLang="en-US" sz="1050" b="1" spc="-8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7EEA533-034D-96A2-81F2-6888996C6A09}"/>
              </a:ext>
            </a:extLst>
          </p:cNvPr>
          <p:cNvGrpSpPr/>
          <p:nvPr/>
        </p:nvGrpSpPr>
        <p:grpSpPr>
          <a:xfrm>
            <a:off x="4522227" y="2357912"/>
            <a:ext cx="4777221" cy="521185"/>
            <a:chOff x="4522227" y="2357912"/>
            <a:chExt cx="4777221" cy="521185"/>
          </a:xfrm>
        </p:grpSpPr>
        <p:sp>
          <p:nvSpPr>
            <p:cNvPr id="22" name="사각형: 둥근 위쪽 모서리 21">
              <a:extLst>
                <a:ext uri="{FF2B5EF4-FFF2-40B4-BE49-F238E27FC236}">
                  <a16:creationId xmlns:a16="http://schemas.microsoft.com/office/drawing/2014/main" id="{BEFF863D-1E36-DC0F-B348-72AA0791E8BC}"/>
                </a:ext>
              </a:extLst>
            </p:cNvPr>
            <p:cNvSpPr/>
            <p:nvPr/>
          </p:nvSpPr>
          <p:spPr bwMode="auto">
            <a:xfrm>
              <a:off x="4522227" y="2357913"/>
              <a:ext cx="1732269" cy="52118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72000" tIns="0" rIns="72000" bIns="0" rtlCol="0" anchor="ctr"/>
            <a:lstStyle/>
            <a:p>
              <a:pPr defTabSz="914400"/>
              <a:r>
                <a:rPr lang="en-US" altLang="ko-KR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CSF 1. </a:t>
              </a:r>
            </a:p>
            <a:p>
              <a:pPr defTabSz="914400"/>
              <a:r>
                <a:rPr lang="ko-KR" altLang="en-US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수요 발굴의 </a:t>
              </a:r>
              <a:r>
                <a:rPr lang="ko-KR" altLang="en-US" sz="1050" b="1" kern="0" spc="-7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전략성</a:t>
              </a:r>
              <a:endParaRPr kumimoji="0" lang="ko-KR" altLang="en-US" sz="1050" b="1" i="0" u="none" strike="noStrike" kern="0" cap="none" spc="-7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id="{4AC5EE07-D082-08CC-94C0-BEA3CEC94C5B}"/>
                </a:ext>
              </a:extLst>
            </p:cNvPr>
            <p:cNvSpPr/>
            <p:nvPr/>
          </p:nvSpPr>
          <p:spPr bwMode="auto">
            <a:xfrm>
              <a:off x="6254496" y="2357912"/>
              <a:ext cx="3044952" cy="52118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KSA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회원사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4,226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개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협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단체 간담회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지역 설명회를 통해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487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개 기업 신청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7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선정률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58.5%)</a:t>
              </a:r>
              <a:endPara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ABE2C77-52E8-6FE0-1FB9-16AB086DF8AC}"/>
              </a:ext>
            </a:extLst>
          </p:cNvPr>
          <p:cNvGrpSpPr/>
          <p:nvPr/>
        </p:nvGrpSpPr>
        <p:grpSpPr>
          <a:xfrm>
            <a:off x="4522227" y="2964979"/>
            <a:ext cx="4777221" cy="521185"/>
            <a:chOff x="4522227" y="3014489"/>
            <a:chExt cx="4777221" cy="521185"/>
          </a:xfrm>
        </p:grpSpPr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id="{CB11543F-5D43-2DEA-2F2E-C95F63F44003}"/>
                </a:ext>
              </a:extLst>
            </p:cNvPr>
            <p:cNvSpPr/>
            <p:nvPr/>
          </p:nvSpPr>
          <p:spPr bwMode="auto">
            <a:xfrm>
              <a:off x="4522227" y="3014490"/>
              <a:ext cx="1732269" cy="52118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72000" tIns="0" rIns="72000" bIns="0" rtlCol="0" anchor="ctr"/>
            <a:lstStyle/>
            <a:p>
              <a:pPr defTabSz="914400"/>
              <a:r>
                <a:rPr lang="en-US" altLang="ko-KR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CSF 2. </a:t>
              </a:r>
            </a:p>
            <a:p>
              <a:pPr defTabSz="914400"/>
              <a:r>
                <a:rPr lang="ko-KR" altLang="en-US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컨설팅의 전문성과 현장성</a:t>
              </a:r>
              <a:endParaRPr kumimoji="0" lang="ko-KR" altLang="en-US" sz="1050" b="1" i="0" u="none" strike="noStrike" kern="0" cap="none" spc="-7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id="{AE64FB9A-2FD8-E36E-2927-7F1DE8FD6C6D}"/>
                </a:ext>
              </a:extLst>
            </p:cNvPr>
            <p:cNvSpPr/>
            <p:nvPr/>
          </p:nvSpPr>
          <p:spPr bwMode="auto">
            <a:xfrm>
              <a:off x="6254496" y="3014489"/>
              <a:ext cx="3044952" cy="52118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석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박사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48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명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(57.1%),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공인노무사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52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명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(61.9%)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등 전문가 풀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84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명 구성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역량강화 교육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10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회 운영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46F6D44-0863-CAF7-F06B-22C0CDDA44F0}"/>
              </a:ext>
            </a:extLst>
          </p:cNvPr>
          <p:cNvGrpSpPr/>
          <p:nvPr/>
        </p:nvGrpSpPr>
        <p:grpSpPr>
          <a:xfrm>
            <a:off x="4522227" y="3572046"/>
            <a:ext cx="4777221" cy="521185"/>
            <a:chOff x="4522227" y="3578592"/>
            <a:chExt cx="4777221" cy="521185"/>
          </a:xfrm>
        </p:grpSpPr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CD9C54FA-721A-7D6D-91C5-DBD42117C696}"/>
                </a:ext>
              </a:extLst>
            </p:cNvPr>
            <p:cNvSpPr/>
            <p:nvPr/>
          </p:nvSpPr>
          <p:spPr bwMode="auto">
            <a:xfrm>
              <a:off x="4522227" y="3578593"/>
              <a:ext cx="1732269" cy="52118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72000" tIns="0" rIns="72000" bIns="0" rtlCol="0" anchor="ctr"/>
            <a:lstStyle/>
            <a:p>
              <a:pPr defTabSz="914400"/>
              <a:r>
                <a:rPr lang="en-US" altLang="ko-KR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CSF 3. </a:t>
              </a:r>
            </a:p>
            <a:p>
              <a:pPr defTabSz="914400"/>
              <a:r>
                <a:rPr lang="ko-KR" altLang="en-US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정책 연계의 실효성</a:t>
              </a:r>
              <a:endParaRPr kumimoji="0" lang="ko-KR" altLang="en-US" sz="1050" b="1" i="0" u="none" strike="noStrike" kern="0" cap="none" spc="-7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68A84E28-5F0C-9CAD-BF01-95E4B95F5232}"/>
                </a:ext>
              </a:extLst>
            </p:cNvPr>
            <p:cNvSpPr/>
            <p:nvPr/>
          </p:nvSpPr>
          <p:spPr bwMode="auto">
            <a:xfrm>
              <a:off x="6254496" y="3578592"/>
              <a:ext cx="3044952" cy="52118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60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개 기업 장려금 연계로 총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43.7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억 원 지원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b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</a:b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목표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20%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대비 실적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21%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달성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CED2805-AF44-9400-1B41-CB63503F836B}"/>
              </a:ext>
            </a:extLst>
          </p:cNvPr>
          <p:cNvGrpSpPr/>
          <p:nvPr/>
        </p:nvGrpSpPr>
        <p:grpSpPr>
          <a:xfrm>
            <a:off x="4522227" y="4179113"/>
            <a:ext cx="4777221" cy="521185"/>
            <a:chOff x="4522227" y="4235169"/>
            <a:chExt cx="4777221" cy="521185"/>
          </a:xfrm>
        </p:grpSpPr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id="{107D0C69-CB2B-85B6-573F-A34CFC872CD6}"/>
                </a:ext>
              </a:extLst>
            </p:cNvPr>
            <p:cNvSpPr/>
            <p:nvPr/>
          </p:nvSpPr>
          <p:spPr bwMode="auto">
            <a:xfrm>
              <a:off x="4522227" y="4235170"/>
              <a:ext cx="1732269" cy="52118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72000" tIns="0" rIns="72000" bIns="0" rtlCol="0" anchor="ctr"/>
            <a:lstStyle/>
            <a:p>
              <a:pPr defTabSz="914400"/>
              <a:r>
                <a:rPr lang="en-US" altLang="ko-KR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CSF 4. </a:t>
              </a:r>
            </a:p>
            <a:p>
              <a:pPr defTabSz="914400"/>
              <a:r>
                <a:rPr lang="ko-KR" altLang="en-US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참여주체 간 신뢰와 협력</a:t>
              </a:r>
              <a:endParaRPr kumimoji="0" lang="ko-KR" altLang="en-US" sz="1050" b="1" i="0" u="none" strike="noStrike" kern="0" cap="none" spc="-7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id="{5A1DB77E-392A-23CA-D7F4-D9616705E1E0}"/>
                </a:ext>
              </a:extLst>
            </p:cNvPr>
            <p:cNvSpPr/>
            <p:nvPr/>
          </p:nvSpPr>
          <p:spPr bwMode="auto">
            <a:xfrm>
              <a:off x="6254496" y="4235169"/>
              <a:ext cx="3044952" cy="52118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12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개 유관기관 협업과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4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회 지역 네트워크 간담회를 통해 자동차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철강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반도체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화학 등 업종 특화 지원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3AF99B2-2F56-0C34-2F4E-1372DA74E52C}"/>
              </a:ext>
            </a:extLst>
          </p:cNvPr>
          <p:cNvGrpSpPr/>
          <p:nvPr/>
        </p:nvGrpSpPr>
        <p:grpSpPr>
          <a:xfrm>
            <a:off x="4522227" y="4786182"/>
            <a:ext cx="4777221" cy="521185"/>
            <a:chOff x="4522227" y="4786182"/>
            <a:chExt cx="4777221" cy="521185"/>
          </a:xfrm>
        </p:grpSpPr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102744A4-3D33-A064-D1E6-ABFB1A252777}"/>
                </a:ext>
              </a:extLst>
            </p:cNvPr>
            <p:cNvSpPr/>
            <p:nvPr/>
          </p:nvSpPr>
          <p:spPr bwMode="auto">
            <a:xfrm>
              <a:off x="4522227" y="4786183"/>
              <a:ext cx="1732269" cy="52118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72000" tIns="0" rIns="72000" bIns="0" rtlCol="0" anchor="ctr"/>
            <a:lstStyle/>
            <a:p>
              <a:pPr defTabSz="914400"/>
              <a:r>
                <a:rPr lang="en-US" altLang="ko-KR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CSF 5. </a:t>
              </a:r>
            </a:p>
            <a:p>
              <a:pPr defTabSz="914400"/>
              <a:r>
                <a:rPr lang="ko-KR" altLang="en-US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성과관리 및 환류 체계</a:t>
              </a:r>
              <a:endParaRPr kumimoji="0" lang="ko-KR" altLang="en-US" sz="1050" b="1" i="0" u="none" strike="noStrike" kern="0" cap="none" spc="-7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7BDA5DAB-A627-9070-C494-13A6740BFED9}"/>
                </a:ext>
              </a:extLst>
            </p:cNvPr>
            <p:cNvSpPr/>
            <p:nvPr/>
          </p:nvSpPr>
          <p:spPr bwMode="auto">
            <a:xfrm>
              <a:off x="6254496" y="4786182"/>
              <a:ext cx="3044952" cy="52118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PMDCA 5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단계 운영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만족도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4.88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점 달성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b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</a:b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우수사례 발굴</a:t>
              </a:r>
            </a:p>
          </p:txBody>
        </p:sp>
      </p:grpSp>
      <p:sp>
        <p:nvSpPr>
          <p:cNvPr id="38" name="Freeform 5">
            <a:extLst>
              <a:ext uri="{FF2B5EF4-FFF2-40B4-BE49-F238E27FC236}">
                <a16:creationId xmlns:a16="http://schemas.microsoft.com/office/drawing/2014/main" id="{B37A70C0-599D-1D61-E2B2-716DD059C326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5093726" y="5460996"/>
            <a:ext cx="294635" cy="296831"/>
          </a:xfrm>
          <a:custGeom>
            <a:avLst/>
            <a:gdLst>
              <a:gd name="T0" fmla="*/ 159 w 317"/>
              <a:gd name="T1" fmla="*/ 0 h 317"/>
              <a:gd name="T2" fmla="*/ 317 w 317"/>
              <a:gd name="T3" fmla="*/ 158 h 317"/>
              <a:gd name="T4" fmla="*/ 159 w 317"/>
              <a:gd name="T5" fmla="*/ 317 h 317"/>
              <a:gd name="T6" fmla="*/ 0 w 317"/>
              <a:gd name="T7" fmla="*/ 158 h 317"/>
              <a:gd name="T8" fmla="*/ 159 w 317"/>
              <a:gd name="T9" fmla="*/ 0 h 317"/>
              <a:gd name="T10" fmla="*/ 135 w 317"/>
              <a:gd name="T11" fmla="*/ 183 h 317"/>
              <a:gd name="T12" fmla="*/ 239 w 317"/>
              <a:gd name="T13" fmla="*/ 183 h 317"/>
              <a:gd name="T14" fmla="*/ 240 w 317"/>
              <a:gd name="T15" fmla="*/ 133 h 317"/>
              <a:gd name="T16" fmla="*/ 135 w 317"/>
              <a:gd name="T17" fmla="*/ 134 h 317"/>
              <a:gd name="T18" fmla="*/ 154 w 317"/>
              <a:gd name="T19" fmla="*/ 117 h 317"/>
              <a:gd name="T20" fmla="*/ 118 w 317"/>
              <a:gd name="T21" fmla="*/ 82 h 317"/>
              <a:gd name="T22" fmla="*/ 49 w 317"/>
              <a:gd name="T23" fmla="*/ 159 h 317"/>
              <a:gd name="T24" fmla="*/ 118 w 317"/>
              <a:gd name="T25" fmla="*/ 235 h 317"/>
              <a:gd name="T26" fmla="*/ 154 w 317"/>
              <a:gd name="T27" fmla="*/ 201 h 317"/>
              <a:gd name="T28" fmla="*/ 135 w 317"/>
              <a:gd name="T29" fmla="*/ 183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7" h="317">
                <a:moveTo>
                  <a:pt x="159" y="0"/>
                </a:moveTo>
                <a:cubicBezTo>
                  <a:pt x="246" y="0"/>
                  <a:pt x="317" y="71"/>
                  <a:pt x="317" y="158"/>
                </a:cubicBezTo>
                <a:cubicBezTo>
                  <a:pt x="317" y="246"/>
                  <a:pt x="246" y="317"/>
                  <a:pt x="159" y="317"/>
                </a:cubicBezTo>
                <a:cubicBezTo>
                  <a:pt x="71" y="317"/>
                  <a:pt x="0" y="246"/>
                  <a:pt x="0" y="158"/>
                </a:cubicBezTo>
                <a:cubicBezTo>
                  <a:pt x="0" y="71"/>
                  <a:pt x="71" y="0"/>
                  <a:pt x="159" y="0"/>
                </a:cubicBezTo>
                <a:close/>
                <a:moveTo>
                  <a:pt x="135" y="183"/>
                </a:moveTo>
                <a:cubicBezTo>
                  <a:pt x="239" y="183"/>
                  <a:pt x="239" y="183"/>
                  <a:pt x="239" y="183"/>
                </a:cubicBezTo>
                <a:cubicBezTo>
                  <a:pt x="277" y="183"/>
                  <a:pt x="277" y="133"/>
                  <a:pt x="240" y="133"/>
                </a:cubicBezTo>
                <a:cubicBezTo>
                  <a:pt x="135" y="134"/>
                  <a:pt x="135" y="134"/>
                  <a:pt x="135" y="134"/>
                </a:cubicBezTo>
                <a:cubicBezTo>
                  <a:pt x="142" y="128"/>
                  <a:pt x="148" y="122"/>
                  <a:pt x="154" y="117"/>
                </a:cubicBezTo>
                <a:cubicBezTo>
                  <a:pt x="181" y="88"/>
                  <a:pt x="143" y="52"/>
                  <a:pt x="118" y="82"/>
                </a:cubicBezTo>
                <a:cubicBezTo>
                  <a:pt x="49" y="159"/>
                  <a:pt x="49" y="159"/>
                  <a:pt x="49" y="159"/>
                </a:cubicBezTo>
                <a:cubicBezTo>
                  <a:pt x="118" y="235"/>
                  <a:pt x="118" y="235"/>
                  <a:pt x="118" y="235"/>
                </a:cubicBezTo>
                <a:cubicBezTo>
                  <a:pt x="143" y="266"/>
                  <a:pt x="182" y="227"/>
                  <a:pt x="154" y="201"/>
                </a:cubicBezTo>
                <a:cubicBezTo>
                  <a:pt x="135" y="183"/>
                  <a:pt x="135" y="183"/>
                  <a:pt x="135" y="183"/>
                </a:cubicBezTo>
                <a:close/>
              </a:path>
            </a:pathLst>
          </a:custGeom>
          <a:solidFill>
            <a:srgbClr val="58A7A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3D9F9B5-B0C7-592A-A331-610C8FAE4688}"/>
              </a:ext>
            </a:extLst>
          </p:cNvPr>
          <p:cNvSpPr/>
          <p:nvPr/>
        </p:nvSpPr>
        <p:spPr bwMode="auto">
          <a:xfrm>
            <a:off x="5779008" y="5449396"/>
            <a:ext cx="3520440" cy="2968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58A7AE"/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8A7AE"/>
                </a:solidFill>
                <a:latin typeface="+mn-ea"/>
              </a:rPr>
              <a:t>5</a:t>
            </a:r>
            <a:r>
              <a:rPr lang="ko-KR" altLang="en-US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8A7AE"/>
                </a:solidFill>
                <a:latin typeface="+mn-ea"/>
              </a:rPr>
              <a:t>대 핵심 성공요인을 바탕으로</a:t>
            </a:r>
            <a:r>
              <a:rPr lang="en-US" altLang="ko-KR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8A7AE"/>
                </a:solidFill>
                <a:latin typeface="+mn-ea"/>
              </a:rPr>
              <a:t>,</a:t>
            </a:r>
            <a:r>
              <a:rPr lang="ko-KR" altLang="en-US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8A7AE"/>
                </a:solidFill>
                <a:latin typeface="+mn-ea"/>
              </a:rPr>
              <a:t> </a:t>
            </a:r>
            <a:r>
              <a:rPr lang="en-US" altLang="ko-KR" sz="12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8A7AE"/>
                </a:solidFill>
                <a:latin typeface="+mn-ea"/>
              </a:rPr>
              <a:t>2026</a:t>
            </a:r>
            <a:r>
              <a:rPr lang="ko-KR" altLang="en-US" sz="12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8A7AE"/>
                </a:solidFill>
                <a:latin typeface="+mn-ea"/>
              </a:rPr>
              <a:t>년 사업계획 수립</a:t>
            </a:r>
            <a:endParaRPr lang="ko-KR" altLang="en-US" sz="1200" b="1" kern="0" spc="-100" dirty="0">
              <a:solidFill>
                <a:srgbClr val="58A7A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3530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FDA8-484B-7E45-A1D8-C46E169F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5B88217-3554-F143-9932-633F5AF0A709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Green</a:t>
            </a:r>
            <a:r>
              <a:rPr lang="en-US" altLang="ko-KR" spc="-3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en-US" altLang="ko-KR" spc="-3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Digital</a:t>
            </a:r>
            <a:r>
              <a:rPr lang="en-US" altLang="ko-KR" spc="-3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en-US" altLang="ko-KR" spc="-3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시대의 산업전환을 주도하는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G-DAX </a:t>
            </a:r>
            <a:r>
              <a:rPr lang="ko-KR" altLang="en-US" spc="-3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네비게이터의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비전과 실행 전략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2923ED-8171-0416-7DBA-76774D4D2FE4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비전 및 미션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484D0B-CD12-C38E-D65F-B3411C1DEF87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위기를 기회로 전환하는 데이터 기반 진단으로 기업의 지속가능한 생존을 보장하고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노사가 함께하는 정의로운 전환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(Just Transition)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을 통해 대한민국 일자리 전환의 새로운 표준을 제시함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A26359-2B9E-BA94-0B39-20D0DF9640A6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0" tIns="0" rIns="0" bIns="0" rtlCol="0" anchor="ctr"/>
          <a:lstStyle/>
          <a:p>
            <a:pPr algn="ctr" defTabSz="914400"/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명확한 비전으로 방향을 제시하고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실행 가능한 미션으로 변화를 현실화합니다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</a:p>
          <a:p>
            <a:pPr algn="ctr" defTabSz="914400"/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차별화된 방향성과 체계화된 추진전략으로 산업전환을 ‘설계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–</a:t>
            </a:r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수행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–</a:t>
            </a:r>
            <a:r>
              <a:rPr lang="ko-KR" altLang="en-US" sz="1300" b="1" kern="0" spc="-7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이행’까지</a:t>
            </a:r>
            <a:r>
              <a:rPr lang="ko-KR" altLang="en-US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 완결합니다</a:t>
            </a:r>
            <a:r>
              <a:rPr lang="en-US" altLang="ko-KR" sz="1300" b="1" kern="0" spc="-7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7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1FDF47-F44C-5371-2422-9D0744FA5AE0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타당성 및 적절성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07536888-5D77-0956-2CC6-AD262AF616D1}"/>
              </a:ext>
            </a:extLst>
          </p:cNvPr>
          <p:cNvSpPr/>
          <p:nvPr/>
        </p:nvSpPr>
        <p:spPr bwMode="auto">
          <a:xfrm>
            <a:off x="410035" y="2218334"/>
            <a:ext cx="500594" cy="57289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dirty="0">
                <a:solidFill>
                  <a:schemeClr val="bg1"/>
                </a:solidFill>
                <a:latin typeface="+mn-ea"/>
              </a:rPr>
              <a:t>비전</a:t>
            </a:r>
            <a:endParaRPr kumimoji="0" lang="ko-KR" altLang="en-US" sz="1050" b="1" i="0" u="none" strike="noStrike" kern="0" cap="none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0DFD7C23-9315-BCCD-AC1B-997F6D3C0A91}"/>
              </a:ext>
            </a:extLst>
          </p:cNvPr>
          <p:cNvSpPr/>
          <p:nvPr/>
        </p:nvSpPr>
        <p:spPr bwMode="auto">
          <a:xfrm>
            <a:off x="910629" y="2218334"/>
            <a:ext cx="4042371" cy="57289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2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‘</a:t>
            </a:r>
            <a:r>
              <a:rPr lang="en-US" altLang="ko-KR" sz="1200" b="1" kern="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Green·Digital·AI</a:t>
            </a:r>
            <a:r>
              <a:rPr lang="ko-KR" altLang="en-US" sz="12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의 파고를 넘는 </a:t>
            </a:r>
            <a:r>
              <a:rPr lang="en-US" altLang="ko-KR" sz="12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200" b="1" kern="0" spc="-7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네비게이터</a:t>
            </a:r>
            <a:r>
              <a:rPr lang="ko-KR" altLang="en-US" sz="12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’</a:t>
            </a:r>
          </a:p>
          <a:p>
            <a:pPr algn="ctr" defTabSz="914400"/>
            <a:r>
              <a:rPr lang="en-US" altLang="ko-KR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대한민국 일자리 전환의 새로운 표준</a:t>
            </a:r>
            <a:r>
              <a:rPr lang="en-US" altLang="ko-KR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endParaRPr kumimoji="0" lang="ko-KR" altLang="en-US" sz="1050" i="0" u="none" strike="noStrike" kern="0" cap="none" spc="-70" normalizeH="0" noProof="0" dirty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6FD8C5C5-52AB-AC2C-FB11-0FA27577CF5C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5092696" y="2192515"/>
            <a:ext cx="172708" cy="173995"/>
          </a:xfrm>
          <a:custGeom>
            <a:avLst/>
            <a:gdLst>
              <a:gd name="T0" fmla="*/ 159 w 317"/>
              <a:gd name="T1" fmla="*/ 0 h 317"/>
              <a:gd name="T2" fmla="*/ 317 w 317"/>
              <a:gd name="T3" fmla="*/ 158 h 317"/>
              <a:gd name="T4" fmla="*/ 159 w 317"/>
              <a:gd name="T5" fmla="*/ 317 h 317"/>
              <a:gd name="T6" fmla="*/ 0 w 317"/>
              <a:gd name="T7" fmla="*/ 158 h 317"/>
              <a:gd name="T8" fmla="*/ 159 w 317"/>
              <a:gd name="T9" fmla="*/ 0 h 317"/>
              <a:gd name="T10" fmla="*/ 135 w 317"/>
              <a:gd name="T11" fmla="*/ 183 h 317"/>
              <a:gd name="T12" fmla="*/ 239 w 317"/>
              <a:gd name="T13" fmla="*/ 183 h 317"/>
              <a:gd name="T14" fmla="*/ 240 w 317"/>
              <a:gd name="T15" fmla="*/ 133 h 317"/>
              <a:gd name="T16" fmla="*/ 135 w 317"/>
              <a:gd name="T17" fmla="*/ 134 h 317"/>
              <a:gd name="T18" fmla="*/ 154 w 317"/>
              <a:gd name="T19" fmla="*/ 117 h 317"/>
              <a:gd name="T20" fmla="*/ 118 w 317"/>
              <a:gd name="T21" fmla="*/ 82 h 317"/>
              <a:gd name="T22" fmla="*/ 49 w 317"/>
              <a:gd name="T23" fmla="*/ 159 h 317"/>
              <a:gd name="T24" fmla="*/ 118 w 317"/>
              <a:gd name="T25" fmla="*/ 235 h 317"/>
              <a:gd name="T26" fmla="*/ 154 w 317"/>
              <a:gd name="T27" fmla="*/ 201 h 317"/>
              <a:gd name="T28" fmla="*/ 135 w 317"/>
              <a:gd name="T29" fmla="*/ 183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7" h="317">
                <a:moveTo>
                  <a:pt x="159" y="0"/>
                </a:moveTo>
                <a:cubicBezTo>
                  <a:pt x="246" y="0"/>
                  <a:pt x="317" y="71"/>
                  <a:pt x="317" y="158"/>
                </a:cubicBezTo>
                <a:cubicBezTo>
                  <a:pt x="317" y="246"/>
                  <a:pt x="246" y="317"/>
                  <a:pt x="159" y="317"/>
                </a:cubicBezTo>
                <a:cubicBezTo>
                  <a:pt x="71" y="317"/>
                  <a:pt x="0" y="246"/>
                  <a:pt x="0" y="158"/>
                </a:cubicBezTo>
                <a:cubicBezTo>
                  <a:pt x="0" y="71"/>
                  <a:pt x="71" y="0"/>
                  <a:pt x="159" y="0"/>
                </a:cubicBezTo>
                <a:close/>
                <a:moveTo>
                  <a:pt x="135" y="183"/>
                </a:moveTo>
                <a:cubicBezTo>
                  <a:pt x="239" y="183"/>
                  <a:pt x="239" y="183"/>
                  <a:pt x="239" y="183"/>
                </a:cubicBezTo>
                <a:cubicBezTo>
                  <a:pt x="277" y="183"/>
                  <a:pt x="277" y="133"/>
                  <a:pt x="240" y="133"/>
                </a:cubicBezTo>
                <a:cubicBezTo>
                  <a:pt x="135" y="134"/>
                  <a:pt x="135" y="134"/>
                  <a:pt x="135" y="134"/>
                </a:cubicBezTo>
                <a:cubicBezTo>
                  <a:pt x="142" y="128"/>
                  <a:pt x="148" y="122"/>
                  <a:pt x="154" y="117"/>
                </a:cubicBezTo>
                <a:cubicBezTo>
                  <a:pt x="181" y="88"/>
                  <a:pt x="143" y="52"/>
                  <a:pt x="118" y="82"/>
                </a:cubicBezTo>
                <a:cubicBezTo>
                  <a:pt x="49" y="159"/>
                  <a:pt x="49" y="159"/>
                  <a:pt x="49" y="159"/>
                </a:cubicBezTo>
                <a:cubicBezTo>
                  <a:pt x="118" y="235"/>
                  <a:pt x="118" y="235"/>
                  <a:pt x="118" y="235"/>
                </a:cubicBezTo>
                <a:cubicBezTo>
                  <a:pt x="143" y="266"/>
                  <a:pt x="182" y="227"/>
                  <a:pt x="154" y="201"/>
                </a:cubicBezTo>
                <a:cubicBezTo>
                  <a:pt x="135" y="183"/>
                  <a:pt x="135" y="183"/>
                  <a:pt x="135" y="183"/>
                </a:cubicBezTo>
                <a:close/>
              </a:path>
            </a:pathLst>
          </a:custGeom>
          <a:solidFill>
            <a:srgbClr val="5D6DB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1517851-FE83-4C39-B43F-DC4C750937A0}"/>
              </a:ext>
            </a:extLst>
          </p:cNvPr>
          <p:cNvGrpSpPr/>
          <p:nvPr/>
        </p:nvGrpSpPr>
        <p:grpSpPr>
          <a:xfrm>
            <a:off x="5315443" y="2129292"/>
            <a:ext cx="4113849" cy="1104214"/>
            <a:chOff x="4770774" y="1595709"/>
            <a:chExt cx="4113849" cy="1104214"/>
          </a:xfrm>
        </p:grpSpPr>
        <p:sp>
          <p:nvSpPr>
            <p:cNvPr id="9" name="사각형: 둥근 위쪽 모서리 8">
              <a:extLst>
                <a:ext uri="{FF2B5EF4-FFF2-40B4-BE49-F238E27FC236}">
                  <a16:creationId xmlns:a16="http://schemas.microsoft.com/office/drawing/2014/main" id="{8FCD4B64-1EDE-D4E6-3486-58F85261FABF}"/>
                </a:ext>
              </a:extLst>
            </p:cNvPr>
            <p:cNvSpPr/>
            <p:nvPr/>
          </p:nvSpPr>
          <p:spPr bwMode="auto">
            <a:xfrm>
              <a:off x="4770775" y="1595709"/>
              <a:ext cx="1137383" cy="260530"/>
            </a:xfrm>
            <a:prstGeom prst="round2SameRect">
              <a:avLst>
                <a:gd name="adj1" fmla="val 48139"/>
                <a:gd name="adj2" fmla="val 0"/>
              </a:avLst>
            </a:prstGeom>
            <a:solidFill>
              <a:srgbClr val="5D6DBE"/>
            </a:solidFill>
            <a:ln w="3175">
              <a:solidFill>
                <a:srgbClr val="5D6DBE"/>
              </a:solidFill>
              <a:miter lim="800000"/>
              <a:headEnd/>
              <a:tailEnd/>
            </a:ln>
            <a:effectLst/>
          </p:spPr>
          <p:txBody>
            <a:bodyPr wrap="square" lIns="72000" tIns="0" rIns="72000" bIns="0" rtlCol="0" anchor="ctr"/>
            <a:lstStyle/>
            <a:p>
              <a:pPr algn="ctr" defTabSz="914400"/>
              <a:r>
                <a:rPr lang="ko-KR" altLang="en-US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비전의 명확성</a:t>
              </a:r>
              <a:endParaRPr kumimoji="0" lang="ko-KR" altLang="en-US" sz="1050" b="1" i="0" u="none" strike="noStrike" kern="0" cap="none" spc="-7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19CBC5A8-027E-E06C-EB17-9F4E8C31A3E4}"/>
                </a:ext>
              </a:extLst>
            </p:cNvPr>
            <p:cNvSpPr/>
            <p:nvPr/>
          </p:nvSpPr>
          <p:spPr bwMode="auto">
            <a:xfrm>
              <a:off x="4770774" y="1856239"/>
              <a:ext cx="4113849" cy="84368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>
                <a:alpha val="10000"/>
              </a:srgbClr>
            </a:solidFill>
            <a:ln w="3175">
              <a:solidFill>
                <a:srgbClr val="5D6DBE"/>
              </a:solidFill>
              <a:miter lim="800000"/>
              <a:headEnd/>
              <a:tailEnd/>
            </a:ln>
            <a:effectLst/>
          </p:spPr>
          <p:txBody>
            <a:bodyPr wrap="square" lIns="72000" tIns="0" rIns="36000" bIns="0" rtlCol="0" anchor="ctr"/>
            <a:lstStyle/>
            <a:p>
              <a:pPr defTabSz="914400"/>
              <a:r>
                <a:rPr lang="en-US" altLang="ko-KR" sz="100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G-DAX </a:t>
              </a:r>
              <a:r>
                <a:rPr lang="ko-KR" altLang="en-US" sz="1000" b="1" kern="0" spc="-7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네비게이터의</a:t>
              </a:r>
              <a:r>
                <a:rPr lang="ko-KR" altLang="en-US" sz="100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 </a:t>
              </a:r>
              <a:r>
                <a:rPr lang="en-US" altLang="ko-KR" sz="100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3</a:t>
              </a:r>
              <a:r>
                <a:rPr lang="ko-KR" altLang="en-US" sz="100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가지 역할</a:t>
              </a:r>
              <a:endPara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5D6DBE"/>
                </a:solidFill>
                <a:latin typeface="+mn-ea"/>
              </a:endParaRPr>
            </a:p>
            <a:p>
              <a:pPr defTabSz="914400"/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①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Green(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탄소중립 전환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):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기업의 환경 위기를 성장 기회로 전환</a:t>
              </a:r>
            </a:p>
            <a:p>
              <a:pPr defTabSz="914400"/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②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Digital(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디지털 혁신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):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기술 변화로 인한 직무 재편을 체계적으로 관리</a:t>
              </a:r>
            </a:p>
            <a:p>
              <a:pPr defTabSz="914400"/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③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AI(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인공지능 대응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):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미래 고용 변동을 선제적으로 예측하고 대비</a:t>
              </a:r>
            </a:p>
            <a:p>
              <a:pPr defTabSz="914400"/>
              <a:r>
                <a:rPr lang="ko-KR" altLang="en-US" sz="100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</a:t>
              </a:r>
              <a:r>
                <a:rPr lang="en-US" altLang="ko-KR" sz="100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3</a:t>
              </a:r>
              <a:r>
                <a:rPr lang="ko-KR" altLang="en-US" sz="100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가지 거대 변화의 파도를 함께 넘는 신뢰할 수 있는 파트너</a:t>
              </a:r>
            </a:p>
          </p:txBody>
        </p:sp>
      </p:grp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C2580573-B6A6-DF57-12C5-F5A7E0D1D9C0}"/>
              </a:ext>
            </a:extLst>
          </p:cNvPr>
          <p:cNvSpPr/>
          <p:nvPr/>
        </p:nvSpPr>
        <p:spPr bwMode="auto">
          <a:xfrm>
            <a:off x="410034" y="2873465"/>
            <a:ext cx="500594" cy="57289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dirty="0">
                <a:solidFill>
                  <a:schemeClr val="bg1"/>
                </a:solidFill>
                <a:latin typeface="+mn-ea"/>
              </a:rPr>
              <a:t>미션</a:t>
            </a:r>
            <a:endParaRPr kumimoji="0" lang="ko-KR" altLang="en-US" sz="1050" b="1" i="0" u="none" strike="noStrike" kern="0" cap="none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AC897A4A-516C-E1AA-905A-BFA716299DC2}"/>
              </a:ext>
            </a:extLst>
          </p:cNvPr>
          <p:cNvSpPr/>
          <p:nvPr/>
        </p:nvSpPr>
        <p:spPr bwMode="auto">
          <a:xfrm>
            <a:off x="910628" y="2873465"/>
            <a:ext cx="4042371" cy="57289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1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데이터 기반의 입체적 진단과 </a:t>
            </a:r>
            <a:r>
              <a:rPr lang="ko-KR" altLang="en-US" sz="1100" b="1" kern="0" spc="-7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범부처</a:t>
            </a:r>
            <a:r>
              <a:rPr lang="ko-KR" altLang="en-US" sz="11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정책 연결</a:t>
            </a:r>
          </a:p>
          <a:p>
            <a:pPr algn="ctr" defTabSz="914400"/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기업의 지속가능한 생존과 근로자의 정의로운 전환</a:t>
            </a:r>
            <a:r>
              <a:rPr lang="en-US" altLang="ko-KR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(Just Transition) </a:t>
            </a:r>
            <a:r>
              <a:rPr lang="ko-KR" altLang="en-US" sz="105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실현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5085BF2-383D-B1AA-3AA7-26610D6B8204}"/>
              </a:ext>
            </a:extLst>
          </p:cNvPr>
          <p:cNvGrpSpPr/>
          <p:nvPr/>
        </p:nvGrpSpPr>
        <p:grpSpPr>
          <a:xfrm>
            <a:off x="5315444" y="3333229"/>
            <a:ext cx="4113850" cy="1264069"/>
            <a:chOff x="4770775" y="1595709"/>
            <a:chExt cx="4113850" cy="1264069"/>
          </a:xfrm>
        </p:grpSpPr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id="{408C5FB8-A2EB-EA9F-4B96-0A49BC8A0B57}"/>
                </a:ext>
              </a:extLst>
            </p:cNvPr>
            <p:cNvSpPr/>
            <p:nvPr/>
          </p:nvSpPr>
          <p:spPr bwMode="auto">
            <a:xfrm>
              <a:off x="4770775" y="1595709"/>
              <a:ext cx="1137383" cy="260530"/>
            </a:xfrm>
            <a:prstGeom prst="round2SameRect">
              <a:avLst>
                <a:gd name="adj1" fmla="val 48139"/>
                <a:gd name="adj2" fmla="val 0"/>
              </a:avLst>
            </a:prstGeom>
            <a:solidFill>
              <a:srgbClr val="5D6DBE"/>
            </a:solidFill>
            <a:ln w="3175">
              <a:solidFill>
                <a:srgbClr val="5D6DBE"/>
              </a:solidFill>
              <a:miter lim="800000"/>
              <a:headEnd/>
              <a:tailEnd/>
            </a:ln>
            <a:effectLst/>
          </p:spPr>
          <p:txBody>
            <a:bodyPr wrap="square" lIns="72000" tIns="0" rIns="72000" bIns="0" rtlCol="0" anchor="ctr"/>
            <a:lstStyle/>
            <a:p>
              <a:pPr algn="ctr" defTabSz="914400"/>
              <a:r>
                <a:rPr lang="ko-KR" altLang="en-US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미션의 실행력</a:t>
              </a:r>
              <a:endParaRPr kumimoji="0" lang="ko-KR" altLang="en-US" sz="1050" b="1" i="0" u="none" strike="noStrike" kern="0" cap="none" spc="-7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A0EB6F7F-D361-E0C6-A529-1934DD2F73FD}"/>
                </a:ext>
              </a:extLst>
            </p:cNvPr>
            <p:cNvSpPr/>
            <p:nvPr/>
          </p:nvSpPr>
          <p:spPr bwMode="auto">
            <a:xfrm>
              <a:off x="4770775" y="1856239"/>
              <a:ext cx="4113850" cy="100353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>
                <a:alpha val="10000"/>
              </a:srgbClr>
            </a:solidFill>
            <a:ln w="3175">
              <a:solidFill>
                <a:srgbClr val="5D6DBE"/>
              </a:solidFill>
              <a:miter lim="800000"/>
              <a:headEnd/>
              <a:tailEnd/>
            </a:ln>
            <a:effectLst/>
          </p:spPr>
          <p:txBody>
            <a:bodyPr wrap="square" lIns="72000" tIns="0" rIns="36000" bIns="0" rtlCol="0" anchor="ctr"/>
            <a:lstStyle/>
            <a:p>
              <a:pPr defTabSz="914400"/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① 데이터 기반 입체적 진단</a:t>
              </a:r>
              <a:r>
                <a:rPr lang="en-US" altLang="ko-KR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:  </a:t>
              </a:r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위기 징후 조기 포착 </a:t>
              </a:r>
              <a:r>
                <a:rPr lang="en-US" altLang="ko-KR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미래 고용변동 예측</a:t>
              </a:r>
            </a:p>
            <a:p>
              <a:pPr defTabSz="914400"/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  → 사후 대응이 아닌 사전 예방의 경영</a:t>
              </a:r>
            </a:p>
            <a:p>
              <a:pPr defTabSz="914400"/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② </a:t>
              </a:r>
              <a:r>
                <a:rPr lang="ko-KR" altLang="en-US" sz="1000" kern="0" spc="-8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범부처</a:t>
              </a:r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정책 연결</a:t>
              </a:r>
              <a:r>
                <a:rPr lang="en-US" altLang="ko-KR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: </a:t>
              </a:r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부처별 지원사업 연계를 통한 정책 </a:t>
              </a:r>
              <a:r>
                <a:rPr lang="ko-KR" altLang="en-US" sz="1000" kern="0" spc="-8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브릿지</a:t>
              </a:r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수행</a:t>
              </a:r>
            </a:p>
            <a:p>
              <a:pPr defTabSz="914400"/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  → 정부 지원을 최대한 활용한 최적 솔루션</a:t>
              </a:r>
            </a:p>
            <a:p>
              <a:pPr defTabSz="914400"/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③ 노사 상생형 전환</a:t>
              </a:r>
              <a:r>
                <a:rPr lang="en-US" altLang="ko-KR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: </a:t>
              </a:r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노사가 함께 전환 주체가 되는 모델</a:t>
              </a:r>
            </a:p>
            <a:p>
              <a:pPr defTabSz="914400"/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  → 갈등 없이 성과를 내는 신뢰 기반 추진</a:t>
              </a:r>
            </a:p>
          </p:txBody>
        </p:sp>
      </p:grp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873CDF3B-7795-F2EB-D325-BCAD515B7162}"/>
              </a:ext>
            </a:extLst>
          </p:cNvPr>
          <p:cNvSpPr/>
          <p:nvPr/>
        </p:nvSpPr>
        <p:spPr bwMode="auto">
          <a:xfrm>
            <a:off x="416094" y="3569615"/>
            <a:ext cx="500594" cy="72013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kumimoji="0" lang="ko-KR" altLang="en-US" sz="1050" b="1" i="0" u="none" strike="noStrike" kern="0" cap="none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방향성</a:t>
            </a: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6EA3E147-BBC1-5EC8-C51E-240B1D1C0C49}"/>
              </a:ext>
            </a:extLst>
          </p:cNvPr>
          <p:cNvSpPr/>
          <p:nvPr/>
        </p:nvSpPr>
        <p:spPr bwMode="auto">
          <a:xfrm>
            <a:off x="916688" y="3569615"/>
            <a:ext cx="4042371" cy="72013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endParaRPr lang="ko-KR" altLang="en-US" sz="1050" kern="0" spc="-7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08ED556-FBC3-2CDA-9484-13C6B1DAF45A}"/>
              </a:ext>
            </a:extLst>
          </p:cNvPr>
          <p:cNvGrpSpPr/>
          <p:nvPr/>
        </p:nvGrpSpPr>
        <p:grpSpPr>
          <a:xfrm>
            <a:off x="5298254" y="4658383"/>
            <a:ext cx="4131039" cy="1185423"/>
            <a:chOff x="4770775" y="1595709"/>
            <a:chExt cx="4131039" cy="1185423"/>
          </a:xfrm>
        </p:grpSpPr>
        <p:sp>
          <p:nvSpPr>
            <p:cNvPr id="21" name="사각형: 둥근 위쪽 모서리 20">
              <a:extLst>
                <a:ext uri="{FF2B5EF4-FFF2-40B4-BE49-F238E27FC236}">
                  <a16:creationId xmlns:a16="http://schemas.microsoft.com/office/drawing/2014/main" id="{5DCECC09-CC18-840F-4CBE-F682C5518A6E}"/>
                </a:ext>
              </a:extLst>
            </p:cNvPr>
            <p:cNvSpPr/>
            <p:nvPr/>
          </p:nvSpPr>
          <p:spPr bwMode="auto">
            <a:xfrm>
              <a:off x="4770775" y="1595709"/>
              <a:ext cx="1137383" cy="260530"/>
            </a:xfrm>
            <a:prstGeom prst="round2SameRect">
              <a:avLst>
                <a:gd name="adj1" fmla="val 48139"/>
                <a:gd name="adj2" fmla="val 0"/>
              </a:avLst>
            </a:prstGeom>
            <a:solidFill>
              <a:srgbClr val="5D6DBE"/>
            </a:solidFill>
            <a:ln w="3175">
              <a:solidFill>
                <a:srgbClr val="5D6DBE"/>
              </a:solidFill>
              <a:miter lim="800000"/>
              <a:headEnd/>
              <a:tailEnd/>
            </a:ln>
            <a:effectLst/>
          </p:spPr>
          <p:txBody>
            <a:bodyPr wrap="square" lIns="72000" tIns="0" rIns="72000" bIns="0" rtlCol="0" anchor="ctr"/>
            <a:lstStyle/>
            <a:p>
              <a:pPr algn="ctr" defTabSz="914400"/>
              <a:r>
                <a:rPr lang="ko-KR" altLang="en-US" sz="1050" b="1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방향성의 차별성</a:t>
              </a:r>
              <a:endParaRPr kumimoji="0" lang="ko-KR" altLang="en-US" sz="1050" b="1" i="0" u="none" strike="noStrike" kern="0" cap="none" spc="-7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2" name="사각형: 둥근 위쪽 모서리 21">
              <a:extLst>
                <a:ext uri="{FF2B5EF4-FFF2-40B4-BE49-F238E27FC236}">
                  <a16:creationId xmlns:a16="http://schemas.microsoft.com/office/drawing/2014/main" id="{74E2AD32-8925-2F23-628E-1FC195464AE4}"/>
                </a:ext>
              </a:extLst>
            </p:cNvPr>
            <p:cNvSpPr/>
            <p:nvPr/>
          </p:nvSpPr>
          <p:spPr bwMode="auto">
            <a:xfrm>
              <a:off x="4770775" y="1856239"/>
              <a:ext cx="4131039" cy="92489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>
                <a:alpha val="10000"/>
              </a:srgbClr>
            </a:solidFill>
            <a:ln w="3175">
              <a:solidFill>
                <a:srgbClr val="5D6DBE"/>
              </a:solidFill>
              <a:miter lim="800000"/>
              <a:headEnd/>
              <a:tailEnd/>
            </a:ln>
            <a:effectLst/>
          </p:spPr>
          <p:txBody>
            <a:bodyPr wrap="square" lIns="72000" tIns="0" rIns="36000" bIns="0" rtlCol="0" anchor="ctr"/>
            <a:lstStyle/>
            <a:p>
              <a:pPr defTabSz="914400"/>
              <a:r>
                <a:rPr lang="en-US" altLang="ko-KR" sz="1000" b="1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4</a:t>
              </a:r>
              <a:r>
                <a:rPr lang="ko-KR" altLang="en-US" sz="1000" b="1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가지 핵심 방향으로 차별화된 접근</a:t>
              </a:r>
            </a:p>
            <a:p>
              <a:pPr defTabSz="914400"/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① 사전진단 기반 선제발굴→ 기업의 숨겨진 변화 수요를 조기에 발굴</a:t>
              </a:r>
            </a:p>
            <a:p>
              <a:pPr defTabSz="914400"/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② 융합 솔루션 </a:t>
              </a:r>
              <a:r>
                <a:rPr lang="en-US" altLang="ko-KR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(Biz-Tech-People)→ </a:t>
              </a:r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경영</a:t>
              </a:r>
              <a:r>
                <a:rPr lang="en-US" altLang="ko-KR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기술</a:t>
              </a:r>
              <a:r>
                <a:rPr lang="en-US" altLang="ko-KR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인력 전 분야의 통합적 대응</a:t>
              </a:r>
            </a:p>
            <a:p>
              <a:pPr defTabSz="914400"/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③ </a:t>
              </a:r>
              <a:r>
                <a:rPr lang="ko-KR" altLang="en-US" sz="1000" kern="0" spc="-8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범부처</a:t>
              </a:r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지원 연결→ 부처 간 단절을 없애는 정책 </a:t>
              </a:r>
              <a:r>
                <a:rPr lang="ko-KR" altLang="en-US" sz="1000" kern="0" spc="-8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브릿지</a:t>
              </a:r>
              <a:endParaRPr lang="ko-KR" altLang="en-US" sz="1000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defTabSz="914400"/>
              <a:r>
                <a:rPr lang="ko-KR" altLang="en-US" sz="1000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④ 노사 상생형 정의로운 전환→ 함께하는 전환으로 신뢰와 성과를 동시 달성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075336B-2BCC-0232-A032-EBC07335E1ED}"/>
              </a:ext>
            </a:extLst>
          </p:cNvPr>
          <p:cNvGrpSpPr/>
          <p:nvPr/>
        </p:nvGrpSpPr>
        <p:grpSpPr>
          <a:xfrm>
            <a:off x="1037090" y="3713621"/>
            <a:ext cx="3789445" cy="474027"/>
            <a:chOff x="1038194" y="3758452"/>
            <a:chExt cx="4133063" cy="429196"/>
          </a:xfrm>
        </p:grpSpPr>
        <p:sp>
          <p:nvSpPr>
            <p:cNvPr id="24" name="사각형: 둥근 위쪽 모서리 23">
              <a:extLst>
                <a:ext uri="{FF2B5EF4-FFF2-40B4-BE49-F238E27FC236}">
                  <a16:creationId xmlns:a16="http://schemas.microsoft.com/office/drawing/2014/main" id="{E1ADDC84-54A8-93EB-DB4F-2EE3B18F7E5F}"/>
                </a:ext>
              </a:extLst>
            </p:cNvPr>
            <p:cNvSpPr/>
            <p:nvPr/>
          </p:nvSpPr>
          <p:spPr bwMode="auto">
            <a:xfrm>
              <a:off x="1038194" y="3758452"/>
              <a:ext cx="987279" cy="42919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사전진단 기반 선제발굴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id="{8B717367-5190-B93C-FC3D-FC7FE7D04CCC}"/>
                </a:ext>
              </a:extLst>
            </p:cNvPr>
            <p:cNvSpPr/>
            <p:nvPr/>
          </p:nvSpPr>
          <p:spPr bwMode="auto">
            <a:xfrm>
              <a:off x="2087914" y="3758452"/>
              <a:ext cx="987279" cy="42919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융합 </a:t>
              </a:r>
              <a:endParaRPr lang="en-US" altLang="ko-KR" sz="100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솔루션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AF50A504-1499-6755-0838-E9F90B1B3114}"/>
                </a:ext>
              </a:extLst>
            </p:cNvPr>
            <p:cNvSpPr/>
            <p:nvPr/>
          </p:nvSpPr>
          <p:spPr bwMode="auto">
            <a:xfrm>
              <a:off x="3134258" y="3758452"/>
              <a:ext cx="987279" cy="42919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 err="1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범부처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 지원 연결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497A1740-1935-C82A-E865-4F4ED6DCB9BF}"/>
                </a:ext>
              </a:extLst>
            </p:cNvPr>
            <p:cNvSpPr/>
            <p:nvPr/>
          </p:nvSpPr>
          <p:spPr bwMode="auto">
            <a:xfrm>
              <a:off x="4183978" y="3758452"/>
              <a:ext cx="987279" cy="42919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노사 상생형 정의로운 전환</a:t>
              </a:r>
            </a:p>
          </p:txBody>
        </p:sp>
      </p:grp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003DB03D-00C3-33D7-5790-4C738A528DD0}"/>
              </a:ext>
            </a:extLst>
          </p:cNvPr>
          <p:cNvSpPr/>
          <p:nvPr/>
        </p:nvSpPr>
        <p:spPr bwMode="auto">
          <a:xfrm>
            <a:off x="410034" y="4356048"/>
            <a:ext cx="500594" cy="1487758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dirty="0">
                <a:solidFill>
                  <a:schemeClr val="bg1"/>
                </a:solidFill>
                <a:latin typeface="+mn-ea"/>
              </a:rPr>
              <a:t>추진</a:t>
            </a:r>
            <a:endParaRPr lang="en-US" altLang="ko-KR" sz="1050" b="1" kern="0" dirty="0">
              <a:solidFill>
                <a:schemeClr val="bg1"/>
              </a:solidFill>
              <a:latin typeface="+mn-ea"/>
            </a:endParaRPr>
          </a:p>
          <a:p>
            <a:pPr algn="ctr" defTabSz="914400"/>
            <a:r>
              <a:rPr kumimoji="0" lang="ko-KR" altLang="en-US" sz="1050" b="1" i="0" u="none" strike="noStrike" kern="0" cap="none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전략</a:t>
            </a:r>
          </a:p>
        </p:txBody>
      </p:sp>
      <p:sp>
        <p:nvSpPr>
          <p:cNvPr id="31" name="사각형: 둥근 위쪽 모서리 30">
            <a:extLst>
              <a:ext uri="{FF2B5EF4-FFF2-40B4-BE49-F238E27FC236}">
                <a16:creationId xmlns:a16="http://schemas.microsoft.com/office/drawing/2014/main" id="{45150898-5089-1225-F1C8-5CB20616D08F}"/>
              </a:ext>
            </a:extLst>
          </p:cNvPr>
          <p:cNvSpPr/>
          <p:nvPr/>
        </p:nvSpPr>
        <p:spPr bwMode="auto">
          <a:xfrm>
            <a:off x="910628" y="4356048"/>
            <a:ext cx="4042371" cy="148775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endParaRPr lang="ko-KR" altLang="en-US" sz="1050" kern="0" spc="-7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4F674DE-F445-CA5F-5C5B-C7C1B8067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99" y="4626692"/>
            <a:ext cx="2911663" cy="1161299"/>
          </a:xfrm>
          <a:prstGeom prst="rect">
            <a:avLst/>
          </a:prstGeom>
        </p:spPr>
      </p:pic>
      <p:sp>
        <p:nvSpPr>
          <p:cNvPr id="38" name="사각형: 둥근 위쪽 모서리 37">
            <a:extLst>
              <a:ext uri="{FF2B5EF4-FFF2-40B4-BE49-F238E27FC236}">
                <a16:creationId xmlns:a16="http://schemas.microsoft.com/office/drawing/2014/main" id="{7A9CB87A-8585-B7C5-9675-43D90936437E}"/>
              </a:ext>
            </a:extLst>
          </p:cNvPr>
          <p:cNvSpPr/>
          <p:nvPr/>
        </p:nvSpPr>
        <p:spPr bwMode="auto">
          <a:xfrm>
            <a:off x="4061290" y="4525846"/>
            <a:ext cx="787480" cy="428875"/>
          </a:xfrm>
          <a:prstGeom prst="round2SameRect">
            <a:avLst>
              <a:gd name="adj1" fmla="val 31082"/>
              <a:gd name="adj2" fmla="val 0"/>
            </a:avLst>
          </a:prstGeom>
          <a:solidFill>
            <a:srgbClr val="5D6DBE"/>
          </a:solidFill>
          <a:ln w="3175">
            <a:solidFill>
              <a:srgbClr val="5D6DBE"/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algn="ctr" defTabSz="914400"/>
            <a:r>
              <a:rPr kumimoji="0" lang="ko-KR" altLang="en-US" sz="1050" b="1" i="0" u="none" strike="noStrike" kern="0" cap="none" spc="-7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추진전략</a:t>
            </a:r>
            <a:endParaRPr kumimoji="0" lang="en-US" altLang="ko-KR" sz="1050" b="1" i="0" u="none" strike="noStrike" kern="0" cap="none" spc="-7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  <a:p>
            <a:pPr algn="ctr" defTabSz="914400"/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체계성</a:t>
            </a:r>
            <a:endParaRPr kumimoji="0" lang="ko-KR" altLang="en-US" sz="1050" b="1" i="0" u="none" strike="noStrike" kern="0" cap="none" spc="-7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995885-232F-0FDF-5511-ED569FE79586}"/>
              </a:ext>
            </a:extLst>
          </p:cNvPr>
          <p:cNvSpPr txBox="1"/>
          <p:nvPr/>
        </p:nvSpPr>
        <p:spPr>
          <a:xfrm>
            <a:off x="984840" y="4367419"/>
            <a:ext cx="2692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KSA-T.R.A.N.S.F.O.R.M</a:t>
            </a:r>
          </a:p>
        </p:txBody>
      </p:sp>
      <p:sp>
        <p:nvSpPr>
          <p:cNvPr id="43" name="사각형: 둥근 위쪽 모서리 42">
            <a:extLst>
              <a:ext uri="{FF2B5EF4-FFF2-40B4-BE49-F238E27FC236}">
                <a16:creationId xmlns:a16="http://schemas.microsoft.com/office/drawing/2014/main" id="{1F903526-5428-739B-8F10-AB81229105B3}"/>
              </a:ext>
            </a:extLst>
          </p:cNvPr>
          <p:cNvSpPr/>
          <p:nvPr/>
        </p:nvSpPr>
        <p:spPr bwMode="auto">
          <a:xfrm>
            <a:off x="4061291" y="4954722"/>
            <a:ext cx="787480" cy="79021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>
              <a:alpha val="10000"/>
            </a:srgbClr>
          </a:solidFill>
          <a:ln w="3175">
            <a:solidFill>
              <a:srgbClr val="5D6DBE"/>
            </a:solidFill>
            <a:miter lim="800000"/>
            <a:headEnd/>
            <a:tailEnd/>
          </a:ln>
          <a:effectLst/>
        </p:spPr>
        <p:txBody>
          <a:bodyPr wrap="square" lIns="0" tIns="0" rIns="0" bIns="0" rtlCol="0" anchor="ctr"/>
          <a:lstStyle/>
          <a:p>
            <a:pPr algn="ctr" defTabSz="914400"/>
            <a:r>
              <a:rPr lang="en-US" altLang="ko-KR" sz="10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0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표준화된 프로세스</a:t>
            </a:r>
            <a:r>
              <a:rPr lang="en-US" altLang="ko-KR" sz="10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0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로 일관성 있는 성과 도출</a:t>
            </a:r>
            <a:endParaRPr lang="ko-KR" altLang="en-US" sz="1000" kern="0" spc="-8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291A9970-9DA3-FF34-B61F-51BFFC6AB5A7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5098514" y="3383474"/>
            <a:ext cx="172708" cy="173995"/>
          </a:xfrm>
          <a:custGeom>
            <a:avLst/>
            <a:gdLst>
              <a:gd name="T0" fmla="*/ 159 w 317"/>
              <a:gd name="T1" fmla="*/ 0 h 317"/>
              <a:gd name="T2" fmla="*/ 317 w 317"/>
              <a:gd name="T3" fmla="*/ 158 h 317"/>
              <a:gd name="T4" fmla="*/ 159 w 317"/>
              <a:gd name="T5" fmla="*/ 317 h 317"/>
              <a:gd name="T6" fmla="*/ 0 w 317"/>
              <a:gd name="T7" fmla="*/ 158 h 317"/>
              <a:gd name="T8" fmla="*/ 159 w 317"/>
              <a:gd name="T9" fmla="*/ 0 h 317"/>
              <a:gd name="T10" fmla="*/ 135 w 317"/>
              <a:gd name="T11" fmla="*/ 183 h 317"/>
              <a:gd name="T12" fmla="*/ 239 w 317"/>
              <a:gd name="T13" fmla="*/ 183 h 317"/>
              <a:gd name="T14" fmla="*/ 240 w 317"/>
              <a:gd name="T15" fmla="*/ 133 h 317"/>
              <a:gd name="T16" fmla="*/ 135 w 317"/>
              <a:gd name="T17" fmla="*/ 134 h 317"/>
              <a:gd name="T18" fmla="*/ 154 w 317"/>
              <a:gd name="T19" fmla="*/ 117 h 317"/>
              <a:gd name="T20" fmla="*/ 118 w 317"/>
              <a:gd name="T21" fmla="*/ 82 h 317"/>
              <a:gd name="T22" fmla="*/ 49 w 317"/>
              <a:gd name="T23" fmla="*/ 159 h 317"/>
              <a:gd name="T24" fmla="*/ 118 w 317"/>
              <a:gd name="T25" fmla="*/ 235 h 317"/>
              <a:gd name="T26" fmla="*/ 154 w 317"/>
              <a:gd name="T27" fmla="*/ 201 h 317"/>
              <a:gd name="T28" fmla="*/ 135 w 317"/>
              <a:gd name="T29" fmla="*/ 183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7" h="317">
                <a:moveTo>
                  <a:pt x="159" y="0"/>
                </a:moveTo>
                <a:cubicBezTo>
                  <a:pt x="246" y="0"/>
                  <a:pt x="317" y="71"/>
                  <a:pt x="317" y="158"/>
                </a:cubicBezTo>
                <a:cubicBezTo>
                  <a:pt x="317" y="246"/>
                  <a:pt x="246" y="317"/>
                  <a:pt x="159" y="317"/>
                </a:cubicBezTo>
                <a:cubicBezTo>
                  <a:pt x="71" y="317"/>
                  <a:pt x="0" y="246"/>
                  <a:pt x="0" y="158"/>
                </a:cubicBezTo>
                <a:cubicBezTo>
                  <a:pt x="0" y="71"/>
                  <a:pt x="71" y="0"/>
                  <a:pt x="159" y="0"/>
                </a:cubicBezTo>
                <a:close/>
                <a:moveTo>
                  <a:pt x="135" y="183"/>
                </a:moveTo>
                <a:cubicBezTo>
                  <a:pt x="239" y="183"/>
                  <a:pt x="239" y="183"/>
                  <a:pt x="239" y="183"/>
                </a:cubicBezTo>
                <a:cubicBezTo>
                  <a:pt x="277" y="183"/>
                  <a:pt x="277" y="133"/>
                  <a:pt x="240" y="133"/>
                </a:cubicBezTo>
                <a:cubicBezTo>
                  <a:pt x="135" y="134"/>
                  <a:pt x="135" y="134"/>
                  <a:pt x="135" y="134"/>
                </a:cubicBezTo>
                <a:cubicBezTo>
                  <a:pt x="142" y="128"/>
                  <a:pt x="148" y="122"/>
                  <a:pt x="154" y="117"/>
                </a:cubicBezTo>
                <a:cubicBezTo>
                  <a:pt x="181" y="88"/>
                  <a:pt x="143" y="52"/>
                  <a:pt x="118" y="82"/>
                </a:cubicBezTo>
                <a:cubicBezTo>
                  <a:pt x="49" y="159"/>
                  <a:pt x="49" y="159"/>
                  <a:pt x="49" y="159"/>
                </a:cubicBezTo>
                <a:cubicBezTo>
                  <a:pt x="118" y="235"/>
                  <a:pt x="118" y="235"/>
                  <a:pt x="118" y="235"/>
                </a:cubicBezTo>
                <a:cubicBezTo>
                  <a:pt x="143" y="266"/>
                  <a:pt x="182" y="227"/>
                  <a:pt x="154" y="201"/>
                </a:cubicBezTo>
                <a:cubicBezTo>
                  <a:pt x="135" y="183"/>
                  <a:pt x="135" y="183"/>
                  <a:pt x="135" y="183"/>
                </a:cubicBezTo>
                <a:close/>
              </a:path>
            </a:pathLst>
          </a:custGeom>
          <a:solidFill>
            <a:srgbClr val="5D6DB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45" name="Freeform 5">
            <a:extLst>
              <a:ext uri="{FF2B5EF4-FFF2-40B4-BE49-F238E27FC236}">
                <a16:creationId xmlns:a16="http://schemas.microsoft.com/office/drawing/2014/main" id="{29955718-EA91-2EAE-E86F-FEE8887A0931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5059640" y="4739932"/>
            <a:ext cx="172708" cy="173995"/>
          </a:xfrm>
          <a:custGeom>
            <a:avLst/>
            <a:gdLst>
              <a:gd name="T0" fmla="*/ 159 w 317"/>
              <a:gd name="T1" fmla="*/ 0 h 317"/>
              <a:gd name="T2" fmla="*/ 317 w 317"/>
              <a:gd name="T3" fmla="*/ 158 h 317"/>
              <a:gd name="T4" fmla="*/ 159 w 317"/>
              <a:gd name="T5" fmla="*/ 317 h 317"/>
              <a:gd name="T6" fmla="*/ 0 w 317"/>
              <a:gd name="T7" fmla="*/ 158 h 317"/>
              <a:gd name="T8" fmla="*/ 159 w 317"/>
              <a:gd name="T9" fmla="*/ 0 h 317"/>
              <a:gd name="T10" fmla="*/ 135 w 317"/>
              <a:gd name="T11" fmla="*/ 183 h 317"/>
              <a:gd name="T12" fmla="*/ 239 w 317"/>
              <a:gd name="T13" fmla="*/ 183 h 317"/>
              <a:gd name="T14" fmla="*/ 240 w 317"/>
              <a:gd name="T15" fmla="*/ 133 h 317"/>
              <a:gd name="T16" fmla="*/ 135 w 317"/>
              <a:gd name="T17" fmla="*/ 134 h 317"/>
              <a:gd name="T18" fmla="*/ 154 w 317"/>
              <a:gd name="T19" fmla="*/ 117 h 317"/>
              <a:gd name="T20" fmla="*/ 118 w 317"/>
              <a:gd name="T21" fmla="*/ 82 h 317"/>
              <a:gd name="T22" fmla="*/ 49 w 317"/>
              <a:gd name="T23" fmla="*/ 159 h 317"/>
              <a:gd name="T24" fmla="*/ 118 w 317"/>
              <a:gd name="T25" fmla="*/ 235 h 317"/>
              <a:gd name="T26" fmla="*/ 154 w 317"/>
              <a:gd name="T27" fmla="*/ 201 h 317"/>
              <a:gd name="T28" fmla="*/ 135 w 317"/>
              <a:gd name="T29" fmla="*/ 183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7" h="317">
                <a:moveTo>
                  <a:pt x="159" y="0"/>
                </a:moveTo>
                <a:cubicBezTo>
                  <a:pt x="246" y="0"/>
                  <a:pt x="317" y="71"/>
                  <a:pt x="317" y="158"/>
                </a:cubicBezTo>
                <a:cubicBezTo>
                  <a:pt x="317" y="246"/>
                  <a:pt x="246" y="317"/>
                  <a:pt x="159" y="317"/>
                </a:cubicBezTo>
                <a:cubicBezTo>
                  <a:pt x="71" y="317"/>
                  <a:pt x="0" y="246"/>
                  <a:pt x="0" y="158"/>
                </a:cubicBezTo>
                <a:cubicBezTo>
                  <a:pt x="0" y="71"/>
                  <a:pt x="71" y="0"/>
                  <a:pt x="159" y="0"/>
                </a:cubicBezTo>
                <a:close/>
                <a:moveTo>
                  <a:pt x="135" y="183"/>
                </a:moveTo>
                <a:cubicBezTo>
                  <a:pt x="239" y="183"/>
                  <a:pt x="239" y="183"/>
                  <a:pt x="239" y="183"/>
                </a:cubicBezTo>
                <a:cubicBezTo>
                  <a:pt x="277" y="183"/>
                  <a:pt x="277" y="133"/>
                  <a:pt x="240" y="133"/>
                </a:cubicBezTo>
                <a:cubicBezTo>
                  <a:pt x="135" y="134"/>
                  <a:pt x="135" y="134"/>
                  <a:pt x="135" y="134"/>
                </a:cubicBezTo>
                <a:cubicBezTo>
                  <a:pt x="142" y="128"/>
                  <a:pt x="148" y="122"/>
                  <a:pt x="154" y="117"/>
                </a:cubicBezTo>
                <a:cubicBezTo>
                  <a:pt x="181" y="88"/>
                  <a:pt x="143" y="52"/>
                  <a:pt x="118" y="82"/>
                </a:cubicBezTo>
                <a:cubicBezTo>
                  <a:pt x="49" y="159"/>
                  <a:pt x="49" y="159"/>
                  <a:pt x="49" y="159"/>
                </a:cubicBezTo>
                <a:cubicBezTo>
                  <a:pt x="118" y="235"/>
                  <a:pt x="118" y="235"/>
                  <a:pt x="118" y="235"/>
                </a:cubicBezTo>
                <a:cubicBezTo>
                  <a:pt x="143" y="266"/>
                  <a:pt x="182" y="227"/>
                  <a:pt x="154" y="201"/>
                </a:cubicBezTo>
                <a:cubicBezTo>
                  <a:pt x="135" y="183"/>
                  <a:pt x="135" y="183"/>
                  <a:pt x="135" y="183"/>
                </a:cubicBezTo>
                <a:close/>
              </a:path>
            </a:pathLst>
          </a:custGeom>
          <a:solidFill>
            <a:srgbClr val="5D6DB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9787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08EA-53D5-5B9B-ACA1-2A61F8FA8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4205DA35-23EE-7368-0601-124D9C292A19}"/>
              </a:ext>
            </a:extLst>
          </p:cNvPr>
          <p:cNvGrpSpPr/>
          <p:nvPr/>
        </p:nvGrpSpPr>
        <p:grpSpPr>
          <a:xfrm>
            <a:off x="2322078" y="2142147"/>
            <a:ext cx="3704635" cy="3540253"/>
            <a:chOff x="2313352" y="2113927"/>
            <a:chExt cx="4003558" cy="3540253"/>
          </a:xfrm>
        </p:grpSpPr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D0CCD6A5-7685-DCC1-8709-AF1B7DBA342E}"/>
                </a:ext>
              </a:extLst>
            </p:cNvPr>
            <p:cNvSpPr/>
            <p:nvPr/>
          </p:nvSpPr>
          <p:spPr bwMode="auto">
            <a:xfrm>
              <a:off x="2313352" y="2113927"/>
              <a:ext cx="4003558" cy="318450"/>
            </a:xfrm>
            <a:prstGeom prst="round2SameRect">
              <a:avLst/>
            </a:prstGeom>
            <a:solidFill>
              <a:srgbClr val="5D6DBE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200" b="1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Dual-Track </a:t>
              </a:r>
              <a:r>
                <a:rPr lang="ko-KR" altLang="en-US" sz="1200" b="1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정책 연계</a:t>
              </a:r>
              <a:r>
                <a:rPr lang="en-US" altLang="ko-KR" sz="1200" b="1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: </a:t>
              </a:r>
              <a:r>
                <a:rPr lang="ko-KR" altLang="en-US" sz="1200" b="1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고용안정 </a:t>
              </a:r>
              <a:r>
                <a:rPr lang="en-US" altLang="ko-KR" sz="1200" b="1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+ </a:t>
              </a:r>
              <a:r>
                <a:rPr lang="ko-KR" altLang="en-US" sz="1200" b="1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산업활력 통합</a:t>
              </a:r>
              <a:endParaRPr kumimoji="0" lang="ko-KR" altLang="en-US" sz="1200" b="1" i="0" u="none" strike="noStrike" kern="0" cap="none" spc="-8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4EC7E44D-9D66-CE65-AF7F-B3879C6EC73D}"/>
                </a:ext>
              </a:extLst>
            </p:cNvPr>
            <p:cNvSpPr/>
            <p:nvPr/>
          </p:nvSpPr>
          <p:spPr bwMode="auto">
            <a:xfrm>
              <a:off x="2313352" y="2424706"/>
              <a:ext cx="4003558" cy="322947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endParaRPr kumimoji="0" lang="ko-KR" altLang="en-US" sz="12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83F150DF-ED54-FDD2-E5EC-45F290436D8B}"/>
                </a:ext>
              </a:extLst>
            </p:cNvPr>
            <p:cNvSpPr/>
            <p:nvPr/>
          </p:nvSpPr>
          <p:spPr bwMode="auto">
            <a:xfrm>
              <a:off x="2313352" y="5376724"/>
              <a:ext cx="4003558" cy="277276"/>
            </a:xfrm>
            <a:prstGeom prst="roundRect">
              <a:avLst>
                <a:gd name="adj" fmla="val 0"/>
              </a:avLst>
            </a:prstGeom>
            <a:solidFill>
              <a:srgbClr val="58A7AE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고용 유지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안정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) +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산업 성장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활력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) =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지속가능한 산업전환</a:t>
              </a:r>
              <a:endParaRPr lang="ko-KR" altLang="en-US" sz="1000" b="1" kern="0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92CC11F-0153-4EFE-4091-0601771AEF01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기반 진단부터 정책 연계까지 정량적 성과와 정성적 신뢰로 완성하는 산업전환 목표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01D10C-2AF8-2D5A-30A4-EC4AB63D5FBC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사업목표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F108D6-481C-AE16-8E3B-03914518A939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390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 기업 발굴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300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건 통합 컨설팅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75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건 정책 연계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고용안정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산업활력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로 </a:t>
            </a:r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지표화된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성과를 달성하고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 내 변화 주체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50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명 육성과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80%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고용 유지로 지속가능한 산업전환의 표준을 정립함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6C54C8-6827-82DE-3292-7F8C2F3342B8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390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개 기업 발굴 →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300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건 컨설팅 →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75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건 정책 연계 →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50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명 전문가 육성 →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80%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고용 유지로 </a:t>
            </a: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정량적 성과와 정성적 신뢰를 모두 달성하여 지역 산업전환의 표준을 확립합니다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5725B-38FC-AD0D-9E08-59A046D9B500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66599E84-3D86-01BC-8FF2-234F61F59EFB}"/>
              </a:ext>
            </a:extLst>
          </p:cNvPr>
          <p:cNvSpPr/>
          <p:nvPr/>
        </p:nvSpPr>
        <p:spPr bwMode="auto">
          <a:xfrm>
            <a:off x="436259" y="2142147"/>
            <a:ext cx="1644699" cy="318450"/>
          </a:xfrm>
          <a:prstGeom prst="round2SameRect">
            <a:avLst/>
          </a:prstGeom>
          <a:solidFill>
            <a:srgbClr val="5D6DBE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핵심 </a:t>
            </a:r>
            <a:r>
              <a:rPr lang="en-US" altLang="ko-KR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KPI </a:t>
            </a:r>
            <a:r>
              <a:rPr lang="ko-KR" altLang="en-US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달성 목표</a:t>
            </a:r>
            <a:endParaRPr kumimoji="0" lang="ko-KR" altLang="en-US" sz="1200" b="1" i="0" u="none" strike="noStrike" kern="0" cap="none" spc="-8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9754BA5F-EB75-6240-D534-40076D9BE90B}"/>
              </a:ext>
            </a:extLst>
          </p:cNvPr>
          <p:cNvSpPr/>
          <p:nvPr/>
        </p:nvSpPr>
        <p:spPr bwMode="auto">
          <a:xfrm>
            <a:off x="436259" y="2452926"/>
            <a:ext cx="1644699" cy="322947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endParaRPr kumimoji="0" lang="ko-KR" altLang="en-US" sz="12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7431B65-5EAB-671E-E644-BCC4271592D1}"/>
              </a:ext>
            </a:extLst>
          </p:cNvPr>
          <p:cNvGrpSpPr/>
          <p:nvPr/>
        </p:nvGrpSpPr>
        <p:grpSpPr>
          <a:xfrm>
            <a:off x="594304" y="3087946"/>
            <a:ext cx="1302095" cy="2384728"/>
            <a:chOff x="585427" y="2638584"/>
            <a:chExt cx="1302095" cy="2482034"/>
          </a:xfrm>
        </p:grpSpPr>
        <p:sp>
          <p:nvSpPr>
            <p:cNvPr id="21" name="사각형: 둥근 위쪽 모서리 20">
              <a:extLst>
                <a:ext uri="{FF2B5EF4-FFF2-40B4-BE49-F238E27FC236}">
                  <a16:creationId xmlns:a16="http://schemas.microsoft.com/office/drawing/2014/main" id="{025E7E45-F009-30A7-0025-95B425427666}"/>
                </a:ext>
              </a:extLst>
            </p:cNvPr>
            <p:cNvSpPr/>
            <p:nvPr/>
          </p:nvSpPr>
          <p:spPr bwMode="auto">
            <a:xfrm>
              <a:off x="585429" y="2638584"/>
              <a:ext cx="1302093" cy="41500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수요 발굴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: 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390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개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2" name="사각형: 둥근 위쪽 모서리 21">
              <a:extLst>
                <a:ext uri="{FF2B5EF4-FFF2-40B4-BE49-F238E27FC236}">
                  <a16:creationId xmlns:a16="http://schemas.microsoft.com/office/drawing/2014/main" id="{3D05C21B-7780-7E62-D8A4-7E1D31AE380D}"/>
                </a:ext>
              </a:extLst>
            </p:cNvPr>
            <p:cNvSpPr/>
            <p:nvPr/>
          </p:nvSpPr>
          <p:spPr bwMode="auto">
            <a:xfrm>
              <a:off x="585428" y="3155340"/>
              <a:ext cx="1302093" cy="41500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컨설팅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: 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300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건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id="{B58F71C5-BF72-7641-A9A9-2E3DD75814A6}"/>
                </a:ext>
              </a:extLst>
            </p:cNvPr>
            <p:cNvSpPr/>
            <p:nvPr/>
          </p:nvSpPr>
          <p:spPr bwMode="auto">
            <a:xfrm>
              <a:off x="585429" y="3672096"/>
              <a:ext cx="1302093" cy="41500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정책 연계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: 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75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건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4" name="사각형: 둥근 위쪽 모서리 23">
              <a:extLst>
                <a:ext uri="{FF2B5EF4-FFF2-40B4-BE49-F238E27FC236}">
                  <a16:creationId xmlns:a16="http://schemas.microsoft.com/office/drawing/2014/main" id="{335DBE65-9521-F255-11B4-5A4594AD81CC}"/>
                </a:ext>
              </a:extLst>
            </p:cNvPr>
            <p:cNvSpPr/>
            <p:nvPr/>
          </p:nvSpPr>
          <p:spPr bwMode="auto">
            <a:xfrm>
              <a:off x="585428" y="4188852"/>
              <a:ext cx="1302093" cy="41500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전문가 육성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: 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50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명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id="{57A89620-6D83-3C2F-7D38-85E241869A35}"/>
                </a:ext>
              </a:extLst>
            </p:cNvPr>
            <p:cNvSpPr/>
            <p:nvPr/>
          </p:nvSpPr>
          <p:spPr bwMode="auto">
            <a:xfrm>
              <a:off x="585427" y="4705609"/>
              <a:ext cx="1302093" cy="41500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최종성과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: </a:t>
              </a:r>
            </a:p>
            <a:p>
              <a:pPr algn="ctr" defTabSz="914400"/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80% 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latin typeface="+mn-ea"/>
                </a:rPr>
                <a:t>고용 유지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AA46CCE-1D38-79C3-02E0-137E951E4F3D}"/>
              </a:ext>
            </a:extLst>
          </p:cNvPr>
          <p:cNvGrpSpPr/>
          <p:nvPr/>
        </p:nvGrpSpPr>
        <p:grpSpPr>
          <a:xfrm>
            <a:off x="2561537" y="2582209"/>
            <a:ext cx="3221974" cy="2686756"/>
            <a:chOff x="2613827" y="2530686"/>
            <a:chExt cx="2801665" cy="2686756"/>
          </a:xfrm>
        </p:grpSpPr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id="{9BC25A82-786F-5B64-F79F-6BE750A7108A}"/>
                </a:ext>
              </a:extLst>
            </p:cNvPr>
            <p:cNvSpPr/>
            <p:nvPr/>
          </p:nvSpPr>
          <p:spPr bwMode="auto">
            <a:xfrm>
              <a:off x="2613831" y="2530686"/>
              <a:ext cx="2801661" cy="2069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2">
                <a:lumMod val="25000"/>
              </a:schemeClr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Track B :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고용안정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(Soft-ware)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id="{A9E603EB-5F87-A149-844C-3A66C404E6B3}"/>
                </a:ext>
              </a:extLst>
            </p:cNvPr>
            <p:cNvSpPr/>
            <p:nvPr/>
          </p:nvSpPr>
          <p:spPr bwMode="auto">
            <a:xfrm>
              <a:off x="2613830" y="2734301"/>
              <a:ext cx="2801659" cy="86672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60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건 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(20% 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달성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훈련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인건비 지원 연계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일자리 직접 지원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노동부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: 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장려금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5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산대특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훈련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전직지원 등</a:t>
              </a: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3572B44D-16FF-C928-4740-BA7488F27B69}"/>
                </a:ext>
              </a:extLst>
            </p:cNvPr>
            <p:cNvSpPr/>
            <p:nvPr/>
          </p:nvSpPr>
          <p:spPr bwMode="auto">
            <a:xfrm>
              <a:off x="2613830" y="3597649"/>
              <a:ext cx="2801661" cy="2069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→ 직무 전환 및 고용 유지의 기반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67A2ED90-A248-945D-7554-EC1FB0749807}"/>
                </a:ext>
              </a:extLst>
            </p:cNvPr>
            <p:cNvSpPr/>
            <p:nvPr/>
          </p:nvSpPr>
          <p:spPr bwMode="auto">
            <a:xfrm>
              <a:off x="2613828" y="3943491"/>
              <a:ext cx="2801661" cy="2069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2">
                <a:lumMod val="25000"/>
              </a:schemeClr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Track A :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산업활력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(Hard-ware)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3" name="사각형: 둥근 위쪽 모서리 32">
              <a:extLst>
                <a:ext uri="{FF2B5EF4-FFF2-40B4-BE49-F238E27FC236}">
                  <a16:creationId xmlns:a16="http://schemas.microsoft.com/office/drawing/2014/main" id="{C6BBD209-E49C-264B-6FBF-7A87ADF4C0DC}"/>
                </a:ext>
              </a:extLst>
            </p:cNvPr>
            <p:cNvSpPr/>
            <p:nvPr/>
          </p:nvSpPr>
          <p:spPr bwMode="auto">
            <a:xfrm>
              <a:off x="2613827" y="4147106"/>
              <a:ext cx="2801659" cy="86672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15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건 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(5% 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달성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사업재편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·R&amp;D·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설비 투자 연계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비일자리 직접 지원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산업부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5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중기부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: 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사업재편</a:t>
              </a:r>
              <a:r>
                <a:rPr lang="en-US" altLang="ko-KR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5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스마트공장 등</a:t>
              </a: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34" name="사각형: 둥근 위쪽 모서리 33">
              <a:extLst>
                <a:ext uri="{FF2B5EF4-FFF2-40B4-BE49-F238E27FC236}">
                  <a16:creationId xmlns:a16="http://schemas.microsoft.com/office/drawing/2014/main" id="{7F8F5CEF-B76E-2770-E5D1-895B49C85578}"/>
                </a:ext>
              </a:extLst>
            </p:cNvPr>
            <p:cNvSpPr/>
            <p:nvPr/>
          </p:nvSpPr>
          <p:spPr bwMode="auto">
            <a:xfrm>
              <a:off x="2613827" y="5010454"/>
              <a:ext cx="2801661" cy="2069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→ 고용 창출의 기반 마련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38" name="사각형: 둥근 위쪽 모서리 37">
            <a:extLst>
              <a:ext uri="{FF2B5EF4-FFF2-40B4-BE49-F238E27FC236}">
                <a16:creationId xmlns:a16="http://schemas.microsoft.com/office/drawing/2014/main" id="{62B6E1B0-2C8A-18DE-AF1C-5A59197BA1F4}"/>
              </a:ext>
            </a:extLst>
          </p:cNvPr>
          <p:cNvSpPr/>
          <p:nvPr/>
        </p:nvSpPr>
        <p:spPr bwMode="auto">
          <a:xfrm>
            <a:off x="6264091" y="2141967"/>
            <a:ext cx="3065357" cy="318450"/>
          </a:xfrm>
          <a:prstGeom prst="round2SameRect">
            <a:avLst/>
          </a:prstGeom>
          <a:solidFill>
            <a:srgbClr val="5D6DBE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정성적 목표</a:t>
            </a:r>
            <a:r>
              <a:rPr lang="en-US" altLang="ko-KR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200" b="1" kern="0" spc="-8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신뢰 기반 구축 </a:t>
            </a:r>
            <a:endParaRPr kumimoji="0" lang="ko-KR" altLang="en-US" sz="1200" b="1" i="0" u="none" strike="noStrike" kern="0" cap="none" spc="-8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9" name="사각형: 둥근 위쪽 모서리 38">
            <a:extLst>
              <a:ext uri="{FF2B5EF4-FFF2-40B4-BE49-F238E27FC236}">
                <a16:creationId xmlns:a16="http://schemas.microsoft.com/office/drawing/2014/main" id="{B62B5681-B944-D98F-CE66-7884AF19E13C}"/>
              </a:ext>
            </a:extLst>
          </p:cNvPr>
          <p:cNvSpPr/>
          <p:nvPr/>
        </p:nvSpPr>
        <p:spPr bwMode="auto">
          <a:xfrm>
            <a:off x="6264091" y="2452746"/>
            <a:ext cx="3065357" cy="322947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endParaRPr kumimoji="0" lang="ko-KR" altLang="en-US" sz="12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84F41A5-96BF-412B-942A-5022E07C638A}"/>
              </a:ext>
            </a:extLst>
          </p:cNvPr>
          <p:cNvSpPr/>
          <p:nvPr/>
        </p:nvSpPr>
        <p:spPr bwMode="auto">
          <a:xfrm>
            <a:off x="6264091" y="5398246"/>
            <a:ext cx="3065357" cy="283973"/>
          </a:xfrm>
          <a:prstGeom prst="roundRect">
            <a:avLst>
              <a:gd name="adj" fmla="val 0"/>
            </a:avLst>
          </a:prstGeom>
          <a:solidFill>
            <a:srgbClr val="58A7AE"/>
          </a:solidFill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지역의 신뢰할 수 있는 산업전환 </a:t>
            </a:r>
            <a:r>
              <a:rPr lang="ko-KR" altLang="en-US" sz="1000" b="1" kern="0" spc="-10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파트너로서의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위상 정립</a:t>
            </a:r>
            <a:endParaRPr lang="ko-KR" altLang="en-US" sz="1000" b="1" kern="0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0BFEF5E-84D3-FA7C-35BF-9B6216CD08C8}"/>
              </a:ext>
            </a:extLst>
          </p:cNvPr>
          <p:cNvGrpSpPr/>
          <p:nvPr/>
        </p:nvGrpSpPr>
        <p:grpSpPr>
          <a:xfrm>
            <a:off x="6387986" y="2578836"/>
            <a:ext cx="2818161" cy="2690129"/>
            <a:chOff x="6379109" y="2550616"/>
            <a:chExt cx="2818161" cy="2834078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E9B4D0C-E6E8-A790-44EB-967F90D56FD0}"/>
                </a:ext>
              </a:extLst>
            </p:cNvPr>
            <p:cNvGrpSpPr/>
            <p:nvPr/>
          </p:nvGrpSpPr>
          <p:grpSpPr>
            <a:xfrm>
              <a:off x="6379705" y="2550616"/>
              <a:ext cx="2817565" cy="878384"/>
              <a:chOff x="6379705" y="2550616"/>
              <a:chExt cx="2817565" cy="878384"/>
            </a:xfrm>
          </p:grpSpPr>
          <p:sp>
            <p:nvSpPr>
              <p:cNvPr id="41" name="사각형: 둥근 위쪽 모서리 40">
                <a:extLst>
                  <a:ext uri="{FF2B5EF4-FFF2-40B4-BE49-F238E27FC236}">
                    <a16:creationId xmlns:a16="http://schemas.microsoft.com/office/drawing/2014/main" id="{82958606-5D0B-1589-1D20-ABE59594DEF7}"/>
                  </a:ext>
                </a:extLst>
              </p:cNvPr>
              <p:cNvSpPr/>
              <p:nvPr/>
            </p:nvSpPr>
            <p:spPr bwMode="auto">
              <a:xfrm>
                <a:off x="6379707" y="2550616"/>
                <a:ext cx="2817563" cy="20698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bg2">
                    <a:lumMod val="2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0" rIns="36000" bIns="0" rtlCol="0" anchor="ctr"/>
              <a:lstStyle/>
              <a:p>
                <a:pPr algn="ctr" defTabSz="914400"/>
                <a:r>
                  <a:rPr lang="ko-KR" altLang="en-US" sz="1000" b="1" kern="0" spc="-10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지역 산업전환 지원 허브 구축</a:t>
                </a:r>
                <a:endParaRPr kumimoji="0" lang="ko-KR" altLang="en-US" sz="1000" b="1" i="0" u="none" strike="noStrike" kern="0" cap="none" spc="-10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42" name="사각형: 둥근 위쪽 모서리 41">
                <a:extLst>
                  <a:ext uri="{FF2B5EF4-FFF2-40B4-BE49-F238E27FC236}">
                    <a16:creationId xmlns:a16="http://schemas.microsoft.com/office/drawing/2014/main" id="{C98B4883-CDD1-E168-D58D-C6240A575698}"/>
                  </a:ext>
                </a:extLst>
              </p:cNvPr>
              <p:cNvSpPr/>
              <p:nvPr/>
            </p:nvSpPr>
            <p:spPr bwMode="auto">
              <a:xfrm>
                <a:off x="6379705" y="2754231"/>
                <a:ext cx="2817561" cy="674769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bg2">
                    <a:lumMod val="2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지자체</a:t>
                </a:r>
                <a:r>
                  <a:rPr lang="en-US" altLang="ko-KR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·</a:t>
                </a: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산업단지공단</a:t>
                </a:r>
                <a:r>
                  <a:rPr lang="en-US" altLang="ko-KR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·</a:t>
                </a: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대학 등과 </a:t>
                </a:r>
                <a:br>
                  <a:rPr lang="en-US" altLang="ko-KR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</a:b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긴밀한 협력 네트워크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지역 내 산업전환 지원의 구심점 역할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2C1094B2-20B1-9F44-F61D-300498B20365}"/>
                </a:ext>
              </a:extLst>
            </p:cNvPr>
            <p:cNvGrpSpPr/>
            <p:nvPr/>
          </p:nvGrpSpPr>
          <p:grpSpPr>
            <a:xfrm>
              <a:off x="6379705" y="3521129"/>
              <a:ext cx="2817565" cy="878384"/>
              <a:chOff x="6379705" y="2550616"/>
              <a:chExt cx="2817565" cy="878384"/>
            </a:xfrm>
          </p:grpSpPr>
          <p:sp>
            <p:nvSpPr>
              <p:cNvPr id="47" name="사각형: 둥근 위쪽 모서리 46">
                <a:extLst>
                  <a:ext uri="{FF2B5EF4-FFF2-40B4-BE49-F238E27FC236}">
                    <a16:creationId xmlns:a16="http://schemas.microsoft.com/office/drawing/2014/main" id="{D0648F31-A159-8BB3-4242-2D4190D283B2}"/>
                  </a:ext>
                </a:extLst>
              </p:cNvPr>
              <p:cNvSpPr/>
              <p:nvPr/>
            </p:nvSpPr>
            <p:spPr bwMode="auto">
              <a:xfrm>
                <a:off x="6379707" y="2550616"/>
                <a:ext cx="2817563" cy="20698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bg2">
                    <a:lumMod val="2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0" rIns="36000" bIns="0" rtlCol="0" anchor="ctr"/>
              <a:lstStyle/>
              <a:p>
                <a:pPr algn="ctr" defTabSz="914400"/>
                <a:r>
                  <a:rPr lang="ko-KR" altLang="en-US" sz="1000" b="1" kern="0" spc="-10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 컨설팅 품질 제고 및 신뢰 확보</a:t>
                </a:r>
                <a:endParaRPr kumimoji="0" lang="ko-KR" altLang="en-US" sz="1000" b="1" i="0" u="none" strike="noStrike" kern="0" cap="none" spc="-10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48" name="사각형: 둥근 위쪽 모서리 47">
                <a:extLst>
                  <a:ext uri="{FF2B5EF4-FFF2-40B4-BE49-F238E27FC236}">
                    <a16:creationId xmlns:a16="http://schemas.microsoft.com/office/drawing/2014/main" id="{3EC04BD8-B583-DB2E-C52A-1099C2E2578D}"/>
                  </a:ext>
                </a:extLst>
              </p:cNvPr>
              <p:cNvSpPr/>
              <p:nvPr/>
            </p:nvSpPr>
            <p:spPr bwMode="auto">
              <a:xfrm>
                <a:off x="6379705" y="2754231"/>
                <a:ext cx="2817561" cy="674769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bg2">
                    <a:lumMod val="2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체계적 컨설턴트 역량 강화 </a:t>
                </a:r>
                <a:r>
                  <a:rPr lang="en-US" altLang="ko-KR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+ </a:t>
                </a: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자체 모니터링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최고 수준의 컨설팅 품질 유지</a:t>
                </a:r>
                <a:r>
                  <a:rPr lang="en-US" altLang="ko-KR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(95</a:t>
                </a: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점 만족도</a:t>
                </a:r>
                <a:r>
                  <a:rPr lang="en-US" altLang="ko-KR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)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수행 기업으로부터 높은 신뢰 확보</a:t>
                </a: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20FD60D-5829-2802-625D-17CDBC060325}"/>
                </a:ext>
              </a:extLst>
            </p:cNvPr>
            <p:cNvGrpSpPr/>
            <p:nvPr/>
          </p:nvGrpSpPr>
          <p:grpSpPr>
            <a:xfrm>
              <a:off x="6379109" y="4506310"/>
              <a:ext cx="2817565" cy="878384"/>
              <a:chOff x="6379705" y="2550616"/>
              <a:chExt cx="2817565" cy="878384"/>
            </a:xfrm>
          </p:grpSpPr>
          <p:sp>
            <p:nvSpPr>
              <p:cNvPr id="50" name="사각형: 둥근 위쪽 모서리 49">
                <a:extLst>
                  <a:ext uri="{FF2B5EF4-FFF2-40B4-BE49-F238E27FC236}">
                    <a16:creationId xmlns:a16="http://schemas.microsoft.com/office/drawing/2014/main" id="{6D4EA475-7C0D-D3AE-7EE2-75777B53516F}"/>
                  </a:ext>
                </a:extLst>
              </p:cNvPr>
              <p:cNvSpPr/>
              <p:nvPr/>
            </p:nvSpPr>
            <p:spPr bwMode="auto">
              <a:xfrm>
                <a:off x="6379707" y="2550616"/>
                <a:ext cx="2817563" cy="20698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bg2">
                    <a:lumMod val="2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0" rIns="36000" bIns="0" rtlCol="0" anchor="ctr"/>
              <a:lstStyle/>
              <a:p>
                <a:pPr algn="ctr" defTabSz="914400"/>
                <a:r>
                  <a:rPr lang="ko-KR" altLang="en-US" sz="1000" b="1" kern="0" spc="-10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우수사례 발굴 및 확산</a:t>
                </a:r>
                <a:endParaRPr kumimoji="0" lang="ko-KR" altLang="en-US" sz="1000" b="1" i="0" u="none" strike="noStrike" kern="0" cap="none" spc="-10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51" name="사각형: 둥근 위쪽 모서리 50">
                <a:extLst>
                  <a:ext uri="{FF2B5EF4-FFF2-40B4-BE49-F238E27FC236}">
                    <a16:creationId xmlns:a16="http://schemas.microsoft.com/office/drawing/2014/main" id="{5B0C8013-0573-E3F9-1974-998D0F602929}"/>
                  </a:ext>
                </a:extLst>
              </p:cNvPr>
              <p:cNvSpPr/>
              <p:nvPr/>
            </p:nvSpPr>
            <p:spPr bwMode="auto">
              <a:xfrm>
                <a:off x="6379705" y="2754231"/>
                <a:ext cx="2817561" cy="674769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bg2">
                    <a:lumMod val="2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성공적인 기업 사업재편 및 근로자 노동전환 우수사례 발굴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포럼</a:t>
                </a:r>
                <a:r>
                  <a:rPr lang="en-US" altLang="ko-KR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·</a:t>
                </a: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간담회 등을 통한 지역사회 확산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5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산업전환에 대한 긍정적 인식 제고</a:t>
                </a:r>
              </a:p>
            </p:txBody>
          </p:sp>
        </p:grpSp>
      </p:grp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6476B92-C6C4-714D-AAC8-D8DBA1F67CE5}"/>
              </a:ext>
            </a:extLst>
          </p:cNvPr>
          <p:cNvCxnSpPr>
            <a:stCxn id="19" idx="0"/>
            <a:endCxn id="27" idx="2"/>
          </p:cNvCxnSpPr>
          <p:nvPr/>
        </p:nvCxnSpPr>
        <p:spPr bwMode="auto">
          <a:xfrm>
            <a:off x="2080958" y="2301372"/>
            <a:ext cx="241120" cy="0"/>
          </a:xfrm>
          <a:prstGeom prst="line">
            <a:avLst/>
          </a:prstGeom>
          <a:solidFill>
            <a:srgbClr val="970F43"/>
          </a:solidFill>
          <a:ln w="28575" cap="flat" cmpd="sng" algn="ctr">
            <a:solidFill>
              <a:srgbClr val="5D6DB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5" name="Picture 19">
            <a:extLst>
              <a:ext uri="{FF2B5EF4-FFF2-40B4-BE49-F238E27FC236}">
                <a16:creationId xmlns:a16="http://schemas.microsoft.com/office/drawing/2014/main" id="{77B6CDEB-EF7C-96F1-9A79-C1FD9BBBB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43" y="2638584"/>
            <a:ext cx="317530" cy="38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4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924A8-FBAC-4616-92A4-19E278F6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B56D357C-3B6B-5F73-70E7-6F801A9987A1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전담조직의 체계적 운영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으로 구현하는 신뢰받는 산업</a:t>
            </a:r>
            <a:r>
              <a:rPr lang="en-US" altLang="ko-KR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일자리 전환 지원 체계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7ABC0A-E921-7751-5C92-609C6D997B69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사업추진체계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BD8F8F-E02E-8AD1-2A77-1247A538E1DB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실전 경험으로 검증된 조직 구조와 명확한 역할 분담으로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전국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12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 지역본부의 현장 밀착형 지원 네트워크를 통해 안정적이고 전문적인 사업 수행을 실현함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ABFA76-7904-AC43-58B6-02645828374F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명확한 역할 분담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검증된 프로세스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전국 현장 네트워크로 신속하고 전문적이며 신뢰받는 사업을 실현합니다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628A9-C421-B38D-A2D0-259BC733E4ED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3ECE0FD-757E-26A4-FB14-1E958E821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731966"/>
              </p:ext>
            </p:extLst>
          </p:nvPr>
        </p:nvGraphicFramePr>
        <p:xfrm>
          <a:off x="435357" y="2232928"/>
          <a:ext cx="4595734" cy="2231185"/>
        </p:xfrm>
        <a:graphic>
          <a:graphicData uri="http://schemas.openxmlformats.org/drawingml/2006/table">
            <a:tbl>
              <a:tblPr/>
              <a:tblGrid>
                <a:gridCol w="483065">
                  <a:extLst>
                    <a:ext uri="{9D8B030D-6E8A-4147-A177-3AD203B41FA5}">
                      <a16:colId xmlns:a16="http://schemas.microsoft.com/office/drawing/2014/main" val="894950828"/>
                    </a:ext>
                  </a:extLst>
                </a:gridCol>
                <a:gridCol w="80580">
                  <a:extLst>
                    <a:ext uri="{9D8B030D-6E8A-4147-A177-3AD203B41FA5}">
                      <a16:colId xmlns:a16="http://schemas.microsoft.com/office/drawing/2014/main" val="130296794"/>
                    </a:ext>
                  </a:extLst>
                </a:gridCol>
                <a:gridCol w="497171">
                  <a:extLst>
                    <a:ext uri="{9D8B030D-6E8A-4147-A177-3AD203B41FA5}">
                      <a16:colId xmlns:a16="http://schemas.microsoft.com/office/drawing/2014/main" val="3060737942"/>
                    </a:ext>
                  </a:extLst>
                </a:gridCol>
                <a:gridCol w="174814">
                  <a:extLst>
                    <a:ext uri="{9D8B030D-6E8A-4147-A177-3AD203B41FA5}">
                      <a16:colId xmlns:a16="http://schemas.microsoft.com/office/drawing/2014/main" val="3785495117"/>
                    </a:ext>
                  </a:extLst>
                </a:gridCol>
                <a:gridCol w="496982">
                  <a:extLst>
                    <a:ext uri="{9D8B030D-6E8A-4147-A177-3AD203B41FA5}">
                      <a16:colId xmlns:a16="http://schemas.microsoft.com/office/drawing/2014/main" val="2749152761"/>
                    </a:ext>
                  </a:extLst>
                </a:gridCol>
                <a:gridCol w="496982">
                  <a:extLst>
                    <a:ext uri="{9D8B030D-6E8A-4147-A177-3AD203B41FA5}">
                      <a16:colId xmlns:a16="http://schemas.microsoft.com/office/drawing/2014/main" val="589613435"/>
                    </a:ext>
                  </a:extLst>
                </a:gridCol>
                <a:gridCol w="101464">
                  <a:extLst>
                    <a:ext uri="{9D8B030D-6E8A-4147-A177-3AD203B41FA5}">
                      <a16:colId xmlns:a16="http://schemas.microsoft.com/office/drawing/2014/main" val="534198292"/>
                    </a:ext>
                  </a:extLst>
                </a:gridCol>
                <a:gridCol w="101464">
                  <a:extLst>
                    <a:ext uri="{9D8B030D-6E8A-4147-A177-3AD203B41FA5}">
                      <a16:colId xmlns:a16="http://schemas.microsoft.com/office/drawing/2014/main" val="2590940790"/>
                    </a:ext>
                  </a:extLst>
                </a:gridCol>
                <a:gridCol w="496982">
                  <a:extLst>
                    <a:ext uri="{9D8B030D-6E8A-4147-A177-3AD203B41FA5}">
                      <a16:colId xmlns:a16="http://schemas.microsoft.com/office/drawing/2014/main" val="3542570904"/>
                    </a:ext>
                  </a:extLst>
                </a:gridCol>
                <a:gridCol w="496982">
                  <a:extLst>
                    <a:ext uri="{9D8B030D-6E8A-4147-A177-3AD203B41FA5}">
                      <a16:colId xmlns:a16="http://schemas.microsoft.com/office/drawing/2014/main" val="3875065611"/>
                    </a:ext>
                  </a:extLst>
                </a:gridCol>
                <a:gridCol w="174814">
                  <a:extLst>
                    <a:ext uri="{9D8B030D-6E8A-4147-A177-3AD203B41FA5}">
                      <a16:colId xmlns:a16="http://schemas.microsoft.com/office/drawing/2014/main" val="67172574"/>
                    </a:ext>
                  </a:extLst>
                </a:gridCol>
                <a:gridCol w="497171">
                  <a:extLst>
                    <a:ext uri="{9D8B030D-6E8A-4147-A177-3AD203B41FA5}">
                      <a16:colId xmlns:a16="http://schemas.microsoft.com/office/drawing/2014/main" val="3734675531"/>
                    </a:ext>
                  </a:extLst>
                </a:gridCol>
                <a:gridCol w="497263">
                  <a:extLst>
                    <a:ext uri="{9D8B030D-6E8A-4147-A177-3AD203B41FA5}">
                      <a16:colId xmlns:a16="http://schemas.microsoft.com/office/drawing/2014/main" val="2482057746"/>
                    </a:ext>
                  </a:extLst>
                </a:gridCol>
              </a:tblGrid>
              <a:tr h="163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 책임자</a:t>
                      </a: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180526"/>
                  </a:ext>
                </a:extLst>
              </a:tr>
              <a:tr h="163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강수영 센터장</a:t>
                      </a: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969904"/>
                  </a:ext>
                </a:extLst>
              </a:tr>
              <a:tr h="163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568903"/>
                  </a:ext>
                </a:extLst>
              </a:tr>
              <a:tr h="163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450383"/>
                  </a:ext>
                </a:extLst>
              </a:tr>
              <a:tr h="31556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기획파트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-7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파트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-7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정부정책 연계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-7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컨설팅 파트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(77</a:t>
                      </a: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-7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31724"/>
                  </a:ext>
                </a:extLst>
              </a:tr>
              <a:tr h="77226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장기남</a:t>
                      </a: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김주헌</a:t>
                      </a:r>
                    </a:p>
                  </a:txBody>
                  <a:tcPr marL="5002" marR="5002" marT="5002" marB="5002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김재원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성민석</a:t>
                      </a: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손정란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박민선</a:t>
                      </a:r>
                    </a:p>
                  </a:txBody>
                  <a:tcPr marL="5002" marR="5002" marT="5002" marB="5002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김유진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   환</a:t>
                      </a: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김병철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김미영</a:t>
                      </a:r>
                    </a:p>
                  </a:txBody>
                  <a:tcPr marL="5002" marR="5002" marT="5002" marB="5002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산업전환 파트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노동전환</a:t>
                      </a:r>
                      <a:r>
                        <a:rPr lang="en-US" altLang="ko-KR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br>
                        <a:rPr lang="en-US" altLang="ko-KR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고용안정 파트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근로자 상담 및 교육 파트</a:t>
                      </a: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668959"/>
                  </a:ext>
                </a:extLst>
              </a:tr>
              <a:tr h="163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184626"/>
                  </a:ext>
                </a:extLst>
              </a:tr>
              <a:tr h="163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기업발굴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</a:t>
                      </a:r>
                      <a:r>
                        <a:rPr lang="en-US" altLang="ko-KR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07447"/>
                  </a:ext>
                </a:extLst>
              </a:tr>
              <a:tr h="163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9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2" marR="5002" marT="5002" marB="5002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전국 </a:t>
                      </a:r>
                      <a:r>
                        <a:rPr lang="en-US" altLang="ko-KR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지역본부 </a:t>
                      </a:r>
                      <a:r>
                        <a:rPr lang="en-US" altLang="ko-KR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산업일자리전환사업 담당자 </a:t>
                      </a:r>
                      <a:r>
                        <a:rPr lang="en-US" altLang="ko-KR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900" b="1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5002" marR="5002" marT="5002" marB="500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457573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AF8BEFB5-8D0C-8FB1-250E-5C58D2B53696}"/>
              </a:ext>
            </a:extLst>
          </p:cNvPr>
          <p:cNvGrpSpPr/>
          <p:nvPr/>
        </p:nvGrpSpPr>
        <p:grpSpPr>
          <a:xfrm>
            <a:off x="444954" y="2011836"/>
            <a:ext cx="2476026" cy="253317"/>
            <a:chOff x="444954" y="2154076"/>
            <a:chExt cx="2476026" cy="253317"/>
          </a:xfrm>
        </p:grpSpPr>
        <p:pic>
          <p:nvPicPr>
            <p:cNvPr id="19" name="그래픽 18" descr="배지 체크 표시1 단색으로 채워진">
              <a:extLst>
                <a:ext uri="{FF2B5EF4-FFF2-40B4-BE49-F238E27FC236}">
                  <a16:creationId xmlns:a16="http://schemas.microsoft.com/office/drawing/2014/main" id="{D4E27BA0-D9F4-3FFA-03EC-D82F31638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A79E82-5E44-9E9B-6E09-678376A80B78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/>
                <a:t>수행조직</a:t>
              </a:r>
            </a:p>
          </p:txBody>
        </p:sp>
      </p:grp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1B84A8A8-D8BE-BD2A-82AD-3EE4F1F365D8}"/>
              </a:ext>
            </a:extLst>
          </p:cNvPr>
          <p:cNvSpPr/>
          <p:nvPr/>
        </p:nvSpPr>
        <p:spPr bwMode="auto">
          <a:xfrm>
            <a:off x="5386620" y="2193445"/>
            <a:ext cx="3930092" cy="267348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2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추진체계의 경쟁력 </a:t>
            </a:r>
            <a:endParaRPr kumimoji="0" lang="ko-KR" altLang="en-US" sz="12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5BAEBA61-261C-9B16-DC6B-68AAEB302BF9}"/>
              </a:ext>
            </a:extLst>
          </p:cNvPr>
          <p:cNvSpPr/>
          <p:nvPr/>
        </p:nvSpPr>
        <p:spPr bwMode="auto">
          <a:xfrm>
            <a:off x="5386621" y="2463598"/>
            <a:ext cx="3930088" cy="179196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600"/>
              </a:spcAft>
            </a:pP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① 전문성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+ 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규모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파트별 전문 인력 배치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+ 100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여 명 전담 조직</a:t>
            </a:r>
          </a:p>
          <a:p>
            <a:pPr defTabSz="914400">
              <a:spcAft>
                <a:spcPts val="600"/>
              </a:spcAft>
            </a:pP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②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2025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년 검증된 조직</a:t>
            </a:r>
          </a:p>
          <a:p>
            <a:pPr marL="171450" indent="-17145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목표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100% 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달성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만족도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4.88/5.0</a:t>
            </a:r>
          </a:p>
          <a:p>
            <a:pPr marL="171450" indent="-17145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파트 간 협력체계 완성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즉시 사업 착수 가능</a:t>
            </a:r>
          </a:p>
          <a:p>
            <a:pPr defTabSz="914400">
              <a:spcAft>
                <a:spcPts val="600"/>
              </a:spcAft>
            </a:pP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③ 전국 현장 네트워크</a:t>
            </a:r>
          </a:p>
          <a:p>
            <a:pPr marL="171450" indent="-17145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12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 지역본부 밀착형 지원</a:t>
            </a:r>
          </a:p>
          <a:p>
            <a:pPr marL="171450" indent="-17145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지역 산업 특화 이해 </a:t>
            </a:r>
            <a:r>
              <a:rPr lang="en-US" altLang="ko-KR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동일 품질 서비스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EB4D748-82F0-296F-D34E-75E27383300A}"/>
              </a:ext>
            </a:extLst>
          </p:cNvPr>
          <p:cNvGrpSpPr/>
          <p:nvPr/>
        </p:nvGrpSpPr>
        <p:grpSpPr>
          <a:xfrm>
            <a:off x="563169" y="4888411"/>
            <a:ext cx="4467922" cy="632410"/>
            <a:chOff x="5841009" y="4397206"/>
            <a:chExt cx="3867608" cy="811933"/>
          </a:xfrm>
        </p:grpSpPr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id="{AA84AC1E-E12B-A2E0-3797-91414380E3F5}"/>
                </a:ext>
              </a:extLst>
            </p:cNvPr>
            <p:cNvSpPr/>
            <p:nvPr/>
          </p:nvSpPr>
          <p:spPr bwMode="auto">
            <a:xfrm>
              <a:off x="5841009" y="4397208"/>
              <a:ext cx="657446" cy="39873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기획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id="{E4E78D8D-7552-3104-5D75-629D7B84A182}"/>
                </a:ext>
              </a:extLst>
            </p:cNvPr>
            <p:cNvSpPr/>
            <p:nvPr/>
          </p:nvSpPr>
          <p:spPr bwMode="auto">
            <a:xfrm>
              <a:off x="6641330" y="4397207"/>
              <a:ext cx="657446" cy="39873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컨설팅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C8F18C0A-65B0-E6FC-325C-6F1E2804D6B6}"/>
                </a:ext>
              </a:extLst>
            </p:cNvPr>
            <p:cNvSpPr/>
            <p:nvPr/>
          </p:nvSpPr>
          <p:spPr bwMode="auto">
            <a:xfrm>
              <a:off x="7450529" y="4397208"/>
              <a:ext cx="657446" cy="39873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정책</a:t>
              </a:r>
              <a:endParaRPr lang="en-US" altLang="ko-KR" sz="100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연계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D36FB63F-144B-B2E6-54D6-FC91249D3C16}"/>
                </a:ext>
              </a:extLst>
            </p:cNvPr>
            <p:cNvSpPr/>
            <p:nvPr/>
          </p:nvSpPr>
          <p:spPr bwMode="auto">
            <a:xfrm>
              <a:off x="8250850" y="4397207"/>
              <a:ext cx="657446" cy="39873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수행</a:t>
              </a:r>
              <a:endParaRPr lang="en-US" altLang="ko-KR" sz="100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관리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id="{0646238C-18D4-9124-076D-FF9F3B83D662}"/>
                </a:ext>
              </a:extLst>
            </p:cNvPr>
            <p:cNvSpPr/>
            <p:nvPr/>
          </p:nvSpPr>
          <p:spPr bwMode="auto">
            <a:xfrm>
              <a:off x="9051171" y="4397206"/>
              <a:ext cx="657446" cy="39873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지역</a:t>
              </a:r>
              <a:endParaRPr lang="en-US" altLang="ko-KR" sz="100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모니터링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id="{6759B540-3451-69CB-D988-30DF94779F03}"/>
                </a:ext>
              </a:extLst>
            </p:cNvPr>
            <p:cNvSpPr/>
            <p:nvPr/>
          </p:nvSpPr>
          <p:spPr bwMode="auto">
            <a:xfrm>
              <a:off x="7136113" y="4970875"/>
              <a:ext cx="1690750" cy="23826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 자문위원회 검증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334F3D3D-546D-FE68-D2DA-AC2F0A8643FD}"/>
                </a:ext>
              </a:extLst>
            </p:cNvPr>
            <p:cNvCxnSpPr>
              <a:stCxn id="23" idx="0"/>
              <a:endCxn id="26" idx="2"/>
            </p:cNvCxnSpPr>
            <p:nvPr/>
          </p:nvCxnSpPr>
          <p:spPr bwMode="auto">
            <a:xfrm flipV="1">
              <a:off x="6498455" y="4596577"/>
              <a:ext cx="142875" cy="1"/>
            </a:xfrm>
            <a:prstGeom prst="straightConnector1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5E1DB472-7E99-2616-7096-BAE6CAF23E40}"/>
                </a:ext>
              </a:extLst>
            </p:cNvPr>
            <p:cNvCxnSpPr>
              <a:cxnSpLocks/>
              <a:stCxn id="26" idx="0"/>
              <a:endCxn id="27" idx="2"/>
            </p:cNvCxnSpPr>
            <p:nvPr/>
          </p:nvCxnSpPr>
          <p:spPr bwMode="auto">
            <a:xfrm>
              <a:off x="7298776" y="4596577"/>
              <a:ext cx="151753" cy="1"/>
            </a:xfrm>
            <a:prstGeom prst="straightConnector1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5B74F49A-4FF9-A71F-921C-D441DAB9FA9C}"/>
                </a:ext>
              </a:extLst>
            </p:cNvPr>
            <p:cNvCxnSpPr>
              <a:cxnSpLocks/>
              <a:stCxn id="27" idx="0"/>
              <a:endCxn id="28" idx="2"/>
            </p:cNvCxnSpPr>
            <p:nvPr/>
          </p:nvCxnSpPr>
          <p:spPr bwMode="auto">
            <a:xfrm flipV="1">
              <a:off x="8107975" y="4596577"/>
              <a:ext cx="142875" cy="1"/>
            </a:xfrm>
            <a:prstGeom prst="straightConnector1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01720AC8-1A09-A291-5605-99FBBA84317F}"/>
                </a:ext>
              </a:extLst>
            </p:cNvPr>
            <p:cNvCxnSpPr>
              <a:cxnSpLocks/>
              <a:stCxn id="28" idx="0"/>
              <a:endCxn id="29" idx="2"/>
            </p:cNvCxnSpPr>
            <p:nvPr/>
          </p:nvCxnSpPr>
          <p:spPr bwMode="auto">
            <a:xfrm flipV="1">
              <a:off x="8908296" y="4596576"/>
              <a:ext cx="142875" cy="1"/>
            </a:xfrm>
            <a:prstGeom prst="straightConnector1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4" name="연결선: 꺾임 43">
              <a:extLst>
                <a:ext uri="{FF2B5EF4-FFF2-40B4-BE49-F238E27FC236}">
                  <a16:creationId xmlns:a16="http://schemas.microsoft.com/office/drawing/2014/main" id="{498F08DC-3201-C3D7-BE0C-31D98F46CB6A}"/>
                </a:ext>
              </a:extLst>
            </p:cNvPr>
            <p:cNvCxnSpPr>
              <a:stCxn id="29" idx="1"/>
              <a:endCxn id="30" idx="0"/>
            </p:cNvCxnSpPr>
            <p:nvPr/>
          </p:nvCxnSpPr>
          <p:spPr bwMode="auto">
            <a:xfrm rot="5400000">
              <a:off x="8956348" y="4666461"/>
              <a:ext cx="294062" cy="553031"/>
            </a:xfrm>
            <a:prstGeom prst="bentConnector2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5" name="연결선: 꺾임 44">
              <a:extLst>
                <a:ext uri="{FF2B5EF4-FFF2-40B4-BE49-F238E27FC236}">
                  <a16:creationId xmlns:a16="http://schemas.microsoft.com/office/drawing/2014/main" id="{11A2049E-0618-7792-CF5F-EA01F94C54CD}"/>
                </a:ext>
              </a:extLst>
            </p:cNvPr>
            <p:cNvCxnSpPr>
              <a:cxnSpLocks/>
              <a:stCxn id="30" idx="2"/>
              <a:endCxn id="23" idx="1"/>
            </p:cNvCxnSpPr>
            <p:nvPr/>
          </p:nvCxnSpPr>
          <p:spPr bwMode="auto">
            <a:xfrm rot="10800000">
              <a:off x="6169733" y="4795947"/>
              <a:ext cx="966381" cy="294060"/>
            </a:xfrm>
            <a:prstGeom prst="bentConnector2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B202378-9FF1-D553-2300-6486A45CE513}"/>
              </a:ext>
            </a:extLst>
          </p:cNvPr>
          <p:cNvSpPr/>
          <p:nvPr/>
        </p:nvSpPr>
        <p:spPr bwMode="auto">
          <a:xfrm>
            <a:off x="563168" y="5628189"/>
            <a:ext cx="4467923" cy="229042"/>
          </a:xfrm>
          <a:prstGeom prst="roundRect">
            <a:avLst>
              <a:gd name="adj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→ 명확한 역할분담 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신속한 의사결정 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품질 극대화</a:t>
            </a:r>
            <a:endParaRPr lang="ko-KR" altLang="en-US" sz="1000" b="1" kern="0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51CD54B-595D-CF4B-7F4C-18BB48497D8E}"/>
              </a:ext>
            </a:extLst>
          </p:cNvPr>
          <p:cNvGrpSpPr/>
          <p:nvPr/>
        </p:nvGrpSpPr>
        <p:grpSpPr>
          <a:xfrm>
            <a:off x="431761" y="4561985"/>
            <a:ext cx="2476026" cy="253317"/>
            <a:chOff x="444954" y="2154076"/>
            <a:chExt cx="2476026" cy="253317"/>
          </a:xfrm>
        </p:grpSpPr>
        <p:pic>
          <p:nvPicPr>
            <p:cNvPr id="51" name="그래픽 50" descr="배지 체크 표시1 단색으로 채워진">
              <a:extLst>
                <a:ext uri="{FF2B5EF4-FFF2-40B4-BE49-F238E27FC236}">
                  <a16:creationId xmlns:a16="http://schemas.microsoft.com/office/drawing/2014/main" id="{32FBA087-38F8-03B7-D5B2-AAB7B4EC3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5993AB1-474E-EB75-7015-0223FB6CFFAB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/>
                <a:t>업무프로세스</a:t>
              </a: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E97573A-9341-9266-06CC-8A03D571F86F}"/>
              </a:ext>
            </a:extLst>
          </p:cNvPr>
          <p:cNvSpPr/>
          <p:nvPr/>
        </p:nvSpPr>
        <p:spPr bwMode="auto">
          <a:xfrm>
            <a:off x="5386618" y="4561985"/>
            <a:ext cx="3930091" cy="1125919"/>
          </a:xfrm>
          <a:prstGeom prst="roundRect">
            <a:avLst>
              <a:gd name="adj" fmla="val 8808"/>
            </a:avLst>
          </a:prstGeom>
          <a:solidFill>
            <a:schemeClr val="bg1"/>
          </a:solidFill>
          <a:ln w="19050">
            <a:solidFill>
              <a:srgbClr val="5D6DBE"/>
            </a:solidFill>
            <a:miter lim="800000"/>
            <a:headEnd/>
            <a:tailEnd/>
          </a:ln>
          <a:effectLst/>
        </p:spPr>
        <p:txBody>
          <a:bodyPr wrap="square" lIns="396000" tIns="0" rIns="36000" bIns="0" rtlCol="0" anchor="ctr"/>
          <a:lstStyle/>
          <a:p>
            <a:pPr defTabSz="914400">
              <a:spcAft>
                <a:spcPts val="600"/>
              </a:spcAft>
            </a:pP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100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여 명 규모 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파트별 전문성 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최적의 운영 체계</a:t>
            </a:r>
          </a:p>
          <a:p>
            <a:pPr defTabSz="914400">
              <a:spcAft>
                <a:spcPts val="600"/>
              </a:spcAft>
            </a:pP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검증 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파트 간 협력 완성 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신뢰할 수 있는 역량</a:t>
            </a:r>
          </a:p>
          <a:p>
            <a:pPr defTabSz="914400">
              <a:spcAft>
                <a:spcPts val="600"/>
              </a:spcAft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전국 네트워크 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현장 밀착 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어디서나 동일한 서비스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408B8E4-91A7-2D1E-7609-307CCBAD4DEC}"/>
              </a:ext>
            </a:extLst>
          </p:cNvPr>
          <p:cNvGrpSpPr/>
          <p:nvPr/>
        </p:nvGrpSpPr>
        <p:grpSpPr>
          <a:xfrm>
            <a:off x="5596269" y="4830146"/>
            <a:ext cx="145033" cy="612294"/>
            <a:chOff x="5596269" y="4769186"/>
            <a:chExt cx="145033" cy="612294"/>
          </a:xfrm>
        </p:grpSpPr>
        <p:pic>
          <p:nvPicPr>
            <p:cNvPr id="57" name="그래픽 56" descr="배지 체크 표시1 윤곽선">
              <a:extLst>
                <a:ext uri="{FF2B5EF4-FFF2-40B4-BE49-F238E27FC236}">
                  <a16:creationId xmlns:a16="http://schemas.microsoft.com/office/drawing/2014/main" id="{DA4A5710-95A7-B6D5-CACC-99CA73AA1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96269" y="4769186"/>
              <a:ext cx="145033" cy="145033"/>
            </a:xfrm>
            <a:prstGeom prst="rect">
              <a:avLst/>
            </a:prstGeom>
          </p:spPr>
        </p:pic>
        <p:pic>
          <p:nvPicPr>
            <p:cNvPr id="58" name="그래픽 57" descr="배지 체크 표시1 윤곽선">
              <a:extLst>
                <a:ext uri="{FF2B5EF4-FFF2-40B4-BE49-F238E27FC236}">
                  <a16:creationId xmlns:a16="http://schemas.microsoft.com/office/drawing/2014/main" id="{680BC8FC-6196-250A-28A0-F6E1CC2A3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96269" y="5002816"/>
              <a:ext cx="145033" cy="145033"/>
            </a:xfrm>
            <a:prstGeom prst="rect">
              <a:avLst/>
            </a:prstGeom>
          </p:spPr>
        </p:pic>
        <p:pic>
          <p:nvPicPr>
            <p:cNvPr id="59" name="그래픽 58" descr="배지 체크 표시1 윤곽선">
              <a:extLst>
                <a:ext uri="{FF2B5EF4-FFF2-40B4-BE49-F238E27FC236}">
                  <a16:creationId xmlns:a16="http://schemas.microsoft.com/office/drawing/2014/main" id="{48B5FD9F-06F7-2FE3-CBA6-789A37AF2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96269" y="5236447"/>
              <a:ext cx="145033" cy="145033"/>
            </a:xfrm>
            <a:prstGeom prst="rect">
              <a:avLst/>
            </a:prstGeom>
          </p:spPr>
        </p:pic>
      </p:grpSp>
      <p:pic>
        <p:nvPicPr>
          <p:cNvPr id="2" name="Picture 7">
            <a:extLst>
              <a:ext uri="{FF2B5EF4-FFF2-40B4-BE49-F238E27FC236}">
                <a16:creationId xmlns:a16="http://schemas.microsoft.com/office/drawing/2014/main" id="{9169EF2D-52D3-5886-4396-12CD1F529C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80716" y="4700220"/>
            <a:ext cx="329384" cy="32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44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A4736-7491-28C7-5416-6DB6CB1D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다리꼴 48">
            <a:extLst>
              <a:ext uri="{FF2B5EF4-FFF2-40B4-BE49-F238E27FC236}">
                <a16:creationId xmlns:a16="http://schemas.microsoft.com/office/drawing/2014/main" id="{7FF94165-2B16-DECD-63F1-A2586ECFA897}"/>
              </a:ext>
            </a:extLst>
          </p:cNvPr>
          <p:cNvSpPr/>
          <p:nvPr/>
        </p:nvSpPr>
        <p:spPr bwMode="auto">
          <a:xfrm rot="10800000">
            <a:off x="497444" y="2601302"/>
            <a:ext cx="8844964" cy="602558"/>
          </a:xfrm>
          <a:prstGeom prst="trapezoid">
            <a:avLst>
              <a:gd name="adj" fmla="val 56922"/>
            </a:avLst>
          </a:prstGeom>
          <a:gradFill flip="none" rotWithShape="1">
            <a:gsLst>
              <a:gs pos="0">
                <a:sysClr val="window" lastClr="FFFFFF"/>
              </a:gs>
              <a:gs pos="78000">
                <a:schemeClr val="bg1">
                  <a:lumMod val="85000"/>
                </a:schemeClr>
              </a:gs>
            </a:gsLst>
            <a:lin ang="5400000" scaled="1"/>
            <a:tileRect/>
          </a:gra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88900" marR="0" indent="-88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445149-0146-A17D-D679-3540FFEDF434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G-DAX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통합 진단에서 정의로운 전환까지 </a:t>
            </a:r>
            <a:r>
              <a:rPr lang="en-US" altLang="ko-KR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KSA-T.R.A.N.S.F.O.R.M.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9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단계 전략 체계</a:t>
            </a:r>
            <a:endParaRPr lang="en-US" altLang="ko-KR" spc="-30" dirty="0">
              <a:solidFill>
                <a:srgbClr val="5D6DB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FBE8E3-DBF0-66AF-7419-BB9DB84B69C5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ko-KR" altLang="en-US" sz="1600" i="0" u="none" strike="noStrike" kern="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추진전략 수립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6F76CB-276C-E79E-FB4A-E10167349CF0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Green·Digital·AI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의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중 전환이 요구하는 산업 구조 재편 속에서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사람의 변화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를 중심으로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데이터 기반 발굴부터 노사 상생 거버넌스까지 근로자의 정의로운 전환을 실현하는 고도화된 컨설팅 모델임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28424C-7B38-EF39-97DF-0A5D5A0B658F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위기를 데이터로 발굴</a:t>
            </a:r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(T) → </a:t>
            </a:r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로드맵 설계</a:t>
            </a:r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(R) → </a:t>
            </a:r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전문가 </a:t>
            </a:r>
            <a:r>
              <a:rPr lang="ko-KR" altLang="en-US" sz="1200" b="1" kern="0" spc="-5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융합팀</a:t>
            </a:r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 수행</a:t>
            </a:r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(A+N) → </a:t>
            </a:r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정부 지원 연계</a:t>
            </a:r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(S) → </a:t>
            </a:r>
          </a:p>
          <a:p>
            <a:pPr algn="ctr" defTabSz="914400"/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성과 추적</a:t>
            </a:r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(F) → </a:t>
            </a:r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역량 내재화</a:t>
            </a:r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(O) → </a:t>
            </a:r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노사 상생</a:t>
            </a:r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(R) → </a:t>
            </a:r>
            <a:r>
              <a:rPr lang="ko-KR" altLang="en-US" sz="1200" b="1" kern="0" spc="-5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모델화</a:t>
            </a:r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 확산</a:t>
            </a:r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(M)</a:t>
            </a:r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까지의 </a:t>
            </a:r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9</a:t>
            </a:r>
            <a:r>
              <a:rPr lang="ko-KR" altLang="en-US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단계 전략을 추진합니다</a:t>
            </a:r>
            <a:r>
              <a:rPr lang="en-US" altLang="ko-KR" sz="12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2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69ABE-5D5C-1167-48EB-8778D80822DA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CEEEBDD7-D204-4C51-723E-70F8D73AA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094956"/>
              </p:ext>
            </p:extLst>
          </p:nvPr>
        </p:nvGraphicFramePr>
        <p:xfrm>
          <a:off x="449317" y="3947402"/>
          <a:ext cx="8996606" cy="1895970"/>
        </p:xfrm>
        <a:graphic>
          <a:graphicData uri="http://schemas.openxmlformats.org/drawingml/2006/table">
            <a:tbl>
              <a:tblPr/>
              <a:tblGrid>
                <a:gridCol w="498828">
                  <a:extLst>
                    <a:ext uri="{9D8B030D-6E8A-4147-A177-3AD203B41FA5}">
                      <a16:colId xmlns:a16="http://schemas.microsoft.com/office/drawing/2014/main" val="3468322939"/>
                    </a:ext>
                  </a:extLst>
                </a:gridCol>
                <a:gridCol w="338326">
                  <a:extLst>
                    <a:ext uri="{9D8B030D-6E8A-4147-A177-3AD203B41FA5}">
                      <a16:colId xmlns:a16="http://schemas.microsoft.com/office/drawing/2014/main" val="3936848372"/>
                    </a:ext>
                  </a:extLst>
                </a:gridCol>
                <a:gridCol w="1632646">
                  <a:extLst>
                    <a:ext uri="{9D8B030D-6E8A-4147-A177-3AD203B41FA5}">
                      <a16:colId xmlns:a16="http://schemas.microsoft.com/office/drawing/2014/main" val="951785312"/>
                    </a:ext>
                  </a:extLst>
                </a:gridCol>
                <a:gridCol w="3367651">
                  <a:extLst>
                    <a:ext uri="{9D8B030D-6E8A-4147-A177-3AD203B41FA5}">
                      <a16:colId xmlns:a16="http://schemas.microsoft.com/office/drawing/2014/main" val="4129850198"/>
                    </a:ext>
                  </a:extLst>
                </a:gridCol>
                <a:gridCol w="1288910">
                  <a:extLst>
                    <a:ext uri="{9D8B030D-6E8A-4147-A177-3AD203B41FA5}">
                      <a16:colId xmlns:a16="http://schemas.microsoft.com/office/drawing/2014/main" val="594586236"/>
                    </a:ext>
                  </a:extLst>
                </a:gridCol>
                <a:gridCol w="1870245">
                  <a:extLst>
                    <a:ext uri="{9D8B030D-6E8A-4147-A177-3AD203B41FA5}">
                      <a16:colId xmlns:a16="http://schemas.microsoft.com/office/drawing/2014/main" val="2840146690"/>
                    </a:ext>
                  </a:extLst>
                </a:gridCol>
              </a:tblGrid>
              <a:tr h="189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약어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내용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-7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가치</a:t>
                      </a:r>
                      <a:endParaRPr lang="ko-KR" altLang="en-US" sz="900" b="1" kern="0" spc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b="1" kern="0" spc="-7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 Output</a:t>
                      </a:r>
                      <a:endParaRPr lang="en-US" sz="900" b="1" kern="0" spc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908089"/>
                  </a:ext>
                </a:extLst>
              </a:tr>
              <a:tr h="189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발굴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Targeted Approach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잠재 수요 발굴을 통한 유형별 맞춤 제안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적합 기업 선제 발굴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잠재 수요 기업 리스트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538628"/>
                  </a:ext>
                </a:extLst>
              </a:tr>
              <a:tr h="189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Roadmap Design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</a:t>
                      </a:r>
                      <a:r>
                        <a:rPr lang="en-US" altLang="ko-KR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</a:t>
                      </a: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사람</a:t>
                      </a:r>
                      <a:r>
                        <a:rPr lang="en-US" altLang="ko-KR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</a:t>
                      </a: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연계 진단을 통한 최적 경력경로 설계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최적 경로 설계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 전환 로드맵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050874"/>
                  </a:ext>
                </a:extLst>
              </a:tr>
              <a:tr h="189597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Advanced Consulting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모듈형 전문가 </a:t>
                      </a:r>
                      <a:r>
                        <a:rPr lang="ko-KR" altLang="en-US" sz="900" b="1" dirty="0" err="1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스쿼드</a:t>
                      </a: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구성을 통한 융합 솔루션 제공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융합 솔루션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융합 이행 전략서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755911"/>
                  </a:ext>
                </a:extLst>
              </a:tr>
              <a:tr h="18959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900" b="1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 &amp; Collaboration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 기반 협력 생태계 구축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생태계 연결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 </a:t>
                      </a:r>
                      <a:r>
                        <a:rPr lang="en-US" altLang="ko-KR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MOU, </a:t>
                      </a: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 </a:t>
                      </a:r>
                      <a:r>
                        <a:rPr lang="ko-KR" altLang="en-US" sz="900" b="1" kern="0" spc="0" dirty="0" err="1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매칭표</a:t>
                      </a:r>
                      <a:endParaRPr lang="ko-KR" altLang="en-US" sz="900" b="1" kern="0" spc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676742"/>
                  </a:ext>
                </a:extLst>
              </a:tr>
              <a:tr h="189597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Support Linkage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부처 사업 연계형 토탈 패키지 설계 및 매칭 지원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예산 확보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정부지원사업 매칭 로드맵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830083"/>
                  </a:ext>
                </a:extLst>
              </a:tr>
              <a:tr h="18959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900" b="1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Feedback &amp; Follow-up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기반 실행 추적 및 애로사항 핫라인 구축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추적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 점검 보고서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6875"/>
                  </a:ext>
                </a:extLst>
              </a:tr>
              <a:tr h="189597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확산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Organizational Capability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 전문가 육성을 통한 기업 자체 혁신 역량 강화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자체 역량화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직무기술서</a:t>
                      </a:r>
                      <a:r>
                        <a:rPr lang="en-US" altLang="ko-KR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매뉴얼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738990"/>
                  </a:ext>
                </a:extLst>
              </a:tr>
              <a:tr h="18959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900" b="1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Relationship Management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노사 상생 거버넌스 구축을 통한 실행 중심 전환 추진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노사 상생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노사 협약서</a:t>
                      </a:r>
                      <a:r>
                        <a:rPr lang="en-US" altLang="ko-KR" sz="900" b="1" kern="0" spc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TMO </a:t>
                      </a:r>
                      <a:r>
                        <a:rPr lang="ko-KR" altLang="en-US" sz="900" b="1" kern="0" spc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규정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873187"/>
                  </a:ext>
                </a:extLst>
              </a:tr>
              <a:tr h="18959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900" b="1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Modeling &amp; Multiplication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5D6DB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표준모델 개발 및 우수사례 확산</a:t>
                      </a:r>
                    </a:p>
                  </a:txBody>
                  <a:tcPr marL="10229" marR="10229" marT="5114" marB="51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성과 확산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가이드북</a:t>
                      </a:r>
                      <a:r>
                        <a:rPr lang="en-US" altLang="ko-KR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kern="0" spc="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우수사례집</a:t>
                      </a:r>
                    </a:p>
                  </a:txBody>
                  <a:tcPr marL="11460" marR="11460" marT="9550" marB="95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414633"/>
                  </a:ext>
                </a:extLst>
              </a:tr>
            </a:tbl>
          </a:graphicData>
        </a:graphic>
      </p:graphicFrame>
      <p:grpSp>
        <p:nvGrpSpPr>
          <p:cNvPr id="44" name="그룹 43">
            <a:extLst>
              <a:ext uri="{FF2B5EF4-FFF2-40B4-BE49-F238E27FC236}">
                <a16:creationId xmlns:a16="http://schemas.microsoft.com/office/drawing/2014/main" id="{EB6D7B07-8878-57DE-627D-1F40046D95A9}"/>
              </a:ext>
            </a:extLst>
          </p:cNvPr>
          <p:cNvGrpSpPr/>
          <p:nvPr/>
        </p:nvGrpSpPr>
        <p:grpSpPr>
          <a:xfrm>
            <a:off x="466568" y="2049043"/>
            <a:ext cx="8979355" cy="665873"/>
            <a:chOff x="449317" y="2066719"/>
            <a:chExt cx="8834794" cy="877488"/>
          </a:xfrm>
        </p:grpSpPr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9FC86351-747B-EB54-6A5C-BED7FBB7782D}"/>
                </a:ext>
              </a:extLst>
            </p:cNvPr>
            <p:cNvSpPr/>
            <p:nvPr/>
          </p:nvSpPr>
          <p:spPr bwMode="auto">
            <a:xfrm>
              <a:off x="449317" y="2066719"/>
              <a:ext cx="6182806" cy="242738"/>
            </a:xfrm>
            <a:prstGeom prst="round2SameRect">
              <a:avLst>
                <a:gd name="adj1" fmla="val 34436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100" b="1" kern="0" spc="-8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G-DAX 3</a:t>
              </a:r>
              <a:r>
                <a:rPr lang="ko-KR" altLang="en-US" sz="1100" b="1" kern="0" spc="-8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중 </a:t>
              </a:r>
              <a:r>
                <a:rPr lang="ko-KR" altLang="en-US" sz="1100" b="1" kern="0" spc="-8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전환 </a:t>
              </a:r>
              <a:r>
                <a:rPr lang="en-US" altLang="ko-KR" sz="1100" b="1" kern="0" spc="-8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= X(Transformation)</a:t>
              </a:r>
              <a:endParaRPr kumimoji="0" lang="ko-KR" altLang="en-US" sz="1100" b="1" i="0" u="none" strike="noStrike" kern="0" cap="none" spc="-8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16587A3D-4219-79BB-E5F2-64B2B7B63D63}"/>
                </a:ext>
              </a:extLst>
            </p:cNvPr>
            <p:cNvSpPr/>
            <p:nvPr/>
          </p:nvSpPr>
          <p:spPr bwMode="auto">
            <a:xfrm>
              <a:off x="449318" y="2309457"/>
              <a:ext cx="6182806" cy="63474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endParaRPr kumimoji="0" lang="ko-KR" altLang="en-US" sz="12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id="{92588B59-764A-1001-89F6-87B61510B201}"/>
                </a:ext>
              </a:extLst>
            </p:cNvPr>
            <p:cNvSpPr/>
            <p:nvPr/>
          </p:nvSpPr>
          <p:spPr bwMode="auto">
            <a:xfrm>
              <a:off x="592186" y="2476037"/>
              <a:ext cx="1507171" cy="31844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Green(</a:t>
              </a:r>
              <a:r>
                <a:rPr lang="ko-KR" altLang="en-US" sz="1000" b="1" kern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탄소중립</a:t>
              </a:r>
              <a:r>
                <a:rPr lang="en-US" altLang="ko-KR" sz="1000" b="1" kern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4" name="사각형: 둥근 위쪽 모서리 23">
              <a:extLst>
                <a:ext uri="{FF2B5EF4-FFF2-40B4-BE49-F238E27FC236}">
                  <a16:creationId xmlns:a16="http://schemas.microsoft.com/office/drawing/2014/main" id="{16432215-2516-0EE5-9B6C-3F592A66181D}"/>
                </a:ext>
              </a:extLst>
            </p:cNvPr>
            <p:cNvSpPr/>
            <p:nvPr/>
          </p:nvSpPr>
          <p:spPr bwMode="auto">
            <a:xfrm>
              <a:off x="2776107" y="2476037"/>
              <a:ext cx="1507171" cy="31844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Digital(</a:t>
              </a:r>
              <a:r>
                <a:rPr lang="ko-KR" altLang="en-US" sz="1000" b="1" kern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자동화</a:t>
              </a:r>
              <a:r>
                <a:rPr lang="en-US" altLang="ko-KR" sz="1000" b="1" kern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4A69E6CC-9FD6-978B-5DA8-3883910594AC}"/>
                </a:ext>
              </a:extLst>
            </p:cNvPr>
            <p:cNvSpPr/>
            <p:nvPr/>
          </p:nvSpPr>
          <p:spPr bwMode="auto">
            <a:xfrm>
              <a:off x="4960027" y="2476037"/>
              <a:ext cx="1507171" cy="31844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AI(</a:t>
              </a:r>
              <a:r>
                <a:rPr lang="ko-KR" altLang="en-US" sz="1000" b="1" kern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지능화</a:t>
              </a:r>
              <a:r>
                <a:rPr lang="en-US" altLang="ko-KR" sz="1000" b="1" kern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pic>
          <p:nvPicPr>
            <p:cNvPr id="29" name="그래픽 28" descr="배지 팔로우 단색으로 채워진">
              <a:extLst>
                <a:ext uri="{FF2B5EF4-FFF2-40B4-BE49-F238E27FC236}">
                  <a16:creationId xmlns:a16="http://schemas.microsoft.com/office/drawing/2014/main" id="{DA1BA5FD-2DD9-177A-7B22-8B9BD0E954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31471" y="2492939"/>
              <a:ext cx="212523" cy="284645"/>
            </a:xfrm>
            <a:prstGeom prst="rect">
              <a:avLst/>
            </a:prstGeom>
          </p:spPr>
        </p:pic>
        <p:pic>
          <p:nvPicPr>
            <p:cNvPr id="30" name="그래픽 29" descr="배지 팔로우 단색으로 채워진">
              <a:extLst>
                <a:ext uri="{FF2B5EF4-FFF2-40B4-BE49-F238E27FC236}">
                  <a16:creationId xmlns:a16="http://schemas.microsoft.com/office/drawing/2014/main" id="{3A6486A9-E40D-365C-DCBB-2B38BA79933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15392" y="2492939"/>
              <a:ext cx="212523" cy="284645"/>
            </a:xfrm>
            <a:prstGeom prst="rect">
              <a:avLst/>
            </a:prstGeom>
          </p:spPr>
        </p:pic>
        <p:sp>
          <p:nvSpPr>
            <p:cNvPr id="35" name="사각형: 둥근 위쪽 모서리 34">
              <a:extLst>
                <a:ext uri="{FF2B5EF4-FFF2-40B4-BE49-F238E27FC236}">
                  <a16:creationId xmlns:a16="http://schemas.microsoft.com/office/drawing/2014/main" id="{E458568C-57CB-112A-6496-AAA3B0BFED42}"/>
                </a:ext>
              </a:extLst>
            </p:cNvPr>
            <p:cNvSpPr/>
            <p:nvPr/>
          </p:nvSpPr>
          <p:spPr bwMode="auto">
            <a:xfrm>
              <a:off x="7156937" y="2066720"/>
              <a:ext cx="2127174" cy="87748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endParaRPr kumimoji="0" lang="ko-KR" altLang="en-US" sz="12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E7A8DD20-24A0-07FF-6380-35090D691B33}"/>
                </a:ext>
              </a:extLst>
            </p:cNvPr>
            <p:cNvSpPr/>
            <p:nvPr/>
          </p:nvSpPr>
          <p:spPr bwMode="auto">
            <a:xfrm>
              <a:off x="7451267" y="2207793"/>
              <a:ext cx="1504008" cy="288639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85000"/>
                <a:lumOff val="1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1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산업구조 재편</a:t>
              </a:r>
              <a:endParaRPr lang="ko-KR" altLang="en-US" sz="1100" b="1" kern="0" spc="-1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A2E17F56-7E63-45AE-3E23-AE986C266609}"/>
                </a:ext>
              </a:extLst>
            </p:cNvPr>
            <p:cNvSpPr/>
            <p:nvPr/>
          </p:nvSpPr>
          <p:spPr bwMode="auto">
            <a:xfrm>
              <a:off x="7451267" y="2532379"/>
              <a:ext cx="1504008" cy="288639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85000"/>
                <a:lumOff val="1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1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일자리 전환</a:t>
              </a:r>
              <a:endParaRPr lang="ko-KR" altLang="en-US" sz="1100" b="1" kern="0" spc="-1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1" name="오른쪽 화살표 141">
              <a:extLst>
                <a:ext uri="{FF2B5EF4-FFF2-40B4-BE49-F238E27FC236}">
                  <a16:creationId xmlns:a16="http://schemas.microsoft.com/office/drawing/2014/main" id="{B1F4B6D2-A757-DEB5-6FA7-8D584A0292AE}"/>
                </a:ext>
              </a:extLst>
            </p:cNvPr>
            <p:cNvSpPr/>
            <p:nvPr/>
          </p:nvSpPr>
          <p:spPr>
            <a:xfrm>
              <a:off x="6774991" y="2280005"/>
              <a:ext cx="273603" cy="497579"/>
            </a:xfrm>
            <a:prstGeom prst="rightArrow">
              <a:avLst>
                <a:gd name="adj1" fmla="val 71367"/>
                <a:gd name="adj2" fmla="val 50000"/>
              </a:avLst>
            </a:prstGeom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DDDDDD">
                    <a:lumMod val="30000"/>
                    <a:lumOff val="7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800" kern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5" name="사각형: 둥근 위쪽 모서리 44">
            <a:extLst>
              <a:ext uri="{FF2B5EF4-FFF2-40B4-BE49-F238E27FC236}">
                <a16:creationId xmlns:a16="http://schemas.microsoft.com/office/drawing/2014/main" id="{5A7CF55A-1801-8796-16A5-4FE1CCAB94E0}"/>
              </a:ext>
            </a:extLst>
          </p:cNvPr>
          <p:cNvSpPr/>
          <p:nvPr/>
        </p:nvSpPr>
        <p:spPr bwMode="auto">
          <a:xfrm>
            <a:off x="710393" y="3047481"/>
            <a:ext cx="4091958" cy="25036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05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X: </a:t>
            </a:r>
            <a:r>
              <a:rPr lang="ko-KR" altLang="en-US" sz="105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기술 도입을 넘어 ‘사람의 변화’ 필수</a:t>
            </a:r>
            <a:endParaRPr kumimoji="0" lang="ko-KR" altLang="en-US" sz="1050" b="1" i="0" u="none" strike="noStrike" kern="0" cap="none" normalizeH="0" noProof="0" dirty="0">
              <a:ln>
                <a:solidFill>
                  <a:schemeClr val="bg2">
                    <a:lumMod val="25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AFB9D640-A4BC-2320-0F69-5F4EB4B48C0B}"/>
              </a:ext>
            </a:extLst>
          </p:cNvPr>
          <p:cNvSpPr/>
          <p:nvPr/>
        </p:nvSpPr>
        <p:spPr bwMode="auto">
          <a:xfrm>
            <a:off x="5051085" y="3047481"/>
            <a:ext cx="4091958" cy="25036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본 사업의 핵심</a:t>
            </a:r>
            <a:r>
              <a:rPr lang="en-US" altLang="ko-KR" sz="105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05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정의로운 전환</a:t>
            </a:r>
            <a:r>
              <a:rPr lang="en-US" altLang="ko-KR" sz="105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(Just Transition)</a:t>
            </a:r>
            <a:endParaRPr kumimoji="0" lang="ko-KR" altLang="en-US" sz="1050" b="1" i="0" u="none" strike="noStrike" kern="0" cap="none" normalizeH="0" noProof="0" dirty="0">
              <a:ln>
                <a:solidFill>
                  <a:schemeClr val="bg2">
                    <a:lumMod val="25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52502B12-3543-F121-F9EF-1D5E393AA0B6}"/>
              </a:ext>
            </a:extLst>
          </p:cNvPr>
          <p:cNvCxnSpPr>
            <a:stCxn id="45" idx="0"/>
            <a:endCxn id="46" idx="2"/>
          </p:cNvCxnSpPr>
          <p:nvPr/>
        </p:nvCxnSpPr>
        <p:spPr bwMode="auto">
          <a:xfrm>
            <a:off x="4802351" y="3172664"/>
            <a:ext cx="248734" cy="0"/>
          </a:xfrm>
          <a:prstGeom prst="line">
            <a:avLst/>
          </a:prstGeom>
          <a:solidFill>
            <a:srgbClr val="970F43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2C1AD2C-EDC4-39EF-B8CE-01762DE3CCF3}"/>
              </a:ext>
            </a:extLst>
          </p:cNvPr>
          <p:cNvSpPr txBox="1"/>
          <p:nvPr/>
        </p:nvSpPr>
        <p:spPr>
          <a:xfrm>
            <a:off x="466568" y="3655057"/>
            <a:ext cx="8979355" cy="283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u="sng" dirty="0">
                <a:solidFill>
                  <a:srgbClr val="1040C3"/>
                </a:solidFill>
              </a:rPr>
              <a:t>KSA-T.R.A.N.S.F.O.R.M. </a:t>
            </a:r>
            <a:r>
              <a:rPr lang="en-US" altLang="ko-KR" sz="1200" b="1" u="sng" spc="-50" dirty="0">
                <a:solidFill>
                  <a:srgbClr val="1040C3"/>
                </a:solidFill>
              </a:rPr>
              <a:t>9</a:t>
            </a:r>
            <a:r>
              <a:rPr lang="ko-KR" altLang="en-US" sz="1200" b="1" u="sng" spc="-50" dirty="0">
                <a:solidFill>
                  <a:srgbClr val="1040C3"/>
                </a:solidFill>
              </a:rPr>
              <a:t>단계 전략 체계</a:t>
            </a:r>
          </a:p>
        </p:txBody>
      </p:sp>
      <p:pic>
        <p:nvPicPr>
          <p:cNvPr id="51" name="Picture 11">
            <a:extLst>
              <a:ext uri="{FF2B5EF4-FFF2-40B4-BE49-F238E27FC236}">
                <a16:creationId xmlns:a16="http://schemas.microsoft.com/office/drawing/2014/main" id="{61F07FF9-B0D1-53C5-E088-CCB860B29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226" y="3249747"/>
            <a:ext cx="240787" cy="36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31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26FE0-1EDB-E1CF-4993-ADF581F1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다리꼴 39">
            <a:extLst>
              <a:ext uri="{FF2B5EF4-FFF2-40B4-BE49-F238E27FC236}">
                <a16:creationId xmlns:a16="http://schemas.microsoft.com/office/drawing/2014/main" id="{542D57A4-CF88-0BDE-74CB-E8DBDE63DDF7}"/>
              </a:ext>
            </a:extLst>
          </p:cNvPr>
          <p:cNvSpPr/>
          <p:nvPr/>
        </p:nvSpPr>
        <p:spPr bwMode="auto">
          <a:xfrm>
            <a:off x="571121" y="3364991"/>
            <a:ext cx="6312280" cy="406391"/>
          </a:xfrm>
          <a:prstGeom prst="trapezoid">
            <a:avLst>
              <a:gd name="adj" fmla="val 909528"/>
            </a:avLst>
          </a:prstGeom>
          <a:gradFill flip="none" rotWithShape="1">
            <a:gsLst>
              <a:gs pos="0">
                <a:sysClr val="window" lastClr="FFFFFF"/>
              </a:gs>
              <a:gs pos="78000">
                <a:schemeClr val="bg1">
                  <a:lumMod val="85000"/>
                </a:schemeClr>
              </a:gs>
            </a:gsLst>
            <a:lin ang="5400000" scaled="1"/>
            <a:tileRect/>
          </a:gra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88900" marR="0" indent="-88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9D2B0FE-9537-B769-5871-B403EE644D1D}"/>
              </a:ext>
            </a:extLst>
          </p:cNvPr>
          <p:cNvGrpSpPr/>
          <p:nvPr/>
        </p:nvGrpSpPr>
        <p:grpSpPr>
          <a:xfrm>
            <a:off x="539588" y="3720198"/>
            <a:ext cx="6343819" cy="2152701"/>
            <a:chOff x="539588" y="3720198"/>
            <a:chExt cx="6343819" cy="2152701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9A8C3710-9E6B-D7C1-1AAD-233A742D606E}"/>
                </a:ext>
              </a:extLst>
            </p:cNvPr>
            <p:cNvSpPr/>
            <p:nvPr/>
          </p:nvSpPr>
          <p:spPr bwMode="auto">
            <a:xfrm>
              <a:off x="539588" y="3951580"/>
              <a:ext cx="6343814" cy="192131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endParaRPr lang="ko-KR" altLang="en-US" sz="9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46" name="사각형: 둥근 위쪽 모서리 45">
              <a:extLst>
                <a:ext uri="{FF2B5EF4-FFF2-40B4-BE49-F238E27FC236}">
                  <a16:creationId xmlns:a16="http://schemas.microsoft.com/office/drawing/2014/main" id="{44A31B2B-873D-7486-8AE9-92C4235C74A2}"/>
                </a:ext>
              </a:extLst>
            </p:cNvPr>
            <p:cNvSpPr/>
            <p:nvPr/>
          </p:nvSpPr>
          <p:spPr bwMode="auto">
            <a:xfrm>
              <a:off x="539593" y="3720198"/>
              <a:ext cx="6343814" cy="22857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1040C3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5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G-DAX </a:t>
              </a:r>
              <a:r>
                <a:rPr lang="ko-KR" altLang="en-US" sz="105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진단지 활용</a:t>
              </a:r>
              <a:endParaRPr kumimoji="0" lang="ko-KR" altLang="en-US" sz="105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2A4CFFC-96D3-ACFC-C5A1-A1D73DF7AAE5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홍보 → 자가진단 → 신청 → 선정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기업의 자기주도형 필요성 인식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을 통한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진성 수요 발굴</a:t>
            </a:r>
            <a:endParaRPr lang="en-US" altLang="ko-KR" spc="-30" dirty="0">
              <a:solidFill>
                <a:srgbClr val="E3574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681A69-643C-1291-421C-BB6D102EBA7E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ko-KR" altLang="en-US" sz="1600" i="0" u="none" strike="noStrike" kern="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전략적 수요발굴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402977-3AB1-BF92-43E3-8D84178C4099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지역별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산업별 설명회와 온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오프라인 통합 홍보로 사업 인지를 확산시키고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</a:t>
            </a:r>
          </a:p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사전진단지를 통한 자가진단으로 기업이 스스로 전환 필요성을 인식하도록 유도함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078FB2-0F27-BA9E-0710-E029EB92D74A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기업이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자가진단을 통해 스스로 전환 필요성을 인식하고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</a:t>
            </a:r>
          </a:p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대 선정 기준과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단계 심사를 통해 실질적 수요를 가진 진성 기업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390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개를 발굴합니다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7A424-B6DA-C951-0B12-96098BCEA3B0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15BA412-FA7D-396C-603B-8120120310C4}"/>
              </a:ext>
            </a:extLst>
          </p:cNvPr>
          <p:cNvGrpSpPr/>
          <p:nvPr/>
        </p:nvGrpSpPr>
        <p:grpSpPr>
          <a:xfrm>
            <a:off x="444954" y="1959442"/>
            <a:ext cx="2476026" cy="253317"/>
            <a:chOff x="444954" y="2154076"/>
            <a:chExt cx="2476026" cy="253317"/>
          </a:xfrm>
        </p:grpSpPr>
        <p:pic>
          <p:nvPicPr>
            <p:cNvPr id="4" name="그래픽 3" descr="배지 체크 표시1 단색으로 채워진">
              <a:extLst>
                <a:ext uri="{FF2B5EF4-FFF2-40B4-BE49-F238E27FC236}">
                  <a16:creationId xmlns:a16="http://schemas.microsoft.com/office/drawing/2014/main" id="{2EFE549F-4E0A-95E1-E714-DE0314497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2C6183-4EB9-16F2-5928-BBCD7F4979D4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b="1" spc="-80" dirty="0"/>
                <a:t>4</a:t>
              </a:r>
              <a:r>
                <a:rPr lang="ko-KR" altLang="en-US" sz="1050" b="1" spc="-80" dirty="0"/>
                <a:t>단계 수요발굴 프로세스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60B9028-6C13-3699-BD22-3346212B32BF}"/>
              </a:ext>
            </a:extLst>
          </p:cNvPr>
          <p:cNvGrpSpPr/>
          <p:nvPr/>
        </p:nvGrpSpPr>
        <p:grpSpPr>
          <a:xfrm>
            <a:off x="539592" y="2254521"/>
            <a:ext cx="8686971" cy="1194088"/>
            <a:chOff x="539592" y="2447220"/>
            <a:chExt cx="8686971" cy="1194088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5C974F20-0097-627E-333A-6BFD3D443FFE}"/>
                </a:ext>
              </a:extLst>
            </p:cNvPr>
            <p:cNvGrpSpPr/>
            <p:nvPr/>
          </p:nvGrpSpPr>
          <p:grpSpPr>
            <a:xfrm>
              <a:off x="539592" y="2447220"/>
              <a:ext cx="1670208" cy="1194088"/>
              <a:chOff x="539592" y="2463512"/>
              <a:chExt cx="1541976" cy="1266349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04C6C3AE-E100-9D62-119E-0D9A3DAB5DB4}"/>
                  </a:ext>
                </a:extLst>
              </p:cNvPr>
              <p:cNvSpPr/>
              <p:nvPr/>
            </p:nvSpPr>
            <p:spPr bwMode="auto">
              <a:xfrm>
                <a:off x="540851" y="2463512"/>
                <a:ext cx="1540717" cy="242407"/>
              </a:xfrm>
              <a:prstGeom prst="round2SameRect">
                <a:avLst>
                  <a:gd name="adj1" fmla="val 42877"/>
                  <a:gd name="adj2" fmla="val 0"/>
                </a:avLst>
              </a:prstGeom>
              <a:solidFill>
                <a:srgbClr val="5D6DBE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en-US" altLang="ko-KR" sz="1000" b="1" kern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1</a:t>
                </a:r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단계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C8030026-3F71-616F-C5CE-0C7DD7D95799}"/>
                  </a:ext>
                </a:extLst>
              </p:cNvPr>
              <p:cNvSpPr/>
              <p:nvPr/>
            </p:nvSpPr>
            <p:spPr bwMode="auto">
              <a:xfrm>
                <a:off x="540851" y="2705919"/>
                <a:ext cx="1540717" cy="387157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다각적 홍보</a:t>
                </a:r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, </a:t>
                </a:r>
              </a:p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사업 인지 확산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16" name="사각형: 둥근 위쪽 모서리 15">
                <a:extLst>
                  <a:ext uri="{FF2B5EF4-FFF2-40B4-BE49-F238E27FC236}">
                    <a16:creationId xmlns:a16="http://schemas.microsoft.com/office/drawing/2014/main" id="{1F5F87F5-1C92-2CDE-9C27-FD2928AA00F0}"/>
                  </a:ext>
                </a:extLst>
              </p:cNvPr>
              <p:cNvSpPr/>
              <p:nvPr/>
            </p:nvSpPr>
            <p:spPr bwMode="auto">
              <a:xfrm>
                <a:off x="539592" y="3079408"/>
                <a:ext cx="1540717" cy="65045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DFE2F2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지역별</a:t>
                </a:r>
                <a:r>
                  <a:rPr lang="en-US" altLang="ko-KR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·</a:t>
                </a:r>
                <a:r>
                  <a:rPr lang="ko-KR" altLang="en-US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산업별 설명회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온라인 홍보</a:t>
                </a:r>
                <a:r>
                  <a:rPr lang="en-US" altLang="ko-KR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(SNS, </a:t>
                </a:r>
                <a:r>
                  <a:rPr lang="ko-KR" altLang="en-US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포털</a:t>
                </a:r>
                <a:r>
                  <a:rPr lang="en-US" altLang="ko-KR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)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오프라인 방문홍보</a:t>
                </a:r>
                <a:endParaRPr lang="en-US" altLang="ko-KR" sz="10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endParaRPr>
              </a:p>
              <a:p>
                <a:pPr defTabSz="914400"/>
                <a:endParaRPr kumimoji="0" lang="ko-KR" altLang="en-US" sz="900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566EB518-0E2B-6D35-F793-50EE4CADB9D6}"/>
                </a:ext>
              </a:extLst>
            </p:cNvPr>
            <p:cNvGrpSpPr/>
            <p:nvPr/>
          </p:nvGrpSpPr>
          <p:grpSpPr>
            <a:xfrm>
              <a:off x="2882299" y="2447220"/>
              <a:ext cx="1661122" cy="1194088"/>
              <a:chOff x="543787" y="2463512"/>
              <a:chExt cx="1533588" cy="1266349"/>
            </a:xfrm>
          </p:grpSpPr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id="{C5A888B9-835B-24F9-B4C7-3C7E8539D9FC}"/>
                  </a:ext>
                </a:extLst>
              </p:cNvPr>
              <p:cNvSpPr/>
              <p:nvPr/>
            </p:nvSpPr>
            <p:spPr bwMode="auto">
              <a:xfrm>
                <a:off x="546720" y="2463512"/>
                <a:ext cx="1527719" cy="242407"/>
              </a:xfrm>
              <a:prstGeom prst="round2SameRect">
                <a:avLst>
                  <a:gd name="adj1" fmla="val 42877"/>
                  <a:gd name="adj2" fmla="val 0"/>
                </a:avLst>
              </a:prstGeom>
              <a:solidFill>
                <a:srgbClr val="5D6DBE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2</a:t>
                </a:r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단계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23" name="사각형: 둥근 위쪽 모서리 22">
                <a:extLst>
                  <a:ext uri="{FF2B5EF4-FFF2-40B4-BE49-F238E27FC236}">
                    <a16:creationId xmlns:a16="http://schemas.microsoft.com/office/drawing/2014/main" id="{82B06C41-9926-11F0-EEFB-3B956AE0AD5D}"/>
                  </a:ext>
                </a:extLst>
              </p:cNvPr>
              <p:cNvSpPr/>
              <p:nvPr/>
            </p:nvSpPr>
            <p:spPr bwMode="auto">
              <a:xfrm>
                <a:off x="546720" y="2705919"/>
                <a:ext cx="1527719" cy="387157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자가진단 필요성 </a:t>
                </a:r>
                <a:endPara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endParaRPr>
              </a:p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인식 강화</a:t>
                </a:r>
              </a:p>
            </p:txBody>
          </p:sp>
          <p:sp>
            <p:nvSpPr>
              <p:cNvPr id="24" name="사각형: 둥근 위쪽 모서리 23">
                <a:extLst>
                  <a:ext uri="{FF2B5EF4-FFF2-40B4-BE49-F238E27FC236}">
                    <a16:creationId xmlns:a16="http://schemas.microsoft.com/office/drawing/2014/main" id="{D9B7694B-0891-4AB1-33E1-329797BA3CE3}"/>
                  </a:ext>
                </a:extLst>
              </p:cNvPr>
              <p:cNvSpPr/>
              <p:nvPr/>
            </p:nvSpPr>
            <p:spPr bwMode="auto">
              <a:xfrm>
                <a:off x="543787" y="3079408"/>
                <a:ext cx="1533588" cy="65045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DFE2F2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rgbClr val="1040C3"/>
                    </a:solidFill>
                    <a:latin typeface="+mn-ea"/>
                  </a:rPr>
                  <a:t>G-DAX </a:t>
                </a:r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rgbClr val="1040C3"/>
                    </a:solidFill>
                    <a:latin typeface="+mn-ea"/>
                  </a:rPr>
                  <a:t>진단지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en-US" altLang="ko-KR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4</a:t>
                </a:r>
                <a:r>
                  <a:rPr lang="ko-KR" altLang="en-US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가지 유형 분류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맞춤형 컨설팅 설계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신청동기 강화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74AB2F0-00EA-D8CC-42C8-6E19E1041BE1}"/>
                </a:ext>
              </a:extLst>
            </p:cNvPr>
            <p:cNvGrpSpPr/>
            <p:nvPr/>
          </p:nvGrpSpPr>
          <p:grpSpPr>
            <a:xfrm>
              <a:off x="5215920" y="2447220"/>
              <a:ext cx="1670660" cy="1194088"/>
              <a:chOff x="534982" y="2463512"/>
              <a:chExt cx="1542393" cy="1266349"/>
            </a:xfrm>
          </p:grpSpPr>
          <p:sp>
            <p:nvSpPr>
              <p:cNvPr id="26" name="사각형: 둥근 위쪽 모서리 25">
                <a:extLst>
                  <a:ext uri="{FF2B5EF4-FFF2-40B4-BE49-F238E27FC236}">
                    <a16:creationId xmlns:a16="http://schemas.microsoft.com/office/drawing/2014/main" id="{4C4750FC-A5C1-5689-5DFA-74F962C562E7}"/>
                  </a:ext>
                </a:extLst>
              </p:cNvPr>
              <p:cNvSpPr/>
              <p:nvPr/>
            </p:nvSpPr>
            <p:spPr bwMode="auto">
              <a:xfrm>
                <a:off x="534982" y="2463512"/>
                <a:ext cx="1539458" cy="242407"/>
              </a:xfrm>
              <a:prstGeom prst="round2SameRect">
                <a:avLst>
                  <a:gd name="adj1" fmla="val 42877"/>
                  <a:gd name="adj2" fmla="val 0"/>
                </a:avLst>
              </a:prstGeom>
              <a:solidFill>
                <a:srgbClr val="5D6DBE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3</a:t>
                </a:r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단계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27" name="사각형: 둥근 위쪽 모서리 26">
                <a:extLst>
                  <a:ext uri="{FF2B5EF4-FFF2-40B4-BE49-F238E27FC236}">
                    <a16:creationId xmlns:a16="http://schemas.microsoft.com/office/drawing/2014/main" id="{7E23733A-4A09-3D75-2C06-35F862500B6A}"/>
                  </a:ext>
                </a:extLst>
              </p:cNvPr>
              <p:cNvSpPr/>
              <p:nvPr/>
            </p:nvSpPr>
            <p:spPr bwMode="auto">
              <a:xfrm>
                <a:off x="534982" y="2705919"/>
                <a:ext cx="1539458" cy="387157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신청 유도</a:t>
                </a:r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, </a:t>
                </a:r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적격성 검토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28" name="사각형: 둥근 위쪽 모서리 27">
                <a:extLst>
                  <a:ext uri="{FF2B5EF4-FFF2-40B4-BE49-F238E27FC236}">
                    <a16:creationId xmlns:a16="http://schemas.microsoft.com/office/drawing/2014/main" id="{A83B107F-BA97-4B11-C5EF-32C47E8398AD}"/>
                  </a:ext>
                </a:extLst>
              </p:cNvPr>
              <p:cNvSpPr/>
              <p:nvPr/>
            </p:nvSpPr>
            <p:spPr bwMode="auto">
              <a:xfrm>
                <a:off x="537917" y="3079408"/>
                <a:ext cx="1539458" cy="65045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DFE2F2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신청 접수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1000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홍보 결과 기반 신청</a:t>
                </a:r>
                <a:endParaRPr lang="en-US" altLang="ko-KR" sz="10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endParaRP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endParaRPr kumimoji="0" lang="en-US" altLang="ko-KR" sz="900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endParaRPr kumimoji="0" lang="ko-KR" altLang="en-US" sz="900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FFBDD62-36E6-0108-C968-FF18D60226B2}"/>
                </a:ext>
              </a:extLst>
            </p:cNvPr>
            <p:cNvGrpSpPr/>
            <p:nvPr/>
          </p:nvGrpSpPr>
          <p:grpSpPr>
            <a:xfrm>
              <a:off x="7559082" y="2447220"/>
              <a:ext cx="1667481" cy="1194088"/>
              <a:chOff x="532047" y="2463512"/>
              <a:chExt cx="1539458" cy="1266349"/>
            </a:xfrm>
          </p:grpSpPr>
          <p:sp>
            <p:nvSpPr>
              <p:cNvPr id="30" name="사각형: 둥근 위쪽 모서리 29">
                <a:extLst>
                  <a:ext uri="{FF2B5EF4-FFF2-40B4-BE49-F238E27FC236}">
                    <a16:creationId xmlns:a16="http://schemas.microsoft.com/office/drawing/2014/main" id="{5F26ADA6-7276-57D4-2FD7-CDCB267DA708}"/>
                  </a:ext>
                </a:extLst>
              </p:cNvPr>
              <p:cNvSpPr/>
              <p:nvPr/>
            </p:nvSpPr>
            <p:spPr bwMode="auto">
              <a:xfrm>
                <a:off x="532047" y="2463512"/>
                <a:ext cx="1539458" cy="242407"/>
              </a:xfrm>
              <a:prstGeom prst="round2SameRect">
                <a:avLst>
                  <a:gd name="adj1" fmla="val 42877"/>
                  <a:gd name="adj2" fmla="val 0"/>
                </a:avLst>
              </a:prstGeom>
              <a:solidFill>
                <a:srgbClr val="5D6DBE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4</a:t>
                </a:r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단계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31" name="사각형: 둥근 위쪽 모서리 30">
                <a:extLst>
                  <a:ext uri="{FF2B5EF4-FFF2-40B4-BE49-F238E27FC236}">
                    <a16:creationId xmlns:a16="http://schemas.microsoft.com/office/drawing/2014/main" id="{16EEFC0F-9A37-8A9C-6EC5-542EE5FECD5C}"/>
                  </a:ext>
                </a:extLst>
              </p:cNvPr>
              <p:cNvSpPr/>
              <p:nvPr/>
            </p:nvSpPr>
            <p:spPr bwMode="auto">
              <a:xfrm>
                <a:off x="532047" y="2705919"/>
                <a:ext cx="1539458" cy="387157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기업 선정</a:t>
                </a:r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, </a:t>
                </a:r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착수 회의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A3EAED0E-19AA-AFE8-278A-9F0270B0F6F5}"/>
                  </a:ext>
                </a:extLst>
              </p:cNvPr>
              <p:cNvSpPr/>
              <p:nvPr/>
            </p:nvSpPr>
            <p:spPr bwMode="auto">
              <a:xfrm>
                <a:off x="532047" y="3079408"/>
                <a:ext cx="1539458" cy="65045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DFE2F2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rgbClr val="596290"/>
                    </a:solidFill>
                    <a:latin typeface="+mn-ea"/>
                  </a:rPr>
                  <a:t>5</a:t>
                </a:r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rgbClr val="596290"/>
                    </a:solidFill>
                    <a:latin typeface="+mn-ea"/>
                  </a:rPr>
                  <a:t>대 기준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rgbClr val="596290"/>
                    </a:solidFill>
                    <a:latin typeface="+mn-ea"/>
                  </a:rPr>
                  <a:t>3</a:t>
                </a:r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rgbClr val="596290"/>
                    </a:solidFill>
                    <a:latin typeface="+mn-ea"/>
                  </a:rPr>
                  <a:t>단계 심사</a:t>
                </a:r>
                <a:endPara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96290"/>
                  </a:solidFill>
                  <a:latin typeface="+mn-ea"/>
                </a:endParaRP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endParaRPr kumimoji="0" lang="en-US" altLang="ko-KR" sz="900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endParaRPr kumimoji="0" lang="ko-KR" altLang="en-US" sz="900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33" name="오른쪽 화살표 141">
              <a:extLst>
                <a:ext uri="{FF2B5EF4-FFF2-40B4-BE49-F238E27FC236}">
                  <a16:creationId xmlns:a16="http://schemas.microsoft.com/office/drawing/2014/main" id="{B1B729E6-527A-5D33-5239-71BF36A87A40}"/>
                </a:ext>
              </a:extLst>
            </p:cNvPr>
            <p:cNvSpPr/>
            <p:nvPr/>
          </p:nvSpPr>
          <p:spPr>
            <a:xfrm>
              <a:off x="2299046" y="2650256"/>
              <a:ext cx="494007" cy="253317"/>
            </a:xfrm>
            <a:prstGeom prst="rightArrow">
              <a:avLst>
                <a:gd name="adj1" fmla="val 71367"/>
                <a:gd name="adj2" fmla="val 50000"/>
              </a:avLst>
            </a:prstGeom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DDDDDD">
                    <a:lumMod val="30000"/>
                    <a:lumOff val="7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800" kern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34" name="오른쪽 화살표 141">
              <a:extLst>
                <a:ext uri="{FF2B5EF4-FFF2-40B4-BE49-F238E27FC236}">
                  <a16:creationId xmlns:a16="http://schemas.microsoft.com/office/drawing/2014/main" id="{8C316BAB-D210-B756-9899-22F8D7FFFB52}"/>
                </a:ext>
              </a:extLst>
            </p:cNvPr>
            <p:cNvSpPr/>
            <p:nvPr/>
          </p:nvSpPr>
          <p:spPr>
            <a:xfrm>
              <a:off x="4632667" y="2650256"/>
              <a:ext cx="494007" cy="253317"/>
            </a:xfrm>
            <a:prstGeom prst="rightArrow">
              <a:avLst>
                <a:gd name="adj1" fmla="val 71367"/>
                <a:gd name="adj2" fmla="val 50000"/>
              </a:avLst>
            </a:prstGeom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DDDDDD">
                    <a:lumMod val="30000"/>
                    <a:lumOff val="7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800" kern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35" name="오른쪽 화살표 141">
              <a:extLst>
                <a:ext uri="{FF2B5EF4-FFF2-40B4-BE49-F238E27FC236}">
                  <a16:creationId xmlns:a16="http://schemas.microsoft.com/office/drawing/2014/main" id="{AD018504-3EC5-45D2-7B15-96ED2A932A5F}"/>
                </a:ext>
              </a:extLst>
            </p:cNvPr>
            <p:cNvSpPr/>
            <p:nvPr/>
          </p:nvSpPr>
          <p:spPr>
            <a:xfrm>
              <a:off x="6975826" y="2650256"/>
              <a:ext cx="494007" cy="253317"/>
            </a:xfrm>
            <a:prstGeom prst="rightArrow">
              <a:avLst>
                <a:gd name="adj1" fmla="val 71367"/>
                <a:gd name="adj2" fmla="val 50000"/>
              </a:avLst>
            </a:prstGeom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DDDDDD">
                    <a:lumMod val="30000"/>
                    <a:lumOff val="7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800" kern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D6E8CB-E16B-D92E-5A7A-29F96322F92B}"/>
              </a:ext>
            </a:extLst>
          </p:cNvPr>
          <p:cNvGrpSpPr/>
          <p:nvPr/>
        </p:nvGrpSpPr>
        <p:grpSpPr>
          <a:xfrm>
            <a:off x="528870" y="3993484"/>
            <a:ext cx="3095271" cy="1832679"/>
            <a:chOff x="-683964" y="3846002"/>
            <a:chExt cx="3477017" cy="2147773"/>
          </a:xfrm>
        </p:grpSpPr>
        <p:pic>
          <p:nvPicPr>
            <p:cNvPr id="15" name="Picture 0">
              <a:extLst>
                <a:ext uri="{FF2B5EF4-FFF2-40B4-BE49-F238E27FC236}">
                  <a16:creationId xmlns:a16="http://schemas.microsoft.com/office/drawing/2014/main" id="{AFB41BF0-1D38-58E5-23C0-A7071E037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9593" y="3846002"/>
              <a:ext cx="2253460" cy="1115717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9" name="Picture 4">
              <a:extLst>
                <a:ext uri="{FF2B5EF4-FFF2-40B4-BE49-F238E27FC236}">
                  <a16:creationId xmlns:a16="http://schemas.microsoft.com/office/drawing/2014/main" id="{83C8408C-C448-1DB0-1F30-4480DF991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9592" y="4965865"/>
              <a:ext cx="2253460" cy="1027909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7" name="그림 36" descr="텍스트, 스크린샷, 휴대 전화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875EC0D-E2E7-A6AE-4577-22F3523DF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3964" y="3846003"/>
              <a:ext cx="1198756" cy="2147772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93AA1FE-0593-3F02-675B-7D2FC25FBFC6}"/>
              </a:ext>
            </a:extLst>
          </p:cNvPr>
          <p:cNvGrpSpPr/>
          <p:nvPr/>
        </p:nvGrpSpPr>
        <p:grpSpPr>
          <a:xfrm>
            <a:off x="7098453" y="3735698"/>
            <a:ext cx="2128109" cy="2137201"/>
            <a:chOff x="7098453" y="3735698"/>
            <a:chExt cx="2128109" cy="2137201"/>
          </a:xfrm>
        </p:grpSpPr>
        <p:sp>
          <p:nvSpPr>
            <p:cNvPr id="41" name="사각형: 둥근 위쪽 모서리 40">
              <a:extLst>
                <a:ext uri="{FF2B5EF4-FFF2-40B4-BE49-F238E27FC236}">
                  <a16:creationId xmlns:a16="http://schemas.microsoft.com/office/drawing/2014/main" id="{8143BD8C-2376-AD3C-C07F-7778E3C197B4}"/>
                </a:ext>
              </a:extLst>
            </p:cNvPr>
            <p:cNvSpPr/>
            <p:nvPr/>
          </p:nvSpPr>
          <p:spPr bwMode="auto">
            <a:xfrm>
              <a:off x="7098453" y="3735698"/>
              <a:ext cx="2128109" cy="2101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5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5</a:t>
              </a:r>
              <a:r>
                <a:rPr lang="ko-KR" altLang="en-US" sz="105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대 선정 기준</a:t>
              </a:r>
              <a:endParaRPr kumimoji="0" lang="ko-KR" altLang="en-US" sz="105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2" name="사각형: 둥근 위쪽 모서리 41">
              <a:extLst>
                <a:ext uri="{FF2B5EF4-FFF2-40B4-BE49-F238E27FC236}">
                  <a16:creationId xmlns:a16="http://schemas.microsoft.com/office/drawing/2014/main" id="{DBEE8FCA-5B45-895B-FE8B-F5EC07053783}"/>
                </a:ext>
              </a:extLst>
            </p:cNvPr>
            <p:cNvSpPr/>
            <p:nvPr/>
          </p:nvSpPr>
          <p:spPr bwMode="auto">
            <a:xfrm>
              <a:off x="7098453" y="3948638"/>
              <a:ext cx="2128106" cy="101147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① 규모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고용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(50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인 이상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② </a:t>
              </a:r>
              <a:r>
                <a:rPr lang="ko-KR" altLang="en-US" sz="1000" kern="0" spc="-7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전환니즈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(G-DAX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진단 기반 시급성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③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참여의지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경영진 </a:t>
              </a:r>
              <a:r>
                <a:rPr lang="ko-KR" altLang="en-US" sz="1000" kern="0" spc="-7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협조성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이행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④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실행가능성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내부 전문가 보유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육성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⑤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정책연계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장려금 등 </a:t>
              </a:r>
              <a:r>
                <a:rPr lang="ko-KR" altLang="en-US" sz="1000" kern="0" spc="-7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유관사업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연계</a:t>
              </a:r>
            </a:p>
          </p:txBody>
        </p:sp>
        <p:sp>
          <p:nvSpPr>
            <p:cNvPr id="43" name="사각형: 둥근 위쪽 모서리 42">
              <a:extLst>
                <a:ext uri="{FF2B5EF4-FFF2-40B4-BE49-F238E27FC236}">
                  <a16:creationId xmlns:a16="http://schemas.microsoft.com/office/drawing/2014/main" id="{E184FB76-7725-B131-F69E-D91E517F1EDA}"/>
                </a:ext>
              </a:extLst>
            </p:cNvPr>
            <p:cNvSpPr/>
            <p:nvPr/>
          </p:nvSpPr>
          <p:spPr bwMode="auto">
            <a:xfrm>
              <a:off x="7098453" y="4994088"/>
              <a:ext cx="2128109" cy="2101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kumimoji="0" lang="en-US" altLang="ko-KR" sz="1050" b="1" i="0" u="none" strike="noStrike" kern="0" cap="none" spc="-100" normalizeH="0" noProof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rPr>
                <a:t>3</a:t>
              </a:r>
              <a:r>
                <a:rPr kumimoji="0" lang="ko-KR" altLang="en-US" sz="1050" b="1" i="0" u="none" strike="noStrike" kern="0" cap="none" spc="-100" normalizeH="0" noProof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rPr>
                <a:t>단계 심사</a:t>
              </a:r>
              <a:endParaRPr kumimoji="0" lang="ko-KR" altLang="en-US" sz="105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4" name="사각형: 둥근 위쪽 모서리 43">
              <a:extLst>
                <a:ext uri="{FF2B5EF4-FFF2-40B4-BE49-F238E27FC236}">
                  <a16:creationId xmlns:a16="http://schemas.microsoft.com/office/drawing/2014/main" id="{549FE8BC-3697-D156-E6CD-F6E13249CDFA}"/>
                </a:ext>
              </a:extLst>
            </p:cNvPr>
            <p:cNvSpPr/>
            <p:nvPr/>
          </p:nvSpPr>
          <p:spPr bwMode="auto">
            <a:xfrm>
              <a:off x="7098453" y="5207028"/>
              <a:ext cx="2128106" cy="66587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심사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: 1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차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서류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 → 2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차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현장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/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화상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 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      → 3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차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심의위원회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marL="171450" indent="-171450" defTabSz="91440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결과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: 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선정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300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개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신청 대비 </a:t>
              </a: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25%) </a:t>
              </a:r>
              <a:b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</a:br>
              <a:r>
                <a:rPr lang="en-US" altLang="ko-KR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*</a:t>
              </a:r>
              <a:r>
                <a:rPr lang="ko-KR" altLang="en-US" sz="1000" kern="0" spc="-7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미선정</a:t>
              </a:r>
              <a:r>
                <a:rPr lang="ko-KR" altLang="en-US" sz="1000" kern="0" spc="-7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기업 피드백</a:t>
              </a:r>
            </a:p>
          </p:txBody>
        </p:sp>
      </p:grp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B6841C94-0271-7084-DFDF-B28934910BA5}"/>
              </a:ext>
            </a:extLst>
          </p:cNvPr>
          <p:cNvCxnSpPr/>
          <p:nvPr/>
        </p:nvCxnSpPr>
        <p:spPr bwMode="auto">
          <a:xfrm>
            <a:off x="6975826" y="3735698"/>
            <a:ext cx="0" cy="2090464"/>
          </a:xfrm>
          <a:prstGeom prst="line">
            <a:avLst/>
          </a:prstGeom>
          <a:solidFill>
            <a:srgbClr val="970F43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1618465-BB4D-9376-1517-EF6CEB9F51CC}"/>
              </a:ext>
            </a:extLst>
          </p:cNvPr>
          <p:cNvGrpSpPr/>
          <p:nvPr/>
        </p:nvGrpSpPr>
        <p:grpSpPr>
          <a:xfrm>
            <a:off x="3892152" y="4066704"/>
            <a:ext cx="2840542" cy="1699291"/>
            <a:chOff x="3892151" y="4066705"/>
            <a:chExt cx="2908471" cy="1482616"/>
          </a:xfrm>
        </p:grpSpPr>
        <p:sp>
          <p:nvSpPr>
            <p:cNvPr id="52" name="사각형: 둥근 위쪽 모서리 51">
              <a:extLst>
                <a:ext uri="{FF2B5EF4-FFF2-40B4-BE49-F238E27FC236}">
                  <a16:creationId xmlns:a16="http://schemas.microsoft.com/office/drawing/2014/main" id="{724BA84B-74E1-1917-45EF-88530B69BD36}"/>
                </a:ext>
              </a:extLst>
            </p:cNvPr>
            <p:cNvSpPr/>
            <p:nvPr/>
          </p:nvSpPr>
          <p:spPr bwMode="auto">
            <a:xfrm>
              <a:off x="3892151" y="4066705"/>
              <a:ext cx="675705" cy="41362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5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진단 영역</a:t>
              </a:r>
              <a:endParaRPr kumimoji="0" lang="ko-KR" altLang="en-US" sz="105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3E4B8D56-5950-4B6B-0C6B-8BD682130198}"/>
                </a:ext>
              </a:extLst>
            </p:cNvPr>
            <p:cNvSpPr/>
            <p:nvPr/>
          </p:nvSpPr>
          <p:spPr bwMode="auto">
            <a:xfrm>
              <a:off x="4567856" y="4066705"/>
              <a:ext cx="2232571" cy="41362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기업현황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|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산업환경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|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고용현황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|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일자리질</a:t>
              </a:r>
            </a:p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전환준비도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|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지원희망분야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4" name="사각형: 둥근 위쪽 모서리 53">
              <a:extLst>
                <a:ext uri="{FF2B5EF4-FFF2-40B4-BE49-F238E27FC236}">
                  <a16:creationId xmlns:a16="http://schemas.microsoft.com/office/drawing/2014/main" id="{4853B906-A21D-C8C5-CB1D-881020505183}"/>
                </a:ext>
              </a:extLst>
            </p:cNvPr>
            <p:cNvSpPr/>
            <p:nvPr/>
          </p:nvSpPr>
          <p:spPr bwMode="auto">
            <a:xfrm>
              <a:off x="3892151" y="4601202"/>
              <a:ext cx="675705" cy="41362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5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진단 결과</a:t>
              </a:r>
              <a:endParaRPr kumimoji="0" lang="ko-KR" altLang="en-US" sz="105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5" name="사각형: 둥근 위쪽 모서리 54">
              <a:extLst>
                <a:ext uri="{FF2B5EF4-FFF2-40B4-BE49-F238E27FC236}">
                  <a16:creationId xmlns:a16="http://schemas.microsoft.com/office/drawing/2014/main" id="{9B4773A4-B12C-D9AC-A896-7F5211674AB3}"/>
                </a:ext>
              </a:extLst>
            </p:cNvPr>
            <p:cNvSpPr/>
            <p:nvPr/>
          </p:nvSpPr>
          <p:spPr bwMode="auto">
            <a:xfrm>
              <a:off x="4567856" y="4601202"/>
              <a:ext cx="2232571" cy="41362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유형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I (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구조전환형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 |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유형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II (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공정혁신형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유형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III (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가치창출형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 |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유형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IV (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감소기반형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6" name="사각형: 둥근 위쪽 모서리 55">
              <a:extLst>
                <a:ext uri="{FF2B5EF4-FFF2-40B4-BE49-F238E27FC236}">
                  <a16:creationId xmlns:a16="http://schemas.microsoft.com/office/drawing/2014/main" id="{AE6AB386-D49F-892E-2EA9-E0202DD7284A}"/>
                </a:ext>
              </a:extLst>
            </p:cNvPr>
            <p:cNvSpPr/>
            <p:nvPr/>
          </p:nvSpPr>
          <p:spPr bwMode="auto">
            <a:xfrm>
              <a:off x="3892346" y="5135699"/>
              <a:ext cx="675705" cy="41362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9629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5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배포</a:t>
              </a:r>
              <a:r>
                <a:rPr lang="en-US" altLang="ko-KR" sz="105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·</a:t>
              </a:r>
              <a:r>
                <a:rPr lang="ko-KR" altLang="en-US" sz="105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지원</a:t>
              </a:r>
              <a:endParaRPr kumimoji="0" lang="ko-KR" altLang="en-US" sz="105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7" name="사각형: 둥근 위쪽 모서리 56">
              <a:extLst>
                <a:ext uri="{FF2B5EF4-FFF2-40B4-BE49-F238E27FC236}">
                  <a16:creationId xmlns:a16="http://schemas.microsoft.com/office/drawing/2014/main" id="{A3D5236F-2A79-0604-5661-801D394AF451}"/>
                </a:ext>
              </a:extLst>
            </p:cNvPr>
            <p:cNvSpPr/>
            <p:nvPr/>
          </p:nvSpPr>
          <p:spPr bwMode="auto">
            <a:xfrm>
              <a:off x="4568051" y="5135699"/>
              <a:ext cx="2232571" cy="41362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설명회 현장배포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온라인 자율진단</a:t>
              </a:r>
            </a:p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협회 회원사 배포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전담 상담 지원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6458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6042-81A9-DC62-C6F8-964262454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72A2B14-4568-5046-673D-6EFA1EA148F4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G-DAX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복합 위기 대응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One-Stop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토탈 솔루션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진단</a:t>
            </a:r>
            <a:r>
              <a:rPr lang="en-US" altLang="ko-KR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수행</a:t>
            </a:r>
            <a:r>
              <a:rPr lang="en-US" altLang="ko-KR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이행의 </a:t>
            </a:r>
            <a:r>
              <a:rPr lang="en-US" altLang="ko-KR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 고도화 전략</a:t>
            </a:r>
            <a:endParaRPr lang="en-US" altLang="ko-KR" spc="-30" dirty="0">
              <a:solidFill>
                <a:srgbClr val="E3574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C4999B-A7B5-E9B6-3CBC-150CE967CE4C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컨설팅 수행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2177E9-7CB2-85E6-BB73-A349843E767E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Green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규제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·Digital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전환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·AI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자동화에 대응해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통합 진단으로 전환 타깃을 설정하고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·HR·DX·ESG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전문가 </a:t>
            </a:r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스쿼드와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범부처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지원사업 매칭을 통해 ‘</a:t>
            </a:r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진단→수행→이행’이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연계된 통합 솔루션을 제공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F24B43-96C6-9E94-DACC-66BEBC127BBA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기업이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무엇을 할 것인가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진단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)" → 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어떻게 할 것인가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수행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)" → 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무엇으로 할 것인가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자금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)"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을</a:t>
            </a: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한 번에 답할 수 있는 완전 통합형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One-Stop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토탈 솔루션을 제공합니다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93818-D10B-C30C-1AA4-A51DC0FE6142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7821B5A-E71C-05CA-BF38-555D88542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804966"/>
              </p:ext>
            </p:extLst>
          </p:nvPr>
        </p:nvGraphicFramePr>
        <p:xfrm>
          <a:off x="630936" y="2532888"/>
          <a:ext cx="8622792" cy="3136393"/>
        </p:xfrm>
        <a:graphic>
          <a:graphicData uri="http://schemas.openxmlformats.org/drawingml/2006/table">
            <a:tbl>
              <a:tblPr/>
              <a:tblGrid>
                <a:gridCol w="2586296">
                  <a:extLst>
                    <a:ext uri="{9D8B030D-6E8A-4147-A177-3AD203B41FA5}">
                      <a16:colId xmlns:a16="http://schemas.microsoft.com/office/drawing/2014/main" val="1341597113"/>
                    </a:ext>
                  </a:extLst>
                </a:gridCol>
                <a:gridCol w="432759">
                  <a:extLst>
                    <a:ext uri="{9D8B030D-6E8A-4147-A177-3AD203B41FA5}">
                      <a16:colId xmlns:a16="http://schemas.microsoft.com/office/drawing/2014/main" val="1816239682"/>
                    </a:ext>
                  </a:extLst>
                </a:gridCol>
                <a:gridCol w="2586296">
                  <a:extLst>
                    <a:ext uri="{9D8B030D-6E8A-4147-A177-3AD203B41FA5}">
                      <a16:colId xmlns:a16="http://schemas.microsoft.com/office/drawing/2014/main" val="3092615470"/>
                    </a:ext>
                  </a:extLst>
                </a:gridCol>
                <a:gridCol w="432759">
                  <a:extLst>
                    <a:ext uri="{9D8B030D-6E8A-4147-A177-3AD203B41FA5}">
                      <a16:colId xmlns:a16="http://schemas.microsoft.com/office/drawing/2014/main" val="2890987467"/>
                    </a:ext>
                  </a:extLst>
                </a:gridCol>
                <a:gridCol w="2584682">
                  <a:extLst>
                    <a:ext uri="{9D8B030D-6E8A-4147-A177-3AD203B41FA5}">
                      <a16:colId xmlns:a16="http://schemas.microsoft.com/office/drawing/2014/main" val="2108548226"/>
                    </a:ext>
                  </a:extLst>
                </a:gridCol>
              </a:tblGrid>
              <a:tr h="5145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진단 고도화</a:t>
                      </a:r>
                      <a:r>
                        <a:rPr lang="en-US" altLang="ko-KR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ko-KR" altLang="en-US" sz="1200" b="1" kern="0" spc="-7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G-DAX </a:t>
                      </a:r>
                      <a:r>
                        <a:rPr lang="ko-KR" altLang="en-US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진단</a:t>
                      </a:r>
                    </a:p>
                  </a:txBody>
                  <a:tcPr marL="5321" marR="5321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0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05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고도화</a:t>
                      </a:r>
                      <a:r>
                        <a:rPr lang="en-US" altLang="ko-KR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ko-KR" altLang="en-US" sz="12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융합 </a:t>
                      </a:r>
                      <a:r>
                        <a:rPr lang="ko-KR" altLang="en-US" sz="1200" b="1" kern="0" spc="-7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스쿼드</a:t>
                      </a:r>
                      <a:endParaRPr lang="ko-KR" altLang="en-US" sz="12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21" marR="5321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0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05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 고도화</a:t>
                      </a:r>
                      <a:r>
                        <a:rPr lang="en-US" altLang="ko-KR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endParaRPr lang="ko-KR" altLang="en-US" sz="12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 </a:t>
                      </a:r>
                      <a:r>
                        <a:rPr lang="ko-KR" altLang="en-US" sz="1200" b="1" kern="0" spc="-7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브릿지</a:t>
                      </a:r>
                      <a:r>
                        <a:rPr lang="ko-KR" altLang="en-US" sz="12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자금 연계 </a:t>
                      </a:r>
                      <a:endParaRPr lang="ko-KR" altLang="en-US" sz="12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21" marR="5321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0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73167"/>
                  </a:ext>
                </a:extLst>
              </a:tr>
              <a:tr h="1536654">
                <a:tc>
                  <a:txBody>
                    <a:bodyPr/>
                    <a:lstStyle/>
                    <a:p>
                      <a:pPr marL="171450" marR="0" lvl="0" indent="-17145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 유형별 진단 </a:t>
                      </a:r>
                      <a:b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(Type I/II/III/IV)</a:t>
                      </a: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Biz-Tech-People 3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 연계 분석</a:t>
                      </a:r>
                    </a:p>
                    <a:p>
                      <a:pPr marL="171450" marR="0" lvl="0" indent="-17145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갭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(Gap) 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endParaRPr lang="en-US" altLang="ko-KR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직무전환 수요 도출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 + 4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분야 전문가 협업 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/HR/DX/ESG)</a:t>
                      </a: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교차 검증으로 사각지대 제거</a:t>
                      </a: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모듈형 팀 구성으로 복합 이슈 해결</a:t>
                      </a:r>
                      <a:endParaRPr lang="en-US" altLang="ko-KR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000" b="1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범부처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지원사업 매칭 </a:t>
                      </a:r>
                      <a:b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노동부 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1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중기부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1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산업부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인력 패키지 지원 설계</a:t>
                      </a: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즉시 신청 가능한 사업계획서 </a:t>
                      </a:r>
                      <a:b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가이드 제공</a:t>
                      </a: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033096"/>
                  </a:ext>
                </a:extLst>
              </a:tr>
              <a:tr h="2228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</a:txBody>
                  <a:tcPr marL="19246" marR="19246" marT="5321" marB="53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</a:txBody>
                  <a:tcPr marL="19246" marR="19246" marT="5321" marB="53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</a:txBody>
                  <a:tcPr marL="19246" marR="19246" marT="5321" marB="53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185916"/>
                  </a:ext>
                </a:extLst>
              </a:tr>
              <a:tr h="2228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62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62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62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136965"/>
                  </a:ext>
                </a:extLst>
              </a:tr>
              <a:tr h="6395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정확한 타깃 설정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“어떤 기술을 도입하고</a:t>
                      </a:r>
                      <a:r>
                        <a:rPr lang="en-US" altLang="ko-KR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endParaRPr lang="ko-KR" altLang="en-US" sz="105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누구를 어떻게 전환할 것인가”</a:t>
                      </a: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전문적 해법 제공</a:t>
                      </a:r>
                      <a:endParaRPr lang="ko-KR" altLang="en-US" sz="105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“기술</a:t>
                      </a:r>
                      <a:r>
                        <a:rPr lang="en-US" altLang="ko-KR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인사</a:t>
                      </a:r>
                      <a:r>
                        <a:rPr lang="en-US" altLang="ko-KR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노무가 통합된 </a:t>
                      </a:r>
                      <a:b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가능한 솔루션”</a:t>
                      </a: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확실한 자원 확보</a:t>
                      </a:r>
                      <a:endParaRPr lang="ko-KR" altLang="en-US" sz="105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“정부 예산으로 </a:t>
                      </a:r>
                      <a:b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즉시 실행 가능한 재원 확보”</a:t>
                      </a:r>
                    </a:p>
                  </a:txBody>
                  <a:tcPr marL="19246" marR="19246" marT="5321" marB="532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784474"/>
                  </a:ext>
                </a:extLst>
              </a:tr>
            </a:tbl>
          </a:graphicData>
        </a:graphic>
      </p:graphicFrame>
      <p:sp>
        <p:nvSpPr>
          <p:cNvPr id="3" name="오른쪽 화살표 141">
            <a:extLst>
              <a:ext uri="{FF2B5EF4-FFF2-40B4-BE49-F238E27FC236}">
                <a16:creationId xmlns:a16="http://schemas.microsoft.com/office/drawing/2014/main" id="{43244BB6-BE33-61B4-8F98-4B3183A2B0E9}"/>
              </a:ext>
            </a:extLst>
          </p:cNvPr>
          <p:cNvSpPr/>
          <p:nvPr/>
        </p:nvSpPr>
        <p:spPr>
          <a:xfrm>
            <a:off x="3227832" y="2631293"/>
            <a:ext cx="397325" cy="230779"/>
          </a:xfrm>
          <a:prstGeom prst="rightArrow">
            <a:avLst>
              <a:gd name="adj1" fmla="val 71367"/>
              <a:gd name="adj2" fmla="val 50000"/>
            </a:avLst>
          </a:prstGeom>
          <a:gradFill flip="none" rotWithShape="1">
            <a:gsLst>
              <a:gs pos="0">
                <a:sysClr val="window" lastClr="FFFFFF">
                  <a:lumMod val="50000"/>
                </a:sysClr>
              </a:gs>
              <a:gs pos="100000">
                <a:srgbClr val="DDDDDD">
                  <a:lumMod val="30000"/>
                  <a:lumOff val="7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8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" name="오른쪽 화살표 141">
            <a:extLst>
              <a:ext uri="{FF2B5EF4-FFF2-40B4-BE49-F238E27FC236}">
                <a16:creationId xmlns:a16="http://schemas.microsoft.com/office/drawing/2014/main" id="{D401F015-3471-8A25-65BD-CE312538B32D}"/>
              </a:ext>
            </a:extLst>
          </p:cNvPr>
          <p:cNvSpPr/>
          <p:nvPr/>
        </p:nvSpPr>
        <p:spPr>
          <a:xfrm>
            <a:off x="6280845" y="2631293"/>
            <a:ext cx="397325" cy="230779"/>
          </a:xfrm>
          <a:prstGeom prst="rightArrow">
            <a:avLst>
              <a:gd name="adj1" fmla="val 71367"/>
              <a:gd name="adj2" fmla="val 50000"/>
            </a:avLst>
          </a:prstGeom>
          <a:gradFill flip="none" rotWithShape="1">
            <a:gsLst>
              <a:gs pos="0">
                <a:sysClr val="window" lastClr="FFFFFF">
                  <a:lumMod val="50000"/>
                </a:sysClr>
              </a:gs>
              <a:gs pos="100000">
                <a:srgbClr val="DDDDDD">
                  <a:lumMod val="30000"/>
                  <a:lumOff val="7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800" kern="0">
              <a:solidFill>
                <a:prstClr val="white"/>
              </a:solidFill>
              <a:latin typeface="+mn-ea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C138F6F3-26B7-82B4-3C14-F72935F9C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774" y="1996953"/>
            <a:ext cx="532384" cy="532384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6614078E-40DC-7ED9-FC55-32F9AF80C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42" y="1996953"/>
            <a:ext cx="532384" cy="532384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6C9BDFBF-2D6B-15F4-05DC-35FBF5857B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4337" y="2064482"/>
            <a:ext cx="397325" cy="3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6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5C58E-6D24-0F76-A5EF-5979FF1A7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88AF908-6265-665D-D15E-ED030673C22E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G-DAX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통합 진단 모델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 err="1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원인→연계→처방의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단계 인과 경로로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정확한 일자리 해법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도출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B8B05A-52A3-C8EC-ADDD-9C9F93573D76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진단 고도화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6601E8-17F8-3C33-3C24-3CB7E78CB6AB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기업이 마주한 산업 전환의 복합성에 대응하기 위해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원인 진단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–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연계 분석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–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결과 처방의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 통합 진단 모델을 적용하고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 유형별로 기술 도입과 인력 전환에 대한 구체적 실행계획을 제시함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99C8E4-A45B-DD10-370A-343E5275BD90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어떤 기술을 도입할 것이고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그에 따라 누구의 어떤 직무가 어떻게 바뀌며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누가 어떤 교육을 받아야 하는가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를</a:t>
            </a:r>
          </a:p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단계 인과 경로로 명확히 연결하여 즉시 실행 가능한 구체적 솔루션을 제공합니다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B482D-9509-B0D0-0E4B-A181A869FA12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51D1DEB-C46C-667C-D100-527BC6A11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01210"/>
              </p:ext>
            </p:extLst>
          </p:nvPr>
        </p:nvGraphicFramePr>
        <p:xfrm>
          <a:off x="5637703" y="2225094"/>
          <a:ext cx="3877753" cy="3564823"/>
        </p:xfrm>
        <a:graphic>
          <a:graphicData uri="http://schemas.openxmlformats.org/drawingml/2006/table">
            <a:tbl>
              <a:tblPr/>
              <a:tblGrid>
                <a:gridCol w="1086201">
                  <a:extLst>
                    <a:ext uri="{9D8B030D-6E8A-4147-A177-3AD203B41FA5}">
                      <a16:colId xmlns:a16="http://schemas.microsoft.com/office/drawing/2014/main" val="863416069"/>
                    </a:ext>
                  </a:extLst>
                </a:gridCol>
                <a:gridCol w="1032228">
                  <a:extLst>
                    <a:ext uri="{9D8B030D-6E8A-4147-A177-3AD203B41FA5}">
                      <a16:colId xmlns:a16="http://schemas.microsoft.com/office/drawing/2014/main" val="1934967099"/>
                    </a:ext>
                  </a:extLst>
                </a:gridCol>
                <a:gridCol w="1759324">
                  <a:extLst>
                    <a:ext uri="{9D8B030D-6E8A-4147-A177-3AD203B41FA5}">
                      <a16:colId xmlns:a16="http://schemas.microsoft.com/office/drawing/2014/main" val="3553973629"/>
                    </a:ext>
                  </a:extLst>
                </a:gridCol>
              </a:tblGrid>
              <a:tr h="1669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 1. </a:t>
                      </a:r>
                      <a:r>
                        <a:rPr lang="ko-KR" altLang="en-US" sz="9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 진단</a:t>
                      </a:r>
                      <a:endParaRPr lang="ko-KR" altLang="en-US" sz="9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b="1" kern="0" spc="-7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 2. </a:t>
                      </a:r>
                      <a:r>
                        <a:rPr lang="ko-KR" altLang="en-US" sz="900" b="1" kern="0" spc="-7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 분석</a:t>
                      </a:r>
                      <a:endParaRPr lang="ko-KR" altLang="en-US" sz="900" b="1" kern="0" spc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 3. </a:t>
                      </a:r>
                      <a:r>
                        <a:rPr lang="ko-KR" altLang="en-US" sz="9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처방</a:t>
                      </a:r>
                      <a:endParaRPr lang="ko-KR" altLang="en-US" sz="9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093120"/>
                  </a:ext>
                </a:extLst>
              </a:tr>
              <a:tr h="3015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782C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 유형 </a:t>
                      </a: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782C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782C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위기</a:t>
                      </a:r>
                      <a:endParaRPr lang="ko-KR" altLang="en-US" sz="8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782C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Biz → Tech → Job</a:t>
                      </a:r>
                      <a:endParaRPr lang="en-US" sz="8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782C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 유형 </a:t>
                      </a: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782C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782C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</a:t>
                      </a: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376164"/>
                  </a:ext>
                </a:extLst>
              </a:tr>
              <a:tr h="7740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 A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 전환형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내연기관 화력발전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→생존 위협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 모델 소멸</a:t>
                      </a: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 재편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 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신산업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R&amp;D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직무 소멸</a:t>
                      </a:r>
                      <a:endParaRPr lang="ko-KR" altLang="en-US" sz="8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I]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전직 지원형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(15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타 산업 이직 알선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II]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 재배치형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(32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신사업 직무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Reskilling</a:t>
                      </a:r>
                      <a:endParaRPr lang="ko-KR" altLang="en-US" sz="8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√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산업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일자리전환 지원금 </a:t>
                      </a:r>
                      <a:endParaRPr lang="en-US" altLang="ko-KR" sz="8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√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사업재편 지원사업</a:t>
                      </a:r>
                    </a:p>
                  </a:txBody>
                  <a:tcPr marL="72000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213030"/>
                  </a:ext>
                </a:extLst>
              </a:tr>
              <a:tr h="7740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 B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공정 혁신형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뿌리산업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철강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화학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규제 압박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탄소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에너지 비용</a:t>
                      </a: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공정 효율화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스마트공장 설비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아날로그 직무 디지털化</a:t>
                      </a: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II]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 재배치형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(8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품질검사 →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 운영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III]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 고도화형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(12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기존 직무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디지털 역량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√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스마트공장 구축 지원 </a:t>
                      </a:r>
                      <a:endParaRPr lang="en-US" altLang="ko-KR" sz="8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√ </a:t>
                      </a:r>
                      <a:r>
                        <a:rPr lang="ko-KR" altLang="en-US" sz="800" b="0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클린사업장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조성 지원</a:t>
                      </a:r>
                    </a:p>
                  </a:txBody>
                  <a:tcPr marL="72000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503579"/>
                  </a:ext>
                </a:extLst>
              </a:tr>
              <a:tr h="7740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 C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가치 창출형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서비스업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IT/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경쟁력 격차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생산성 차이</a:t>
                      </a: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가치 혁신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AI/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플랫폼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단순 업무 자동化</a:t>
                      </a: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II]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 재배치형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단순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III]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 고도화형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(7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전문 역량 심화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√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K-Digital Training 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√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스타트업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기술인력 양성사업</a:t>
                      </a:r>
                    </a:p>
                  </a:txBody>
                  <a:tcPr marL="72000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684029"/>
                  </a:ext>
                </a:extLst>
              </a:tr>
              <a:tr h="7740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 D </a:t>
                      </a:r>
                      <a:r>
                        <a:rPr lang="ko-KR" altLang="en-US" sz="800" b="0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강소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기반형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 제조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식품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소재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잠재 리스크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 역량 부족</a:t>
                      </a: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 체력 강화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DX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도구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표준化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다능化 필요</a:t>
                      </a:r>
                    </a:p>
                  </a:txBody>
                  <a:tcPr marL="10448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III]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 고도화형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기초 디지털 역량 강화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IV]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고용 보호형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전원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현 직무 효율화</a:t>
                      </a:r>
                      <a:r>
                        <a:rPr lang="en-US" altLang="ko-KR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다능화</a:t>
                      </a:r>
                      <a:b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√ 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사업주 직업능력개발 지원</a:t>
                      </a:r>
                      <a:endParaRPr lang="en-US" altLang="ko-KR" sz="8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√</a:t>
                      </a:r>
                      <a:r>
                        <a:rPr lang="ko-KR" altLang="en-US" sz="8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중소기업 스마트서비스 지원</a:t>
                      </a:r>
                    </a:p>
                  </a:txBody>
                  <a:tcPr marL="72000" marR="10448" marT="8706" marB="8706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366436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19DE2D8-9496-B658-DA26-81D48D49E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519198"/>
              </p:ext>
            </p:extLst>
          </p:nvPr>
        </p:nvGraphicFramePr>
        <p:xfrm>
          <a:off x="444954" y="2225094"/>
          <a:ext cx="4974943" cy="3564824"/>
        </p:xfrm>
        <a:graphic>
          <a:graphicData uri="http://schemas.openxmlformats.org/drawingml/2006/table">
            <a:tbl>
              <a:tblPr/>
              <a:tblGrid>
                <a:gridCol w="1492172">
                  <a:extLst>
                    <a:ext uri="{9D8B030D-6E8A-4147-A177-3AD203B41FA5}">
                      <a16:colId xmlns:a16="http://schemas.microsoft.com/office/drawing/2014/main" val="384246016"/>
                    </a:ext>
                  </a:extLst>
                </a:gridCol>
                <a:gridCol w="249680">
                  <a:extLst>
                    <a:ext uri="{9D8B030D-6E8A-4147-A177-3AD203B41FA5}">
                      <a16:colId xmlns:a16="http://schemas.microsoft.com/office/drawing/2014/main" val="2555289080"/>
                    </a:ext>
                  </a:extLst>
                </a:gridCol>
                <a:gridCol w="1566557">
                  <a:extLst>
                    <a:ext uri="{9D8B030D-6E8A-4147-A177-3AD203B41FA5}">
                      <a16:colId xmlns:a16="http://schemas.microsoft.com/office/drawing/2014/main" val="1906987398"/>
                    </a:ext>
                  </a:extLst>
                </a:gridCol>
                <a:gridCol w="175296">
                  <a:extLst>
                    <a:ext uri="{9D8B030D-6E8A-4147-A177-3AD203B41FA5}">
                      <a16:colId xmlns:a16="http://schemas.microsoft.com/office/drawing/2014/main" val="428153736"/>
                    </a:ext>
                  </a:extLst>
                </a:gridCol>
                <a:gridCol w="1491238">
                  <a:extLst>
                    <a:ext uri="{9D8B030D-6E8A-4147-A177-3AD203B41FA5}">
                      <a16:colId xmlns:a16="http://schemas.microsoft.com/office/drawing/2014/main" val="4031655025"/>
                    </a:ext>
                  </a:extLst>
                </a:gridCol>
              </a:tblGrid>
              <a:tr h="4799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 1. </a:t>
                      </a:r>
                      <a:r>
                        <a:rPr lang="ko-KR" alt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 진단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G-DAX Strategy</a:t>
                      </a:r>
                      <a:endParaRPr 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41" marR="5341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 2. </a:t>
                      </a:r>
                      <a:r>
                        <a:rPr lang="ko-KR" alt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 분석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Impact Analysis</a:t>
                      </a:r>
                      <a:endParaRPr 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41" marR="5341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 3. </a:t>
                      </a:r>
                      <a:r>
                        <a:rPr lang="ko-KR" alt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처방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Job Transition</a:t>
                      </a:r>
                      <a:endParaRPr 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41" marR="5341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725435"/>
                  </a:ext>
                </a:extLst>
              </a:tr>
              <a:tr h="4766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기업의 운명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41" marR="5341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원인과 결과의 변환 과정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41" marR="5341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-7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일자리 해법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41" marR="5341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389448"/>
                  </a:ext>
                </a:extLst>
              </a:tr>
              <a:tr h="6137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G-DAX 4</a:t>
                      </a: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분면 진단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Carborn</a:t>
                      </a:r>
                      <a:r>
                        <a:rPr 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+ Digital</a:t>
                      </a: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Biz </a:t>
                      </a: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 → 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 </a:t>
                      </a: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</a:t>
                      </a:r>
                      <a:endParaRPr lang="en-US" altLang="ko-KR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→ 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Job </a:t>
                      </a: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변화의 </a:t>
                      </a:r>
                      <a:endParaRPr lang="en-US" altLang="ko-KR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인과 경로 추적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일자리 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분면 처방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Change + Retention</a:t>
                      </a: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385668"/>
                  </a:ext>
                </a:extLst>
              </a:tr>
              <a:tr h="5203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“이 기업은 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어디로 가야 하는가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?”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“어떤 기술이 도입되고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b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어떤 직무가 사라지는가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?”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“누구를 어떻게</a:t>
                      </a:r>
                      <a:b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전환시킬 것인가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?”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345507"/>
                  </a:ext>
                </a:extLst>
              </a:tr>
              <a:tr h="6575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G-DAX 4</a:t>
                      </a: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분면 매트릭스</a:t>
                      </a: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Tech-Job Mapping: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Skill Gap</a:t>
                      </a: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일자리 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분면 매트릭스</a:t>
                      </a:r>
                    </a:p>
                  </a:txBody>
                  <a:tcPr marL="19317" marR="19317" marT="5341" marB="534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356658"/>
                  </a:ext>
                </a:extLst>
              </a:tr>
              <a:tr h="303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↓</a:t>
                      </a:r>
                    </a:p>
                  </a:txBody>
                  <a:tcPr marL="19317" marR="19317" marT="5341" marB="5341" anchor="ctr">
                    <a:lnL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</a:txBody>
                  <a:tcPr marL="19317" marR="19317" marT="5341" marB="5341" anchor="ctr">
                    <a:lnL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</a:txBody>
                  <a:tcPr marL="19317" marR="19317" marT="5341" marB="5341" anchor="ctr">
                    <a:lnL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278130"/>
                  </a:ext>
                </a:extLst>
              </a:tr>
              <a:tr h="5134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 유형 판정 </a:t>
                      </a:r>
                      <a:r>
                        <a:rPr lang="en-US" altLang="ko-KR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(Type I~IV)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Biz Direction</a:t>
                      </a:r>
                    </a:p>
                  </a:txBody>
                  <a:tcPr marL="19317" marR="19317" marT="5341" marB="5341" anchor="ctr">
                    <a:lnL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7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[Track A] </a:t>
                      </a:r>
                      <a:r>
                        <a:rPr lang="ko-KR" altLang="en-US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명세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[Track B] </a:t>
                      </a:r>
                      <a:r>
                        <a:rPr lang="ko-KR" altLang="en-US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 명세</a:t>
                      </a:r>
                    </a:p>
                  </a:txBody>
                  <a:tcPr marL="19317" marR="19317" marT="5341" marB="5341" anchor="ctr">
                    <a:lnL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7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altLang="en-US" sz="1000" b="1" spc="-5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 </a:t>
                      </a:r>
                      <a:r>
                        <a:rPr lang="ko-KR" altLang="en-US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</a:t>
                      </a:r>
                      <a:br>
                        <a:rPr lang="ko-KR" altLang="en-US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</a:t>
                      </a:r>
                      <a:r>
                        <a:rPr lang="en-US" altLang="ko-KR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배치</a:t>
                      </a:r>
                      <a:r>
                        <a:rPr lang="en-US" altLang="ko-KR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이직</a:t>
                      </a:r>
                      <a:r>
                        <a:rPr lang="en-US" altLang="ko-KR" sz="1000" b="1" kern="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317" marR="19317" marT="5341" marB="5341" anchor="ctr">
                    <a:lnL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7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616392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5C292357-65ED-233D-9736-C39B61D34FC7}"/>
              </a:ext>
            </a:extLst>
          </p:cNvPr>
          <p:cNvGrpSpPr/>
          <p:nvPr/>
        </p:nvGrpSpPr>
        <p:grpSpPr>
          <a:xfrm>
            <a:off x="444954" y="1959442"/>
            <a:ext cx="2476026" cy="253317"/>
            <a:chOff x="444954" y="2154076"/>
            <a:chExt cx="2476026" cy="253317"/>
          </a:xfrm>
        </p:grpSpPr>
        <p:pic>
          <p:nvPicPr>
            <p:cNvPr id="4" name="그래픽 3" descr="배지 체크 표시1 단색으로 채워진">
              <a:extLst>
                <a:ext uri="{FF2B5EF4-FFF2-40B4-BE49-F238E27FC236}">
                  <a16:creationId xmlns:a16="http://schemas.microsoft.com/office/drawing/2014/main" id="{976AB93C-3BA7-91A2-0B3E-FF234E206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320A9E-C8FC-CFD3-2283-AB8F6CBE2CA6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G-DAX 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통합 진단 모델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7542C37-DE48-BDE4-324A-226F1EC52CB8}"/>
              </a:ext>
            </a:extLst>
          </p:cNvPr>
          <p:cNvGrpSpPr/>
          <p:nvPr/>
        </p:nvGrpSpPr>
        <p:grpSpPr>
          <a:xfrm>
            <a:off x="5637703" y="1952472"/>
            <a:ext cx="3614452" cy="253916"/>
            <a:chOff x="444954" y="2154076"/>
            <a:chExt cx="3614452" cy="253916"/>
          </a:xfrm>
        </p:grpSpPr>
        <p:pic>
          <p:nvPicPr>
            <p:cNvPr id="13" name="그래픽 12" descr="배지 체크 표시1 단색으로 채워진">
              <a:extLst>
                <a:ext uri="{FF2B5EF4-FFF2-40B4-BE49-F238E27FC236}">
                  <a16:creationId xmlns:a16="http://schemas.microsoft.com/office/drawing/2014/main" id="{C2D32BDE-FA11-02D2-8DA6-DEB96027D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09BD87F-DAF5-8122-ACC6-A9373B6C0144}"/>
                </a:ext>
              </a:extLst>
            </p:cNvPr>
            <p:cNvSpPr txBox="1"/>
            <p:nvPr/>
          </p:nvSpPr>
          <p:spPr>
            <a:xfrm>
              <a:off x="540852" y="2154076"/>
              <a:ext cx="351855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G-DAX 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통합 진단 모델에 따른 통합 사례 테이블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1369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5CC34-D15E-5A8B-D36E-3CDC4CDA2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D86B5707-E5F6-66AE-FF4F-27AA750B30B7}"/>
              </a:ext>
            </a:extLst>
          </p:cNvPr>
          <p:cNvSpPr/>
          <p:nvPr/>
        </p:nvSpPr>
        <p:spPr bwMode="auto">
          <a:xfrm>
            <a:off x="444943" y="2638583"/>
            <a:ext cx="2994543" cy="322656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3" name="사각형: 둥근 위쪽 모서리 32">
            <a:extLst>
              <a:ext uri="{FF2B5EF4-FFF2-40B4-BE49-F238E27FC236}">
                <a16:creationId xmlns:a16="http://schemas.microsoft.com/office/drawing/2014/main" id="{06AC3069-71B1-4B7B-0BD9-506EE031C77E}"/>
              </a:ext>
            </a:extLst>
          </p:cNvPr>
          <p:cNvSpPr/>
          <p:nvPr/>
        </p:nvSpPr>
        <p:spPr bwMode="auto">
          <a:xfrm>
            <a:off x="3624045" y="2630915"/>
            <a:ext cx="5741104" cy="322656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AFD922-4AF7-F80A-1CDE-1D50480DA434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기본</a:t>
            </a:r>
            <a:r>
              <a:rPr lang="en-US" altLang="ko-KR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심화 모듈형 맞춤 컨설팅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기업 유형별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역량개발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(HRD)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과 노사관계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(ER)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통합 솔루션</a:t>
            </a:r>
            <a:endParaRPr lang="en-US" altLang="ko-KR" spc="-30" dirty="0">
              <a:solidFill>
                <a:srgbClr val="E3574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43660B-6099-E019-3A21-232F705D2A39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진단 고도화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63F596-BE68-3839-C891-29DAE1FA58D3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진단 결과에 따른 기업 유형별로 기본 진단 후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심화 단계에서 역량개발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노사관계모듈을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유연하게 조정해 </a:t>
            </a:r>
            <a:endParaRPr lang="en-US" altLang="ko-KR" sz="12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맞춤형 컨설팅을 제공하고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교육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평가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노사 협의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갈등 관리 등을 종합 수행해 산업 전환의 실행력을 강화함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B18BA5-A130-9FFB-3917-83D2D6D011CB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기본 진단으로 기업을 유형화한 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심화 단계에서 역량개발 및 노사관계 모듈을 기업 상황에 맞게 조합해 </a:t>
            </a:r>
            <a:endParaRPr lang="en-US" altLang="ko-KR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모든 기업에 동일한 솔루션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이 아닌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각 기업의 특수성을 반영한 맞춤형 컨설팅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을 제공합니다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846AD-183F-B66C-9CFF-02C57D7B4B5D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951E2A-A01C-25EB-41B0-FAC07C156007}"/>
              </a:ext>
            </a:extLst>
          </p:cNvPr>
          <p:cNvGrpSpPr/>
          <p:nvPr/>
        </p:nvGrpSpPr>
        <p:grpSpPr>
          <a:xfrm>
            <a:off x="444954" y="1959442"/>
            <a:ext cx="2476026" cy="253317"/>
            <a:chOff x="444954" y="2154076"/>
            <a:chExt cx="2476026" cy="253317"/>
          </a:xfrm>
        </p:grpSpPr>
        <p:pic>
          <p:nvPicPr>
            <p:cNvPr id="3" name="그래픽 2" descr="배지 체크 표시1 단색으로 채워진">
              <a:extLst>
                <a:ext uri="{FF2B5EF4-FFF2-40B4-BE49-F238E27FC236}">
                  <a16:creationId xmlns:a16="http://schemas.microsoft.com/office/drawing/2014/main" id="{D4B00175-DB85-A346-767E-2BBF96FD1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BE2B014-332A-0E7B-25C7-FCE704535BE1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기본</a:t>
              </a:r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·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심화 모듈형 컨설팅</a:t>
              </a:r>
            </a:p>
          </p:txBody>
        </p:sp>
      </p:grp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2EDD00F0-CFF9-82E5-264B-64293A72AA0C}"/>
              </a:ext>
            </a:extLst>
          </p:cNvPr>
          <p:cNvSpPr/>
          <p:nvPr/>
        </p:nvSpPr>
        <p:spPr bwMode="auto">
          <a:xfrm>
            <a:off x="444949" y="2351180"/>
            <a:ext cx="2994548" cy="287404"/>
          </a:xfrm>
          <a:prstGeom prst="round2SameRect">
            <a:avLst>
              <a:gd name="adj1" fmla="val 31043"/>
              <a:gd name="adj2" fmla="val 0"/>
            </a:avLst>
          </a:prstGeom>
          <a:solidFill>
            <a:srgbClr val="5D6DBE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기본과정</a:t>
            </a:r>
            <a:r>
              <a:rPr lang="en-US" altLang="ko-KR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정밀 진단 </a:t>
            </a:r>
            <a:r>
              <a:rPr lang="en-US" altLang="ko-KR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방향 설정</a:t>
            </a:r>
            <a:endParaRPr kumimoji="0" lang="ko-KR" altLang="en-US" sz="11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BCD3BF3-70F6-D06B-B153-41B0A8D85E9B}"/>
              </a:ext>
            </a:extLst>
          </p:cNvPr>
          <p:cNvGrpSpPr/>
          <p:nvPr/>
        </p:nvGrpSpPr>
        <p:grpSpPr>
          <a:xfrm>
            <a:off x="568048" y="3583351"/>
            <a:ext cx="2748331" cy="2031189"/>
            <a:chOff x="531764" y="2781042"/>
            <a:chExt cx="2748331" cy="1812585"/>
          </a:xfrm>
        </p:grpSpPr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id="{A3C8AD09-B187-279B-B52C-6A832C4DE865}"/>
                </a:ext>
              </a:extLst>
            </p:cNvPr>
            <p:cNvSpPr/>
            <p:nvPr/>
          </p:nvSpPr>
          <p:spPr bwMode="auto">
            <a:xfrm>
              <a:off x="540852" y="2781042"/>
              <a:ext cx="2739243" cy="39950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└ 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G-DAX 4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분면 진단 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→ 기업 유형 확정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DC9B19D1-2522-BAE4-0D68-1A3C7B28C992}"/>
                </a:ext>
              </a:extLst>
            </p:cNvPr>
            <p:cNvSpPr/>
            <p:nvPr/>
          </p:nvSpPr>
          <p:spPr bwMode="auto">
            <a:xfrm>
              <a:off x="540852" y="3252069"/>
              <a:ext cx="2739243" cy="39950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└ 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Biz-Tech 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연계 분석 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→ 기술 도입 명세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5E2C3060-0445-5C34-ACEA-582965E0E682}"/>
                </a:ext>
              </a:extLst>
            </p:cNvPr>
            <p:cNvSpPr/>
            <p:nvPr/>
          </p:nvSpPr>
          <p:spPr bwMode="auto">
            <a:xfrm>
              <a:off x="531764" y="3723096"/>
              <a:ext cx="2739243" cy="39950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└ 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Skill-Gap 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분석 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→ 역량 격차 정량화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0" name="사각형: 둥근 위쪽 모서리 19">
              <a:extLst>
                <a:ext uri="{FF2B5EF4-FFF2-40B4-BE49-F238E27FC236}">
                  <a16:creationId xmlns:a16="http://schemas.microsoft.com/office/drawing/2014/main" id="{0E3F792D-FE72-417B-3D28-315999ECCF0E}"/>
                </a:ext>
              </a:extLst>
            </p:cNvPr>
            <p:cNvSpPr/>
            <p:nvPr/>
          </p:nvSpPr>
          <p:spPr bwMode="auto">
            <a:xfrm>
              <a:off x="531764" y="4194123"/>
              <a:ext cx="2739243" cy="39950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└ 직무 재설계 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↔ 배치 경로</a:t>
              </a:r>
              <a:r>
                <a:rPr lang="en-US" altLang="ko-KR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(Pathway) </a:t>
              </a:r>
              <a:r>
                <a:rPr lang="ko-KR" altLang="en-US" sz="10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설계</a:t>
              </a:r>
              <a:endParaRPr kumimoji="0" lang="ko-KR" altLang="en-US" sz="10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D3194BBB-53FA-0186-1222-5F7350894C2C}"/>
              </a:ext>
            </a:extLst>
          </p:cNvPr>
          <p:cNvSpPr/>
          <p:nvPr/>
        </p:nvSpPr>
        <p:spPr bwMode="auto">
          <a:xfrm>
            <a:off x="3623770" y="2351180"/>
            <a:ext cx="5748830" cy="287404"/>
          </a:xfrm>
          <a:prstGeom prst="round2SameRect">
            <a:avLst>
              <a:gd name="adj1" fmla="val 31043"/>
              <a:gd name="adj2" fmla="val 0"/>
            </a:avLst>
          </a:prstGeom>
          <a:solidFill>
            <a:srgbClr val="5D6DBE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심화과정</a:t>
            </a:r>
            <a:r>
              <a:rPr lang="en-US" altLang="ko-KR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11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유형별 맞춤형 모듈 조합</a:t>
            </a:r>
            <a:endParaRPr lang="ko-KR" altLang="en-US" sz="1100" b="1" kern="0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E7BD381-DBFA-3B3D-DF35-D3D90E369D27}"/>
              </a:ext>
            </a:extLst>
          </p:cNvPr>
          <p:cNvGrpSpPr/>
          <p:nvPr/>
        </p:nvGrpSpPr>
        <p:grpSpPr>
          <a:xfrm>
            <a:off x="3835848" y="2781042"/>
            <a:ext cx="3074596" cy="2890292"/>
            <a:chOff x="3835848" y="2781042"/>
            <a:chExt cx="3074596" cy="2642205"/>
          </a:xfrm>
        </p:grpSpPr>
        <p:sp>
          <p:nvSpPr>
            <p:cNvPr id="22" name="사각형: 둥근 위쪽 모서리 21">
              <a:extLst>
                <a:ext uri="{FF2B5EF4-FFF2-40B4-BE49-F238E27FC236}">
                  <a16:creationId xmlns:a16="http://schemas.microsoft.com/office/drawing/2014/main" id="{477C30E5-6EBF-B0D1-1D27-25A586443998}"/>
                </a:ext>
              </a:extLst>
            </p:cNvPr>
            <p:cNvSpPr/>
            <p:nvPr/>
          </p:nvSpPr>
          <p:spPr bwMode="auto">
            <a:xfrm>
              <a:off x="3839992" y="2781042"/>
              <a:ext cx="3070452" cy="59762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└ 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Type I 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구조전환형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노사관계 모듈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(ER) 70% +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역량개발 모듈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(HRD) 30%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고용안정협약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전직지원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갈등관리</a:t>
              </a:r>
              <a:endPara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id="{380E11C1-EF14-F6FE-AAD7-DECB4DF1BC18}"/>
                </a:ext>
              </a:extLst>
            </p:cNvPr>
            <p:cNvSpPr/>
            <p:nvPr/>
          </p:nvSpPr>
          <p:spPr bwMode="auto">
            <a:xfrm>
              <a:off x="3835848" y="3462569"/>
              <a:ext cx="3070452" cy="59762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└ 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Type II 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공정혁신형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역량개발 모듈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(HRD) 80% +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노사관계 모듈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(ER) 20%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</a:t>
              </a:r>
              <a:r>
                <a:rPr lang="ko-KR" altLang="en-US" sz="10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신설비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운용 훈련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배치전환 합의</a:t>
              </a:r>
              <a:endPara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4AE7B121-8D28-E5D1-43FB-B582F31FAC8C}"/>
                </a:ext>
              </a:extLst>
            </p:cNvPr>
            <p:cNvSpPr/>
            <p:nvPr/>
          </p:nvSpPr>
          <p:spPr bwMode="auto">
            <a:xfrm>
              <a:off x="3839992" y="4144096"/>
              <a:ext cx="3070452" cy="59762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└ 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Type III 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가치창출형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역량개발 모듈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(HRD) 100%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직무 고도화 훈련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성과 중심 평가체계</a:t>
              </a:r>
              <a:endPara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CAB129A7-4A28-9415-42B2-4D8986D34013}"/>
                </a:ext>
              </a:extLst>
            </p:cNvPr>
            <p:cNvSpPr/>
            <p:nvPr/>
          </p:nvSpPr>
          <p:spPr bwMode="auto">
            <a:xfrm>
              <a:off x="3835848" y="4825623"/>
              <a:ext cx="3070452" cy="59762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└ 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Type IV 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감소기반형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역량개발 모듈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(HRD) 60% +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노사관계 모듈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(ER) 40%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</a:t>
              </a:r>
              <a:r>
                <a:rPr lang="ko-KR" altLang="en-US" sz="10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다능공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육성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근로환경 개선</a:t>
              </a:r>
            </a:p>
          </p:txBody>
        </p:sp>
      </p:grp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7564C291-679A-37D9-FD99-9995B5373D7E}"/>
              </a:ext>
            </a:extLst>
          </p:cNvPr>
          <p:cNvSpPr/>
          <p:nvPr/>
        </p:nvSpPr>
        <p:spPr bwMode="auto">
          <a:xfrm>
            <a:off x="7060870" y="2788059"/>
            <a:ext cx="2128109" cy="21013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96290"/>
          </a:solidFill>
          <a:ln w="3175">
            <a:solidFill>
              <a:srgbClr val="596290"/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모듈 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A: </a:t>
            </a:r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역량개발 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(HRD)</a:t>
            </a:r>
            <a:endParaRPr kumimoji="0" lang="ko-KR" altLang="en-US" sz="105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649B35E9-FD3E-A0F5-BD27-2BEE8948AB73}"/>
              </a:ext>
            </a:extLst>
          </p:cNvPr>
          <p:cNvSpPr/>
          <p:nvPr/>
        </p:nvSpPr>
        <p:spPr bwMode="auto">
          <a:xfrm>
            <a:off x="7060870" y="3001000"/>
            <a:ext cx="2128106" cy="11216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596290"/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교육훈련 체계</a:t>
            </a:r>
            <a:b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Reskilling vs Upskilling </a:t>
            </a: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구분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정부훈련 연계</a:t>
            </a:r>
            <a:b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K-Digital + </a:t>
            </a:r>
            <a:r>
              <a:rPr lang="ko-KR" altLang="en-US" sz="1000" kern="0" spc="-7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산업구조변화특화훈련</a:t>
            </a:r>
            <a:endParaRPr lang="ko-KR" altLang="en-US" sz="1000" kern="0" spc="-7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역량평가 도구</a:t>
            </a:r>
            <a:b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신 </a:t>
            </a: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KPI </a:t>
            </a: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및 평가표 개발</a:t>
            </a:r>
          </a:p>
        </p:txBody>
      </p:sp>
      <p:sp>
        <p:nvSpPr>
          <p:cNvPr id="31" name="사각형: 둥근 위쪽 모서리 30">
            <a:extLst>
              <a:ext uri="{FF2B5EF4-FFF2-40B4-BE49-F238E27FC236}">
                <a16:creationId xmlns:a16="http://schemas.microsoft.com/office/drawing/2014/main" id="{E6C925EA-4B63-F1C7-DFD8-F6CFE4DF89D9}"/>
              </a:ext>
            </a:extLst>
          </p:cNvPr>
          <p:cNvSpPr/>
          <p:nvPr/>
        </p:nvSpPr>
        <p:spPr bwMode="auto">
          <a:xfrm>
            <a:off x="7060870" y="4241523"/>
            <a:ext cx="2128109" cy="21013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96290"/>
          </a:solidFill>
          <a:ln w="3175">
            <a:solidFill>
              <a:srgbClr val="596290"/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모듈 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B: </a:t>
            </a:r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노사관계 </a:t>
            </a:r>
            <a:r>
              <a:rPr lang="en-US" altLang="ko-KR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(ER)</a:t>
            </a:r>
            <a:endParaRPr kumimoji="0" lang="ko-KR" altLang="en-US" sz="105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2" name="사각형: 둥근 위쪽 모서리 31">
            <a:extLst>
              <a:ext uri="{FF2B5EF4-FFF2-40B4-BE49-F238E27FC236}">
                <a16:creationId xmlns:a16="http://schemas.microsoft.com/office/drawing/2014/main" id="{28FA0A74-5DF4-1FA3-8A80-F74F6070E0BD}"/>
              </a:ext>
            </a:extLst>
          </p:cNvPr>
          <p:cNvSpPr/>
          <p:nvPr/>
        </p:nvSpPr>
        <p:spPr bwMode="auto">
          <a:xfrm>
            <a:off x="7060870" y="4454464"/>
            <a:ext cx="2128106" cy="121687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596290"/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상생협의체</a:t>
            </a: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산업전환추진위원회 </a:t>
            </a: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(TMO) </a:t>
            </a: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구성 </a:t>
            </a: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운영규칙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심리 안정</a:t>
            </a:r>
            <a:b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EAP </a:t>
            </a: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연계 </a:t>
            </a: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상담 프로그램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갈등 관리</a:t>
            </a: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</a:t>
            </a:r>
            <a:b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분쟁 예방 </a:t>
            </a:r>
            <a:r>
              <a:rPr lang="en-US" altLang="ko-KR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합의서 작성 지원</a:t>
            </a:r>
          </a:p>
        </p:txBody>
      </p:sp>
      <p:pic>
        <p:nvPicPr>
          <p:cNvPr id="35" name="Picture 27">
            <a:extLst>
              <a:ext uri="{FF2B5EF4-FFF2-40B4-BE49-F238E27FC236}">
                <a16:creationId xmlns:a16="http://schemas.microsoft.com/office/drawing/2014/main" id="{52FD6996-8872-9771-0778-954EC1A66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774" y="2867121"/>
            <a:ext cx="602320" cy="58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54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8C743-532E-5643-8B3F-B3C91B38F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76667FC-8A24-8C8F-096B-033FC608490D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PM + 4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 분야 전문가 </a:t>
            </a:r>
            <a:r>
              <a:rPr lang="ko-KR" altLang="en-US" spc="-30" dirty="0" err="1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스쿼드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개인 역량이 아닌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시스템 기반 협업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으로 복합 위기 통합 해결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58A318-6EE5-CE2D-2294-4F82EDBC7BD8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수행 고도화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2A39F9-2B6D-844A-9C3E-E5C452B93700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PM·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·HR·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노무 전문가가 협업하는 융합 </a:t>
            </a:r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스쿼드로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현장 진단부터 보고서까지 수행하며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직무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제도를 연계한 통합 실행 전략과 단계별 검증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상시 모니터링으로 컨설팅 품질을 보장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4E3A07-1376-2965-0080-69B1303DA891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소수 컨설턴트 단독 수행 방식에서 벗어나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PM·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기술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·HR·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노무 전문가가 참여하는 </a:t>
            </a:r>
            <a:r>
              <a:rPr lang="ko-KR" altLang="en-US" sz="1300" b="1" kern="0" spc="-5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스쿼드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 체계로 합동 진단과 설비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직무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제도 교차 검증을 수행하고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단계별 검증과 상시 모니터링을 통해 실행력과 완성도를 높인 통합 솔루션을 제공합니다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4934D-4512-123E-A4EB-2DD377E64C8C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988C475-3A4E-6777-E198-D0478F6A9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90779"/>
              </p:ext>
            </p:extLst>
          </p:nvPr>
        </p:nvGraphicFramePr>
        <p:xfrm>
          <a:off x="444954" y="3631328"/>
          <a:ext cx="3293406" cy="2175336"/>
        </p:xfrm>
        <a:graphic>
          <a:graphicData uri="http://schemas.openxmlformats.org/drawingml/2006/table">
            <a:tbl>
              <a:tblPr/>
              <a:tblGrid>
                <a:gridCol w="979913">
                  <a:extLst>
                    <a:ext uri="{9D8B030D-6E8A-4147-A177-3AD203B41FA5}">
                      <a16:colId xmlns:a16="http://schemas.microsoft.com/office/drawing/2014/main" val="1586114457"/>
                    </a:ext>
                  </a:extLst>
                </a:gridCol>
                <a:gridCol w="2313493">
                  <a:extLst>
                    <a:ext uri="{9D8B030D-6E8A-4147-A177-3AD203B41FA5}">
                      <a16:colId xmlns:a16="http://schemas.microsoft.com/office/drawing/2014/main" val="660603095"/>
                    </a:ext>
                  </a:extLst>
                </a:gridCol>
              </a:tblGrid>
              <a:tr h="543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총괄 </a:t>
                      </a:r>
                      <a:r>
                        <a:rPr lang="en-US" altLang="ko-KR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Leader)</a:t>
                      </a:r>
                      <a:r>
                        <a:rPr 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역할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Control Tower (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전체 지휘 및 품질 관리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자격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테크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노무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기술자 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경력 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10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년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+)</a:t>
                      </a:r>
                    </a:p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책임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경영진 니즈 조율 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최종 보고서 검수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189120"/>
                  </a:ext>
                </a:extLst>
              </a:tr>
              <a:tr h="543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</a:t>
                      </a:r>
                      <a:r>
                        <a:rPr lang="en-US" altLang="ko-KR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Track A)</a:t>
                      </a:r>
                    </a:p>
                    <a:p>
                      <a:pPr>
                        <a:buNone/>
                      </a:pPr>
                      <a:r>
                        <a:rPr 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역할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설비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공정 진단 및 도입 기술 사양 도출</a:t>
                      </a:r>
                    </a:p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자격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공학 석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박사 또는 기술지도사</a:t>
                      </a:r>
                    </a:p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책임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산업부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중기부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R&amp;D·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설비사업 매칭</a:t>
                      </a:r>
                      <a:endParaRPr lang="ko-KR" altLang="en-US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11798"/>
                  </a:ext>
                </a:extLst>
              </a:tr>
              <a:tr h="543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인사 </a:t>
                      </a:r>
                      <a:r>
                        <a:rPr lang="en-US" altLang="ko-KR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(Track B)</a:t>
                      </a:r>
                    </a:p>
                    <a:p>
                      <a:pPr>
                        <a:buNone/>
                      </a:pP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역할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직무 재배치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전환 로드맵 설계</a:t>
                      </a:r>
                    </a:p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자격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경영지도사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인적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또는 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HR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석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박사</a:t>
                      </a:r>
                    </a:p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책임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노동부 훈련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인건비 사업 매칭</a:t>
                      </a:r>
                      <a:endParaRPr lang="ko-KR" altLang="en-US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306161"/>
                  </a:ext>
                </a:extLst>
              </a:tr>
              <a:tr h="543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노무 </a:t>
                      </a:r>
                      <a:r>
                        <a:rPr lang="en-US" altLang="ko-KR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Risk Hedge)</a:t>
                      </a:r>
                    </a:p>
                    <a:p>
                      <a:pPr>
                        <a:buNone/>
                      </a:pPr>
                      <a:r>
                        <a:rPr 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Labor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역할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법적 리스크 관리 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노사 합의 중재</a:t>
                      </a:r>
                    </a:p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자격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공인노무사 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필수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책임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취업규칙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근로계약 변경 지원</a:t>
                      </a:r>
                      <a:endParaRPr lang="ko-KR" altLang="en-US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14044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F7BCF954-99D3-AD9F-5A50-AA564EAAED04}"/>
              </a:ext>
            </a:extLst>
          </p:cNvPr>
          <p:cNvGrpSpPr/>
          <p:nvPr/>
        </p:nvGrpSpPr>
        <p:grpSpPr>
          <a:xfrm>
            <a:off x="444954" y="1959442"/>
            <a:ext cx="2476026" cy="253317"/>
            <a:chOff x="444954" y="2154076"/>
            <a:chExt cx="2476026" cy="253317"/>
          </a:xfrm>
        </p:grpSpPr>
        <p:pic>
          <p:nvPicPr>
            <p:cNvPr id="9" name="그래픽 8" descr="배지 체크 표시1 단색으로 채워진">
              <a:extLst>
                <a:ext uri="{FF2B5EF4-FFF2-40B4-BE49-F238E27FC236}">
                  <a16:creationId xmlns:a16="http://schemas.microsoft.com/office/drawing/2014/main" id="{8AB419E0-BAB3-C3F1-8EE3-90F34A667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2C0294-57DD-5B08-2197-C7A0FEB6D171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전환</a:t>
              </a:r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: 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개별 컨설턴트 → 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040C3"/>
                  </a:solidFill>
                </a:rPr>
                <a:t>융합 </a:t>
              </a:r>
              <a:r>
                <a:rPr lang="ko-KR" altLang="en-US" sz="1050" b="1" spc="-8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040C3"/>
                  </a:solidFill>
                </a:rPr>
                <a:t>스쿼드</a:t>
              </a:r>
              <a:endParaRPr lang="ko-KR" altLang="en-US" sz="1050" b="1" spc="-8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40C3"/>
                </a:solidFill>
              </a:endParaRPr>
            </a:p>
          </p:txBody>
        </p:sp>
      </p:grp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1FA429B7-F9D2-A098-0993-A65402370BF6}"/>
              </a:ext>
            </a:extLst>
          </p:cNvPr>
          <p:cNvSpPr/>
          <p:nvPr/>
        </p:nvSpPr>
        <p:spPr bwMode="auto">
          <a:xfrm>
            <a:off x="444956" y="2290489"/>
            <a:ext cx="398713" cy="55128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기존</a:t>
            </a:r>
            <a:endParaRPr lang="en-US" altLang="ko-KR" sz="1000" b="1" kern="0" spc="-1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algn="ctr" defTabSz="914400"/>
            <a:r>
              <a:rPr kumimoji="0" lang="ko-KR" altLang="en-US" sz="1000" b="1" i="0" u="none" strike="noStrike" kern="0" cap="none" spc="-10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방식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5" name="사각형: 둥근 위쪽 모서리 14">
            <a:extLst>
              <a:ext uri="{FF2B5EF4-FFF2-40B4-BE49-F238E27FC236}">
                <a16:creationId xmlns:a16="http://schemas.microsoft.com/office/drawing/2014/main" id="{668A3E29-CD2B-A4B8-484C-FDAF9010E2C9}"/>
              </a:ext>
            </a:extLst>
          </p:cNvPr>
          <p:cNvSpPr/>
          <p:nvPr/>
        </p:nvSpPr>
        <p:spPr bwMode="auto">
          <a:xfrm>
            <a:off x="843669" y="2290489"/>
            <a:ext cx="2894691" cy="55128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컨설턴트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1~2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인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→ 기술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인사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노무 모두 담당 → 깊이 있는 진단 불가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→ 실행 단계에서 전문성 부족</a:t>
            </a: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4605174B-8554-7AB7-561A-1291A6ED1086}"/>
              </a:ext>
            </a:extLst>
          </p:cNvPr>
          <p:cNvSpPr/>
          <p:nvPr/>
        </p:nvSpPr>
        <p:spPr bwMode="auto">
          <a:xfrm>
            <a:off x="444954" y="2973532"/>
            <a:ext cx="398713" cy="55128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신규</a:t>
            </a:r>
            <a:endParaRPr lang="en-US" altLang="ko-KR" sz="1000" b="1" kern="0" spc="-1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algn="ctr" defTabSz="914400"/>
            <a:r>
              <a:rPr kumimoji="0" lang="ko-KR" altLang="en-US" sz="1000" b="1" i="0" u="none" strike="noStrike" kern="0" cap="none" spc="-10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방식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7921DAEE-77C4-6701-C3F1-C6B0E85A264F}"/>
              </a:ext>
            </a:extLst>
          </p:cNvPr>
          <p:cNvSpPr/>
          <p:nvPr/>
        </p:nvSpPr>
        <p:spPr bwMode="auto">
          <a:xfrm>
            <a:off x="843667" y="2973532"/>
            <a:ext cx="2894693" cy="55128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/>
            <a:r>
              <a:rPr lang="en-US" altLang="ko-KR" sz="1000" b="1" kern="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PM·Tech·HR·Labor</a:t>
            </a:r>
            <a:r>
              <a:rPr lang="en-US" altLang="ko-KR" sz="1000" b="1" kern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 </a:t>
            </a:r>
            <a:r>
              <a:rPr lang="ko-KR" altLang="en-US" sz="1000" b="1" kern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분야별 전문가 팀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→ 각 분야 깊이 있는 진단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교차 검증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→ 기술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직무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제도 통합적 실행 전략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D54EDB-8F67-04ED-F2D2-C161B51C2E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8526" y="2919505"/>
            <a:ext cx="569834" cy="569834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32E3EB7E-18CD-CD50-B19A-722154EB88DC}"/>
              </a:ext>
            </a:extLst>
          </p:cNvPr>
          <p:cNvGrpSpPr/>
          <p:nvPr/>
        </p:nvGrpSpPr>
        <p:grpSpPr>
          <a:xfrm>
            <a:off x="3833993" y="1935552"/>
            <a:ext cx="2476026" cy="253317"/>
            <a:chOff x="444954" y="2154076"/>
            <a:chExt cx="2476026" cy="253317"/>
          </a:xfrm>
        </p:grpSpPr>
        <p:pic>
          <p:nvPicPr>
            <p:cNvPr id="22" name="그래픽 21" descr="배지 체크 표시1 단색으로 채워진">
              <a:extLst>
                <a:ext uri="{FF2B5EF4-FFF2-40B4-BE49-F238E27FC236}">
                  <a16:creationId xmlns:a16="http://schemas.microsoft.com/office/drawing/2014/main" id="{CA8E8D5A-1870-EEBA-94F9-8A6EE5545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C028F6-39AF-E179-818A-6505B51A420D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스쿼드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 협업 프로세스</a:t>
              </a:r>
              <a:endParaRPr lang="ko-KR" altLang="en-US" sz="1050" b="1" spc="-8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40C3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29CFB81-6186-D076-5D07-732A9D6A92D0}"/>
              </a:ext>
            </a:extLst>
          </p:cNvPr>
          <p:cNvGrpSpPr/>
          <p:nvPr/>
        </p:nvGrpSpPr>
        <p:grpSpPr>
          <a:xfrm>
            <a:off x="3887091" y="2266599"/>
            <a:ext cx="2553038" cy="795974"/>
            <a:chOff x="4207384" y="2290489"/>
            <a:chExt cx="2422928" cy="861636"/>
          </a:xfrm>
        </p:grpSpPr>
        <p:sp>
          <p:nvSpPr>
            <p:cNvPr id="24" name="사각형: 둥근 위쪽 모서리 23">
              <a:extLst>
                <a:ext uri="{FF2B5EF4-FFF2-40B4-BE49-F238E27FC236}">
                  <a16:creationId xmlns:a16="http://schemas.microsoft.com/office/drawing/2014/main" id="{05D5CB9A-7CF5-5D0E-456A-86AB96B7575F}"/>
                </a:ext>
              </a:extLst>
            </p:cNvPr>
            <p:cNvSpPr/>
            <p:nvPr/>
          </p:nvSpPr>
          <p:spPr bwMode="auto">
            <a:xfrm>
              <a:off x="4207384" y="2521205"/>
              <a:ext cx="2422928" cy="63092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en-US" altLang="ko-KR" sz="9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PM·Tech·HR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함께 현장 방문</a:t>
              </a:r>
            </a:p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Tech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가 설비 관찰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HR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은 작업자 행동 관찰</a:t>
              </a:r>
            </a:p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기술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직무 괴리 즉시 파악</a:t>
              </a:r>
              <a:endPara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id="{3D670486-EB60-2606-5373-6B4BCE41FB5C}"/>
                </a:ext>
              </a:extLst>
            </p:cNvPr>
            <p:cNvSpPr/>
            <p:nvPr/>
          </p:nvSpPr>
          <p:spPr bwMode="auto">
            <a:xfrm>
              <a:off x="4207384" y="2290489"/>
              <a:ext cx="2422928" cy="23818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1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: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합동 현장 진단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8063B57-828C-EF3E-36EA-B2434423B627}"/>
              </a:ext>
            </a:extLst>
          </p:cNvPr>
          <p:cNvGrpSpPr/>
          <p:nvPr/>
        </p:nvGrpSpPr>
        <p:grpSpPr>
          <a:xfrm>
            <a:off x="3887091" y="3157000"/>
            <a:ext cx="2553038" cy="973930"/>
            <a:chOff x="4207384" y="2290489"/>
            <a:chExt cx="2422928" cy="1054272"/>
          </a:xfrm>
        </p:grpSpPr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id="{AF6B0906-8CD8-6BE1-2DD0-2CB1F57704FA}"/>
                </a:ext>
              </a:extLst>
            </p:cNvPr>
            <p:cNvSpPr/>
            <p:nvPr/>
          </p:nvSpPr>
          <p:spPr bwMode="auto">
            <a:xfrm>
              <a:off x="4207384" y="2521204"/>
              <a:ext cx="2422928" cy="82355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Tech: “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로봇 도입 필요”</a:t>
              </a:r>
            </a:p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HR: “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로봇 운영 교육 설계 </a:t>
              </a:r>
              <a:endPara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defTabSz="914400">
                <a:spcAft>
                  <a:spcPts val="200"/>
                </a:spcAft>
              </a:pP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         + 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설비 도입과 교육 타이밍 일치”</a:t>
              </a:r>
            </a:p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설비와 교육이 동시에 준비됨</a:t>
              </a:r>
            </a:p>
          </p:txBody>
        </p:sp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id="{287F6791-9520-854B-2F73-0FC91336AF25}"/>
                </a:ext>
              </a:extLst>
            </p:cNvPr>
            <p:cNvSpPr/>
            <p:nvPr/>
          </p:nvSpPr>
          <p:spPr bwMode="auto">
            <a:xfrm>
              <a:off x="4207384" y="2290489"/>
              <a:ext cx="2422928" cy="23818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2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: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솔루션 교차 설계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C0681DE-0861-B9D7-EF2E-CEC05AAA8302}"/>
              </a:ext>
            </a:extLst>
          </p:cNvPr>
          <p:cNvGrpSpPr/>
          <p:nvPr/>
        </p:nvGrpSpPr>
        <p:grpSpPr>
          <a:xfrm>
            <a:off x="3887091" y="4225357"/>
            <a:ext cx="2553038" cy="676170"/>
            <a:chOff x="4207384" y="2290489"/>
            <a:chExt cx="2422928" cy="731949"/>
          </a:xfrm>
        </p:grpSpPr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9087D2C1-9E7B-F698-1E95-DE8BE4A92781}"/>
                </a:ext>
              </a:extLst>
            </p:cNvPr>
            <p:cNvSpPr/>
            <p:nvPr/>
          </p:nvSpPr>
          <p:spPr bwMode="auto">
            <a:xfrm>
              <a:off x="4207384" y="2521205"/>
              <a:ext cx="2422928" cy="5012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Labor: “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직무 전환 시 임금 삭감 법적 리스크 예방”</a:t>
              </a:r>
            </a:p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노사 합의안 초안 사전 준비</a:t>
              </a:r>
            </a:p>
          </p:txBody>
        </p:sp>
        <p:sp>
          <p:nvSpPr>
            <p:cNvPr id="33" name="사각형: 둥근 위쪽 모서리 32">
              <a:extLst>
                <a:ext uri="{FF2B5EF4-FFF2-40B4-BE49-F238E27FC236}">
                  <a16:creationId xmlns:a16="http://schemas.microsoft.com/office/drawing/2014/main" id="{E8C5A9A0-2207-2B25-60A4-AF36FC9F273A}"/>
                </a:ext>
              </a:extLst>
            </p:cNvPr>
            <p:cNvSpPr/>
            <p:nvPr/>
          </p:nvSpPr>
          <p:spPr bwMode="auto">
            <a:xfrm>
              <a:off x="4207384" y="2290489"/>
              <a:ext cx="2422928" cy="23818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3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: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위험 요인 </a:t>
              </a:r>
              <a:r>
                <a:rPr lang="ko-KR" altLang="en-US" sz="1000" b="1" kern="0" spc="-10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헷징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EEA1AA0-A6EC-EC87-3639-A2B521A32D9A}"/>
              </a:ext>
            </a:extLst>
          </p:cNvPr>
          <p:cNvGrpSpPr/>
          <p:nvPr/>
        </p:nvGrpSpPr>
        <p:grpSpPr>
          <a:xfrm>
            <a:off x="3887091" y="4995953"/>
            <a:ext cx="2553038" cy="795974"/>
            <a:chOff x="4207384" y="2290489"/>
            <a:chExt cx="2422928" cy="861636"/>
          </a:xfrm>
        </p:grpSpPr>
        <p:sp>
          <p:nvSpPr>
            <p:cNvPr id="35" name="사각형: 둥근 위쪽 모서리 34">
              <a:extLst>
                <a:ext uri="{FF2B5EF4-FFF2-40B4-BE49-F238E27FC236}">
                  <a16:creationId xmlns:a16="http://schemas.microsoft.com/office/drawing/2014/main" id="{B8408D68-58B2-FED0-B8CC-51A5F4A76556}"/>
                </a:ext>
              </a:extLst>
            </p:cNvPr>
            <p:cNvSpPr/>
            <p:nvPr/>
          </p:nvSpPr>
          <p:spPr bwMode="auto">
            <a:xfrm>
              <a:off x="4207384" y="2521205"/>
              <a:ext cx="2422928" cy="63092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PM: </a:t>
              </a:r>
              <a:r>
                <a:rPr lang="en-US" altLang="ko-KR" sz="9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Tech·HR·Labor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의견 취합</a:t>
              </a:r>
            </a:p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기술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인사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노무 논리적 정합성 최종 조율</a:t>
              </a:r>
            </a:p>
            <a:p>
              <a:pPr defTabSz="914400">
                <a:spcAft>
                  <a:spcPts val="200"/>
                </a:spcAft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→ 정부 지원사업 연계 확정</a:t>
              </a:r>
              <a:endPara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36" name="사각형: 둥근 위쪽 모서리 35">
              <a:extLst>
                <a:ext uri="{FF2B5EF4-FFF2-40B4-BE49-F238E27FC236}">
                  <a16:creationId xmlns:a16="http://schemas.microsoft.com/office/drawing/2014/main" id="{6B797751-7A4C-E127-CF56-FD77E3523813}"/>
                </a:ext>
              </a:extLst>
            </p:cNvPr>
            <p:cNvSpPr/>
            <p:nvPr/>
          </p:nvSpPr>
          <p:spPr bwMode="auto">
            <a:xfrm>
              <a:off x="4207384" y="2290489"/>
              <a:ext cx="2422928" cy="23818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4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: 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융합 보고서 발행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37" name="오른쪽 화살표 141">
            <a:extLst>
              <a:ext uri="{FF2B5EF4-FFF2-40B4-BE49-F238E27FC236}">
                <a16:creationId xmlns:a16="http://schemas.microsoft.com/office/drawing/2014/main" id="{0B271274-8A26-A240-20F5-4DD9677AA032}"/>
              </a:ext>
            </a:extLst>
          </p:cNvPr>
          <p:cNvSpPr/>
          <p:nvPr/>
        </p:nvSpPr>
        <p:spPr>
          <a:xfrm rot="5400000">
            <a:off x="5143503" y="2973878"/>
            <a:ext cx="137501" cy="225266"/>
          </a:xfrm>
          <a:prstGeom prst="rightArrow">
            <a:avLst>
              <a:gd name="adj1" fmla="val 71367"/>
              <a:gd name="adj2" fmla="val 50000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89000">
                <a:schemeClr val="bg1">
                  <a:lumMod val="85000"/>
                </a:scheme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8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8" name="오른쪽 화살표 141">
            <a:extLst>
              <a:ext uri="{FF2B5EF4-FFF2-40B4-BE49-F238E27FC236}">
                <a16:creationId xmlns:a16="http://schemas.microsoft.com/office/drawing/2014/main" id="{1EE9019C-0A42-9040-1DB2-5BAD63EFC0D7}"/>
              </a:ext>
            </a:extLst>
          </p:cNvPr>
          <p:cNvSpPr/>
          <p:nvPr/>
        </p:nvSpPr>
        <p:spPr>
          <a:xfrm rot="5400000">
            <a:off x="5143503" y="4030519"/>
            <a:ext cx="137501" cy="225266"/>
          </a:xfrm>
          <a:prstGeom prst="rightArrow">
            <a:avLst>
              <a:gd name="adj1" fmla="val 71367"/>
              <a:gd name="adj2" fmla="val 50000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89000">
                <a:schemeClr val="bg1">
                  <a:lumMod val="85000"/>
                </a:scheme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8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9" name="오른쪽 화살표 141">
            <a:extLst>
              <a:ext uri="{FF2B5EF4-FFF2-40B4-BE49-F238E27FC236}">
                <a16:creationId xmlns:a16="http://schemas.microsoft.com/office/drawing/2014/main" id="{8AAFFDBC-666A-4E46-EEDC-7D7406D0499D}"/>
              </a:ext>
            </a:extLst>
          </p:cNvPr>
          <p:cNvSpPr/>
          <p:nvPr/>
        </p:nvSpPr>
        <p:spPr>
          <a:xfrm rot="5400000">
            <a:off x="5163837" y="4794342"/>
            <a:ext cx="137501" cy="225266"/>
          </a:xfrm>
          <a:prstGeom prst="rightArrow">
            <a:avLst>
              <a:gd name="adj1" fmla="val 71367"/>
              <a:gd name="adj2" fmla="val 50000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89000">
                <a:schemeClr val="bg1">
                  <a:lumMod val="85000"/>
                </a:scheme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800" kern="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A5D381A-3568-4E47-D801-642BBAA97291}"/>
              </a:ext>
            </a:extLst>
          </p:cNvPr>
          <p:cNvGrpSpPr/>
          <p:nvPr/>
        </p:nvGrpSpPr>
        <p:grpSpPr>
          <a:xfrm>
            <a:off x="6659458" y="1962345"/>
            <a:ext cx="2476026" cy="253317"/>
            <a:chOff x="444954" y="2154076"/>
            <a:chExt cx="2476026" cy="253317"/>
          </a:xfrm>
        </p:grpSpPr>
        <p:pic>
          <p:nvPicPr>
            <p:cNvPr id="41" name="그래픽 40" descr="배지 체크 표시1 단색으로 채워진">
              <a:extLst>
                <a:ext uri="{FF2B5EF4-FFF2-40B4-BE49-F238E27FC236}">
                  <a16:creationId xmlns:a16="http://schemas.microsoft.com/office/drawing/2014/main" id="{A96A9436-250F-93F7-790A-172983D7E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A1205B8-E513-E0CD-8499-79E6F5770D06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품질관리 방안</a:t>
              </a:r>
              <a:endParaRPr lang="ko-KR" altLang="en-US" sz="1050" b="1" spc="-8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40C3"/>
                </a:solidFill>
              </a:endParaRPr>
            </a:p>
          </p:txBody>
        </p:sp>
      </p:grp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D7C129E8-5CFF-61AE-1B65-7DDAE6804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035681"/>
              </p:ext>
            </p:extLst>
          </p:nvPr>
        </p:nvGraphicFramePr>
        <p:xfrm>
          <a:off x="6693745" y="2266599"/>
          <a:ext cx="2767300" cy="2010987"/>
        </p:xfrm>
        <a:graphic>
          <a:graphicData uri="http://schemas.openxmlformats.org/drawingml/2006/table">
            <a:tbl>
              <a:tblPr/>
              <a:tblGrid>
                <a:gridCol w="838023">
                  <a:extLst>
                    <a:ext uri="{9D8B030D-6E8A-4147-A177-3AD203B41FA5}">
                      <a16:colId xmlns:a16="http://schemas.microsoft.com/office/drawing/2014/main" val="1586114457"/>
                    </a:ext>
                  </a:extLst>
                </a:gridCol>
                <a:gridCol w="1929277">
                  <a:extLst>
                    <a:ext uri="{9D8B030D-6E8A-4147-A177-3AD203B41FA5}">
                      <a16:colId xmlns:a16="http://schemas.microsoft.com/office/drawing/2014/main" val="660603095"/>
                    </a:ext>
                  </a:extLst>
                </a:gridCol>
              </a:tblGrid>
              <a:tr h="5490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진단 정확성 </a:t>
                      </a:r>
                      <a:endParaRPr lang="en-US" altLang="ko-KR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착수 </a:t>
                      </a:r>
                      <a:r>
                        <a:rPr lang="en-US" altLang="ko-KR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8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점검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G-DAX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유형 판정 근거 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수행계획 타당성</a:t>
                      </a:r>
                    </a:p>
                    <a:p>
                      <a:pPr marL="72000" indent="-7200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통과 기준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수행계획서 승인 완료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189120"/>
                  </a:ext>
                </a:extLst>
              </a:tr>
              <a:tr h="730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 논리성 </a:t>
                      </a:r>
                      <a:endParaRPr lang="en-US" altLang="ko-KR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중간보고 </a:t>
                      </a:r>
                      <a:r>
                        <a:rPr lang="en-US" altLang="ko-KR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50%)</a:t>
                      </a:r>
                      <a:endParaRPr lang="ko-KR" altLang="en-US" sz="8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검증주체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800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스쿼드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교차검증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72000" indent="-7200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점검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800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Tech·HR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연계성 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법적 리스크 점검</a:t>
                      </a:r>
                    </a:p>
                    <a:p>
                      <a:pPr marL="72000" indent="-7200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통과 기준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분야별 전문가 교차 승인 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만족도 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80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점</a:t>
                      </a:r>
                      <a:endParaRPr lang="ko-KR" altLang="en-US" sz="8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11798"/>
                  </a:ext>
                </a:extLst>
              </a:tr>
              <a:tr h="730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 가능성 </a:t>
                      </a:r>
                      <a:endParaRPr lang="en-US" altLang="ko-KR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최종보고 </a:t>
                      </a:r>
                      <a:endParaRPr lang="en-US" altLang="ko-KR" sz="8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 전</a:t>
                      </a:r>
                      <a:r>
                        <a:rPr lang="en-US" altLang="ko-KR" sz="8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검증주체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정책 자문위원 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+ PMO</a:t>
                      </a:r>
                    </a:p>
                    <a:p>
                      <a:pPr marL="72000" indent="-7200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점검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정책 연계 적합성 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실행계획 구체성</a:t>
                      </a:r>
                    </a:p>
                    <a:p>
                      <a:pPr marL="72000" indent="-7200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통과 기준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최종 품질평가 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85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점 </a:t>
                      </a:r>
                      <a:r>
                        <a:rPr lang="en-US" altLang="ko-KR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8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신청서 초안 구비</a:t>
                      </a:r>
                      <a:endParaRPr lang="ko-KR" altLang="en-US" sz="8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306161"/>
                  </a:ext>
                </a:extLst>
              </a:tr>
            </a:tbl>
          </a:graphicData>
        </a:graphic>
      </p:graphicFrame>
      <p:sp>
        <p:nvSpPr>
          <p:cNvPr id="44" name="사각형: 둥근 위쪽 모서리 43">
            <a:extLst>
              <a:ext uri="{FF2B5EF4-FFF2-40B4-BE49-F238E27FC236}">
                <a16:creationId xmlns:a16="http://schemas.microsoft.com/office/drawing/2014/main" id="{90DA30B0-6B0A-2B0A-DA10-0FABEF0D4592}"/>
              </a:ext>
            </a:extLst>
          </p:cNvPr>
          <p:cNvSpPr/>
          <p:nvPr/>
        </p:nvSpPr>
        <p:spPr bwMode="auto">
          <a:xfrm>
            <a:off x="6693745" y="4374563"/>
            <a:ext cx="2767300" cy="16409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96290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상시 모니터링 </a:t>
            </a:r>
            <a:endParaRPr kumimoji="0" lang="ko-KR" altLang="en-US" sz="105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5" name="사각형: 둥근 위쪽 모서리 44">
            <a:extLst>
              <a:ext uri="{FF2B5EF4-FFF2-40B4-BE49-F238E27FC236}">
                <a16:creationId xmlns:a16="http://schemas.microsoft.com/office/drawing/2014/main" id="{3BCE44F4-DE43-82AD-9173-473F5A3458C6}"/>
              </a:ext>
            </a:extLst>
          </p:cNvPr>
          <p:cNvSpPr/>
          <p:nvPr/>
        </p:nvSpPr>
        <p:spPr bwMode="auto">
          <a:xfrm>
            <a:off x="6693746" y="4533836"/>
            <a:ext cx="2767300" cy="127282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en-US" altLang="ko-KR" sz="9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Online: </a:t>
            </a:r>
            <a:r>
              <a:rPr lang="ko-KR" altLang="en-US" sz="9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시스템 기반 실시간 관리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LMS </a:t>
            </a: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대시보드</a:t>
            </a:r>
            <a:r>
              <a:rPr lang="en-US" altLang="ko-KR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800" kern="0" spc="-7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진척률</a:t>
            </a: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실시간 집계 </a:t>
            </a:r>
            <a:r>
              <a:rPr lang="en-US" altLang="ko-KR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+ 90% </a:t>
            </a: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미만 자동 분류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주간 이슈 리포팅</a:t>
            </a:r>
            <a:r>
              <a:rPr lang="en-US" altLang="ko-KR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매주 금요일 이슈 자동 통보</a:t>
            </a:r>
            <a:endParaRPr lang="en-US" altLang="ko-KR" sz="800" kern="0" spc="-7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spcAft>
                <a:spcPts val="200"/>
              </a:spcAft>
            </a:pPr>
            <a:endParaRPr lang="ko-KR" altLang="en-US" sz="800" kern="0" spc="-7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spcAft>
                <a:spcPts val="200"/>
              </a:spcAft>
            </a:pPr>
            <a:r>
              <a:rPr lang="en-US" altLang="ko-KR" sz="9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Offline: </a:t>
            </a:r>
            <a:r>
              <a:rPr lang="ko-KR" altLang="en-US" sz="9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현장 밀착 점검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PMO </a:t>
            </a: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현장 점검</a:t>
            </a:r>
            <a:r>
              <a:rPr lang="en-US" altLang="ko-KR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전체 과제 </a:t>
            </a:r>
            <a:r>
              <a:rPr lang="en-US" altLang="ko-KR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10% </a:t>
            </a: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무작위 표본 예고 없이 방문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월간 </a:t>
            </a:r>
            <a:r>
              <a:rPr lang="en-US" altLang="ko-KR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PMO </a:t>
            </a: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전략회의</a:t>
            </a:r>
            <a:r>
              <a:rPr lang="en-US" altLang="ko-KR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품질 현황 공유 </a:t>
            </a:r>
            <a:r>
              <a:rPr lang="en-US" altLang="ko-KR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800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대책 수립</a:t>
            </a:r>
          </a:p>
        </p:txBody>
      </p:sp>
    </p:spTree>
    <p:extLst>
      <p:ext uri="{BB962C8B-B14F-4D97-AF65-F5344CB8AC3E}">
        <p14:creationId xmlns:p14="http://schemas.microsoft.com/office/powerpoint/2010/main" val="217427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5304F-AFBE-366C-32F6-80D8F40B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다리꼴 29">
            <a:extLst>
              <a:ext uri="{FF2B5EF4-FFF2-40B4-BE49-F238E27FC236}">
                <a16:creationId xmlns:a16="http://schemas.microsoft.com/office/drawing/2014/main" id="{858AB244-D8B5-5D4B-093A-81C7E953D6D8}"/>
              </a:ext>
            </a:extLst>
          </p:cNvPr>
          <p:cNvSpPr/>
          <p:nvPr/>
        </p:nvSpPr>
        <p:spPr bwMode="auto">
          <a:xfrm rot="16200000">
            <a:off x="1535797" y="3654437"/>
            <a:ext cx="3745978" cy="602558"/>
          </a:xfrm>
          <a:prstGeom prst="trapezoid">
            <a:avLst>
              <a:gd name="adj" fmla="val 119286"/>
            </a:avLst>
          </a:prstGeom>
          <a:gradFill flip="none" rotWithShape="1">
            <a:gsLst>
              <a:gs pos="0">
                <a:sysClr val="window" lastClr="FFFFFF"/>
              </a:gs>
              <a:gs pos="78000">
                <a:schemeClr val="bg1">
                  <a:lumMod val="85000"/>
                </a:schemeClr>
              </a:gs>
            </a:gsLst>
            <a:lin ang="5400000" scaled="1"/>
            <a:tileRect/>
          </a:gra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88900" marR="0" indent="-88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EF208-31CB-D7B6-28C0-30B2C87D0A76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C.A.R.E.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전략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진단부터 이행까지 끊김 없는 현장 밀착형 고객감동 실현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9635D8-59BF-76CF-5244-26A7EC28FDC8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사업장 관리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B02E2A-5C03-3162-E403-18431131C41D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기업의 불안감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저항감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실행 불가능 위험을 조기에 파악하여 선제적으로 해결하기 위해</a:t>
            </a:r>
          </a:p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Customized(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맞춤형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 + Active(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능동적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 + Responsive(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신속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 + Execution(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완결성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의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 전략을 통합 운영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B57277-690A-0E80-204B-462BA257EA81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심리 불안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기술 의심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행정 피로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예산 부족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역량 부족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등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실행을 막는 모든 장벽을 선제적으로 제거하고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문제 발생 시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24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시간 내에 센터 차원의 솔루션 전담반이 현장에 투입되겠습니다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EEADD-CD1E-1B60-3EAA-14CD3C35A70D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1964E03-4B42-359B-D5EE-8E83739F7C7C}"/>
              </a:ext>
            </a:extLst>
          </p:cNvPr>
          <p:cNvGrpSpPr/>
          <p:nvPr/>
        </p:nvGrpSpPr>
        <p:grpSpPr>
          <a:xfrm>
            <a:off x="444954" y="1959442"/>
            <a:ext cx="2476026" cy="253317"/>
            <a:chOff x="444954" y="2154076"/>
            <a:chExt cx="2476026" cy="253317"/>
          </a:xfrm>
        </p:grpSpPr>
        <p:pic>
          <p:nvPicPr>
            <p:cNvPr id="3" name="그래픽 2" descr="배지 체크 표시1 단색으로 채워진">
              <a:extLst>
                <a:ext uri="{FF2B5EF4-FFF2-40B4-BE49-F238E27FC236}">
                  <a16:creationId xmlns:a16="http://schemas.microsoft.com/office/drawing/2014/main" id="{49094F2A-C3EE-199F-6E3D-028BA395B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D6B440-1373-63FE-2D63-BA8C2541DC91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사업장 관리 및 지원</a:t>
              </a:r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: C.A.R.E 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전략</a:t>
              </a:r>
              <a:endParaRPr lang="ko-KR" altLang="en-US" sz="1050" b="1" spc="-8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40C3"/>
                </a:solidFill>
              </a:endParaRPr>
            </a:p>
          </p:txBody>
        </p:sp>
      </p:grp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EB903C2F-40E9-B472-A9A6-672CB71F242D}"/>
              </a:ext>
            </a:extLst>
          </p:cNvPr>
          <p:cNvSpPr/>
          <p:nvPr/>
        </p:nvSpPr>
        <p:spPr bwMode="auto">
          <a:xfrm>
            <a:off x="3661428" y="2034360"/>
            <a:ext cx="3323594" cy="215214"/>
          </a:xfrm>
          <a:prstGeom prst="round2SameRect">
            <a:avLst>
              <a:gd name="adj1" fmla="val 30157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유형별 맞춤형 관리 포인트 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CC386158-0CD0-A6FA-860C-E848DD3882BA}"/>
              </a:ext>
            </a:extLst>
          </p:cNvPr>
          <p:cNvSpPr/>
          <p:nvPr/>
        </p:nvSpPr>
        <p:spPr bwMode="auto">
          <a:xfrm>
            <a:off x="3661428" y="2249572"/>
            <a:ext cx="3323594" cy="183358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0" bIns="0" rtlCol="0" anchor="ctr"/>
          <a:lstStyle/>
          <a:p>
            <a:pPr defTabSz="914400"/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Type A |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구조전환형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주요 심리 상태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구조조정에 대한 불안과 저항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관리 전략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심리적 안정 중심 지원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핵심 역할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노무사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심리전문가 참여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고용안정협약 중재 및 상담 지원</a:t>
            </a:r>
          </a:p>
          <a:p>
            <a:pPr defTabSz="914400"/>
            <a:endParaRPr lang="ko-KR" altLang="en-US" sz="5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Type B |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공정혁신형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주요 심리 상태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규제 압박과 비용 증가에 따른 부담과 피로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관리 전략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기술적 확신 제공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핵심 역할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기술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·ESG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전문가 참여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Best Practice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제시 및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ROI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가시화</a:t>
            </a:r>
          </a:p>
          <a:p>
            <a:pPr defTabSz="914400"/>
            <a:endParaRPr lang="ko-KR" altLang="en-US" sz="5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Type C/D |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성장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·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기반형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주요 심리 상태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인력 부족으로 인한 실행 정체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관리 전략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행정 부담 최소화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핵심 역할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PM·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행정지원 인력 중심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One-Stop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절차 지</a:t>
            </a:r>
          </a:p>
        </p:txBody>
      </p:sp>
      <p:sp>
        <p:nvSpPr>
          <p:cNvPr id="23" name="사각형: 둥근 위쪽 모서리 22">
            <a:extLst>
              <a:ext uri="{FF2B5EF4-FFF2-40B4-BE49-F238E27FC236}">
                <a16:creationId xmlns:a16="http://schemas.microsoft.com/office/drawing/2014/main" id="{F067869F-FC83-91C6-436A-1EA6520D362A}"/>
              </a:ext>
            </a:extLst>
          </p:cNvPr>
          <p:cNvSpPr/>
          <p:nvPr/>
        </p:nvSpPr>
        <p:spPr bwMode="auto">
          <a:xfrm>
            <a:off x="3661428" y="4235253"/>
            <a:ext cx="3323594" cy="215214"/>
          </a:xfrm>
          <a:prstGeom prst="round2SameRect">
            <a:avLst>
              <a:gd name="adj1" fmla="val 30157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대 실행 장벽 제거 전략 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A0ECF7D9-BCB6-3C05-E7D2-DD4D0FFCD588}"/>
              </a:ext>
            </a:extLst>
          </p:cNvPr>
          <p:cNvSpPr/>
          <p:nvPr/>
        </p:nvSpPr>
        <p:spPr bwMode="auto">
          <a:xfrm>
            <a:off x="3661428" y="4450466"/>
            <a:ext cx="3323594" cy="137823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0" bIns="0" rtlCol="0" anchor="ctr"/>
          <a:lstStyle/>
          <a:p>
            <a:pPr defTabSz="914400"/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예산 장벽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해결 방식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정책자금 매칭 패키지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노동부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산업부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중기부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지원사업 동시 연계로 기업 부담 최소화</a:t>
            </a:r>
          </a:p>
          <a:p>
            <a:pPr defTabSz="914400"/>
            <a:endParaRPr lang="ko-KR" altLang="en-US" sz="3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역량 장벽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해결 방식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쉐도잉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(Shadowing)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기반 내부 인력 육성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 담당자가 컨설턴트 수행 과정을 직접 학습해 자생력 확보</a:t>
            </a:r>
          </a:p>
          <a:p>
            <a:pPr defTabSz="914400"/>
            <a:endParaRPr lang="ko-KR" altLang="en-US" sz="2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확신 장벽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해결 방식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PMO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주관 전담 솔루션 운영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규제 이슈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노조 반발 등 돌발 변수 발생 시 센터 차원 즉각 개입</a:t>
            </a:r>
          </a:p>
        </p:txBody>
      </p:sp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0C7D6BCC-0816-A2DD-DF7A-B8F7A4D36D7D}"/>
              </a:ext>
            </a:extLst>
          </p:cNvPr>
          <p:cNvSpPr/>
          <p:nvPr/>
        </p:nvSpPr>
        <p:spPr bwMode="auto">
          <a:xfrm>
            <a:off x="7131409" y="2034360"/>
            <a:ext cx="2329637" cy="215214"/>
          </a:xfrm>
          <a:prstGeom prst="round2SameRect">
            <a:avLst>
              <a:gd name="adj1" fmla="val 30157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단계별 능동적 만족도 관리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6" name="사각형: 둥근 위쪽 모서리 25">
            <a:extLst>
              <a:ext uri="{FF2B5EF4-FFF2-40B4-BE49-F238E27FC236}">
                <a16:creationId xmlns:a16="http://schemas.microsoft.com/office/drawing/2014/main" id="{9AC03525-8FF7-B143-65A9-5D6129CEF806}"/>
              </a:ext>
            </a:extLst>
          </p:cNvPr>
          <p:cNvSpPr/>
          <p:nvPr/>
        </p:nvSpPr>
        <p:spPr bwMode="auto">
          <a:xfrm>
            <a:off x="7131409" y="2249572"/>
            <a:ext cx="2329637" cy="183358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defTabSz="914400"/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착수 단계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기대수준 합의서 작성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산출물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범위 명확화로 결과 불만 사전 차단</a:t>
            </a:r>
          </a:p>
          <a:p>
            <a:pPr defTabSz="914400"/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중간 단계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(50%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진행 시점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)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약식 만족도 설문 및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PMO </a:t>
            </a: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해피콜</a:t>
            </a:r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컨설턴트 태도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성실성 점검 및 불만 조기 포착</a:t>
            </a:r>
          </a:p>
          <a:p>
            <a:pPr defTabSz="914400"/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종료 단계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실행 전략 발표회 개최</a:t>
            </a:r>
          </a:p>
          <a:p>
            <a:pPr defTabSz="914400"/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보고서 전달이 아닌 부서별 실행과제 명확화</a:t>
            </a:r>
          </a:p>
        </p:txBody>
      </p:sp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3416A5ED-DA85-9E7F-4931-C15956AA8C9A}"/>
              </a:ext>
            </a:extLst>
          </p:cNvPr>
          <p:cNvSpPr/>
          <p:nvPr/>
        </p:nvSpPr>
        <p:spPr bwMode="auto">
          <a:xfrm>
            <a:off x="7131409" y="4235253"/>
            <a:ext cx="2329637" cy="215214"/>
          </a:xfrm>
          <a:prstGeom prst="round2SameRect">
            <a:avLst>
              <a:gd name="adj1" fmla="val 30157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24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시간 핫라인 기반 리스크 대응 체계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A0D8E581-9CA5-BA08-F852-C09D07C54D46}"/>
              </a:ext>
            </a:extLst>
          </p:cNvPr>
          <p:cNvSpPr/>
          <p:nvPr/>
        </p:nvSpPr>
        <p:spPr bwMode="auto">
          <a:xfrm>
            <a:off x="7131409" y="4450466"/>
            <a:ext cx="2329637" cy="137823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VOC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접수 후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2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시간 내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1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차 응답</a:t>
            </a:r>
            <a:endParaRPr lang="en-US" altLang="ko-KR" sz="9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rgbClr val="1040C3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24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시간 내 해결 원칙</a:t>
            </a:r>
          </a:p>
          <a:p>
            <a:pPr defTabSz="914400"/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&lt;3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VOC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처리 프로세스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&gt;</a:t>
            </a:r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접수 및 주의 발령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컨설턴트 즉시 공유</a:t>
            </a: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PMO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사실관계 파악 및 </a:t>
            </a:r>
            <a:endParaRPr lang="en-US" altLang="ko-KR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        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보완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교체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추가 지원</a:t>
            </a: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경영진 보고 및 만족도 재확인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BDA5E34-8837-3846-AB93-9AD96E8A5D64}"/>
              </a:ext>
            </a:extLst>
          </p:cNvPr>
          <p:cNvGrpSpPr/>
          <p:nvPr/>
        </p:nvGrpSpPr>
        <p:grpSpPr>
          <a:xfrm>
            <a:off x="444954" y="2705028"/>
            <a:ext cx="2938326" cy="2480810"/>
            <a:chOff x="444954" y="2767658"/>
            <a:chExt cx="2938326" cy="2480810"/>
          </a:xfrm>
        </p:grpSpPr>
        <p:sp>
          <p:nvSpPr>
            <p:cNvPr id="9" name="사각형: 둥근 위쪽 모서리 8">
              <a:extLst>
                <a:ext uri="{FF2B5EF4-FFF2-40B4-BE49-F238E27FC236}">
                  <a16:creationId xmlns:a16="http://schemas.microsoft.com/office/drawing/2014/main" id="{5E1AB5C2-39DC-EAC0-4FBB-277CFDA7187F}"/>
                </a:ext>
              </a:extLst>
            </p:cNvPr>
            <p:cNvSpPr/>
            <p:nvPr/>
          </p:nvSpPr>
          <p:spPr bwMode="auto">
            <a:xfrm>
              <a:off x="444954" y="2767658"/>
              <a:ext cx="398713" cy="55128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6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C</a:t>
              </a:r>
              <a:endParaRPr kumimoji="0" lang="ko-KR" altLang="en-US" sz="16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FCD9FA0C-0550-AE6C-03FD-D897DE33C25D}"/>
                </a:ext>
              </a:extLst>
            </p:cNvPr>
            <p:cNvSpPr/>
            <p:nvPr/>
          </p:nvSpPr>
          <p:spPr bwMode="auto">
            <a:xfrm>
              <a:off x="843667" y="2767658"/>
              <a:ext cx="2539613" cy="55128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Customized 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맞춤형 관리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G-DAX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유형별 특성에 맞춘 차별화된 접근</a:t>
              </a:r>
            </a:p>
          </p:txBody>
        </p:sp>
        <p:sp>
          <p:nvSpPr>
            <p:cNvPr id="13" name="사각형: 둥근 위쪽 모서리 12">
              <a:extLst>
                <a:ext uri="{FF2B5EF4-FFF2-40B4-BE49-F238E27FC236}">
                  <a16:creationId xmlns:a16="http://schemas.microsoft.com/office/drawing/2014/main" id="{24C57D92-B4E2-8C10-65E9-CC90DC4945A0}"/>
                </a:ext>
              </a:extLst>
            </p:cNvPr>
            <p:cNvSpPr/>
            <p:nvPr/>
          </p:nvSpPr>
          <p:spPr bwMode="auto">
            <a:xfrm>
              <a:off x="444954" y="3400590"/>
              <a:ext cx="398713" cy="55128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kumimoji="0" lang="en-US" altLang="ko-KR" sz="1600" b="1" i="0" u="none" strike="noStrike" kern="0" cap="none" spc="-10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rPr>
                <a:t>A</a:t>
              </a:r>
              <a:endParaRPr kumimoji="0" lang="ko-KR" altLang="en-US" sz="16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id="{0F4163E7-FA33-2270-6F3E-A21187E2C8DE}"/>
                </a:ext>
              </a:extLst>
            </p:cNvPr>
            <p:cNvSpPr/>
            <p:nvPr/>
          </p:nvSpPr>
          <p:spPr bwMode="auto">
            <a:xfrm>
              <a:off x="843667" y="3400590"/>
              <a:ext cx="2539613" cy="55128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Active 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능동적 소통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기업의 요청 전에 잠재 불만을 먼저 파악</a:t>
              </a: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A92539F9-DB0A-013B-8B25-E696A307A854}"/>
                </a:ext>
              </a:extLst>
            </p:cNvPr>
            <p:cNvSpPr/>
            <p:nvPr/>
          </p:nvSpPr>
          <p:spPr bwMode="auto">
            <a:xfrm>
              <a:off x="444954" y="4064250"/>
              <a:ext cx="398713" cy="55128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6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R</a:t>
              </a:r>
              <a:endParaRPr kumimoji="0" lang="ko-KR" altLang="en-US" sz="16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7608ADE4-B6C5-ACE7-1606-74B9489365C9}"/>
                </a:ext>
              </a:extLst>
            </p:cNvPr>
            <p:cNvSpPr/>
            <p:nvPr/>
          </p:nvSpPr>
          <p:spPr bwMode="auto">
            <a:xfrm>
              <a:off x="843667" y="4064250"/>
              <a:ext cx="2539613" cy="55128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Responsive 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신속 대응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이슈 발생 시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24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시간 내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PMO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개입 및 해결</a:t>
              </a:r>
            </a:p>
          </p:txBody>
        </p: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5AA89FBB-73C6-550B-6BB9-FE90600B1431}"/>
                </a:ext>
              </a:extLst>
            </p:cNvPr>
            <p:cNvSpPr/>
            <p:nvPr/>
          </p:nvSpPr>
          <p:spPr bwMode="auto">
            <a:xfrm>
              <a:off x="444954" y="4697182"/>
              <a:ext cx="398713" cy="55128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6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E</a:t>
              </a:r>
              <a:endParaRPr kumimoji="0" lang="ko-KR" altLang="en-US" sz="16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0" name="사각형: 둥근 위쪽 모서리 19">
              <a:extLst>
                <a:ext uri="{FF2B5EF4-FFF2-40B4-BE49-F238E27FC236}">
                  <a16:creationId xmlns:a16="http://schemas.microsoft.com/office/drawing/2014/main" id="{8FACA351-35BF-BC27-730C-1241C90F9076}"/>
                </a:ext>
              </a:extLst>
            </p:cNvPr>
            <p:cNvSpPr/>
            <p:nvPr/>
          </p:nvSpPr>
          <p:spPr bwMode="auto">
            <a:xfrm>
              <a:off x="843667" y="4697182"/>
              <a:ext cx="2539613" cy="55128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Execution 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실행 책임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보고서 납품이 아닌 실제 이행까지 책임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0643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4FAC1-112D-403D-CBBC-794D1FDE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905C81F-2A19-A258-6090-E455B0F1C58F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단계별 체계적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추진으로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G-DAX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성공 달성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601307-B61B-837D-FF7B-E93E6903771A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추진일정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ED94DC-5207-B3AA-7815-15A375F6A405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2026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사업은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월 착수부터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11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월 성과 확산까지 기반 구축부터 사후관리까지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단계로 추진하고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단계별 일정과 역할을 명확히 해 기업의 산업전환과 고용안정을 동시에 달성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2EE3EE-369E-BE98-B853-46EC801AFD96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기반 구축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(2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월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) →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수요 발굴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(2~6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월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) →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컨설팅 수행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(4~10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월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) →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정책 연계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(5~11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월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) →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사후관리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(9~11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월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2BB5D-C4EA-102E-DF7A-86C5A08208E3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4CB6018-494E-D40C-55AD-9E4C7F20E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303887"/>
              </p:ext>
            </p:extLst>
          </p:nvPr>
        </p:nvGraphicFramePr>
        <p:xfrm>
          <a:off x="469739" y="1945385"/>
          <a:ext cx="8966521" cy="3904271"/>
        </p:xfrm>
        <a:graphic>
          <a:graphicData uri="http://schemas.openxmlformats.org/drawingml/2006/table">
            <a:tbl>
              <a:tblPr/>
              <a:tblGrid>
                <a:gridCol w="1049677">
                  <a:extLst>
                    <a:ext uri="{9D8B030D-6E8A-4147-A177-3AD203B41FA5}">
                      <a16:colId xmlns:a16="http://schemas.microsoft.com/office/drawing/2014/main" val="4005719286"/>
                    </a:ext>
                  </a:extLst>
                </a:gridCol>
                <a:gridCol w="1769477">
                  <a:extLst>
                    <a:ext uri="{9D8B030D-6E8A-4147-A177-3AD203B41FA5}">
                      <a16:colId xmlns:a16="http://schemas.microsoft.com/office/drawing/2014/main" val="373882761"/>
                    </a:ext>
                  </a:extLst>
                </a:gridCol>
                <a:gridCol w="930240">
                  <a:extLst>
                    <a:ext uri="{9D8B030D-6E8A-4147-A177-3AD203B41FA5}">
                      <a16:colId xmlns:a16="http://schemas.microsoft.com/office/drawing/2014/main" val="2628157761"/>
                    </a:ext>
                  </a:extLst>
                </a:gridCol>
                <a:gridCol w="669244">
                  <a:extLst>
                    <a:ext uri="{9D8B030D-6E8A-4147-A177-3AD203B41FA5}">
                      <a16:colId xmlns:a16="http://schemas.microsoft.com/office/drawing/2014/main" val="2912654170"/>
                    </a:ext>
                  </a:extLst>
                </a:gridCol>
                <a:gridCol w="422872">
                  <a:extLst>
                    <a:ext uri="{9D8B030D-6E8A-4147-A177-3AD203B41FA5}">
                      <a16:colId xmlns:a16="http://schemas.microsoft.com/office/drawing/2014/main" val="2782649036"/>
                    </a:ext>
                  </a:extLst>
                </a:gridCol>
                <a:gridCol w="492744">
                  <a:extLst>
                    <a:ext uri="{9D8B030D-6E8A-4147-A177-3AD203B41FA5}">
                      <a16:colId xmlns:a16="http://schemas.microsoft.com/office/drawing/2014/main" val="3514840199"/>
                    </a:ext>
                  </a:extLst>
                </a:gridCol>
                <a:gridCol w="669244">
                  <a:extLst>
                    <a:ext uri="{9D8B030D-6E8A-4147-A177-3AD203B41FA5}">
                      <a16:colId xmlns:a16="http://schemas.microsoft.com/office/drawing/2014/main" val="2448829552"/>
                    </a:ext>
                  </a:extLst>
                </a:gridCol>
                <a:gridCol w="422872">
                  <a:extLst>
                    <a:ext uri="{9D8B030D-6E8A-4147-A177-3AD203B41FA5}">
                      <a16:colId xmlns:a16="http://schemas.microsoft.com/office/drawing/2014/main" val="1209297804"/>
                    </a:ext>
                  </a:extLst>
                </a:gridCol>
                <a:gridCol w="492744">
                  <a:extLst>
                    <a:ext uri="{9D8B030D-6E8A-4147-A177-3AD203B41FA5}">
                      <a16:colId xmlns:a16="http://schemas.microsoft.com/office/drawing/2014/main" val="2520038848"/>
                    </a:ext>
                  </a:extLst>
                </a:gridCol>
                <a:gridCol w="492744">
                  <a:extLst>
                    <a:ext uri="{9D8B030D-6E8A-4147-A177-3AD203B41FA5}">
                      <a16:colId xmlns:a16="http://schemas.microsoft.com/office/drawing/2014/main" val="3587007793"/>
                    </a:ext>
                  </a:extLst>
                </a:gridCol>
                <a:gridCol w="669244">
                  <a:extLst>
                    <a:ext uri="{9D8B030D-6E8A-4147-A177-3AD203B41FA5}">
                      <a16:colId xmlns:a16="http://schemas.microsoft.com/office/drawing/2014/main" val="3797785996"/>
                    </a:ext>
                  </a:extLst>
                </a:gridCol>
                <a:gridCol w="885419">
                  <a:extLst>
                    <a:ext uri="{9D8B030D-6E8A-4147-A177-3AD203B41FA5}">
                      <a16:colId xmlns:a16="http://schemas.microsoft.com/office/drawing/2014/main" val="1066706119"/>
                    </a:ext>
                  </a:extLst>
                </a:gridCol>
              </a:tblGrid>
              <a:tr h="229173">
                <a:tc gridSpan="1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000" b="1" kern="0" spc="-7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추진 계획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B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311350"/>
                  </a:ext>
                </a:extLst>
              </a:tr>
              <a:tr h="22917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-7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일정단계전략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endParaRPr lang="ko-KR" altLang="en-US" sz="1000" b="1" kern="0" spc="-7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Fast-Start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endParaRPr lang="ko-KR" altLang="en-US" sz="1000" kern="0" spc="-70">
                        <a:solidFill>
                          <a:srgbClr val="000000"/>
                        </a:solidFill>
                        <a:effectLst/>
                        <a:latin typeface="KoPub돋움체 Bold" panose="02020603020101020101" pitchFamily="18" charset="-127"/>
                      </a:endParaRPr>
                    </a:p>
                  </a:txBody>
                  <a:tcPr marL="11401" marR="11401" marT="9501" marB="9501" anchor="ctr">
                    <a:lnL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endParaRPr lang="ko-KR" altLang="en-US" sz="1000" kern="0" spc="-70" dirty="0">
                        <a:solidFill>
                          <a:srgbClr val="000000"/>
                        </a:solidFill>
                        <a:effectLst/>
                        <a:latin typeface="KoPub돋움체 Bold" panose="02020603020101020101" pitchFamily="18" charset="-127"/>
                      </a:endParaRPr>
                    </a:p>
                  </a:txBody>
                  <a:tcPr marL="11401" marR="11401" marT="9501" marB="9501" anchor="ctr">
                    <a:lnL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800" b="1" kern="0" spc="-7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Deep-Dive</a:t>
                      </a:r>
                      <a:endParaRPr lang="ko-KR" altLang="en-US" sz="800" b="1" kern="0" spc="-7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endParaRPr lang="ko-KR" altLang="en-US" sz="1000" kern="0" spc="-70">
                        <a:solidFill>
                          <a:srgbClr val="000000"/>
                        </a:solidFill>
                        <a:effectLst/>
                        <a:latin typeface="KoPub돋움체 Bold" panose="02020603020101020101" pitchFamily="18" charset="-127"/>
                      </a:endParaRPr>
                    </a:p>
                  </a:txBody>
                  <a:tcPr marL="11401" marR="11401" marT="9501" marB="9501" anchor="ctr">
                    <a:lnL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endParaRPr lang="ko-KR" altLang="en-US" sz="1000" kern="0" spc="-70" dirty="0">
                        <a:solidFill>
                          <a:srgbClr val="000000"/>
                        </a:solidFill>
                        <a:effectLst/>
                        <a:latin typeface="KoPub돋움체 Bold" panose="02020603020101020101" pitchFamily="18" charset="-127"/>
                      </a:endParaRPr>
                    </a:p>
                  </a:txBody>
                  <a:tcPr marL="11401" marR="11401" marT="9501" marB="9501" anchor="ctr">
                    <a:lnL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endParaRPr lang="ko-KR" altLang="en-US" sz="1000" kern="0" spc="-70" dirty="0">
                        <a:solidFill>
                          <a:srgbClr val="000000"/>
                        </a:solidFill>
                        <a:effectLst/>
                        <a:latin typeface="KoPub돋움체 Bold" panose="02020603020101020101" pitchFamily="18" charset="-127"/>
                      </a:endParaRPr>
                    </a:p>
                  </a:txBody>
                  <a:tcPr marL="11401" marR="11401" marT="9501" marB="9501" anchor="ctr">
                    <a:lnL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endParaRPr lang="ko-KR" altLang="en-US" sz="1000" kern="0" spc="-70" dirty="0">
                        <a:solidFill>
                          <a:srgbClr val="000000"/>
                        </a:solidFill>
                        <a:effectLst/>
                        <a:latin typeface="KoPub돋움체 Bold" panose="02020603020101020101" pitchFamily="18" charset="-127"/>
                      </a:endParaRPr>
                    </a:p>
                  </a:txBody>
                  <a:tcPr marL="11401" marR="11401" marT="9501" marB="9501" anchor="ctr">
                    <a:lnL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18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Perfect-Closing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1772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세부추진내용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kern="0" spc="-7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1000" b="1" kern="0" spc="-7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905153"/>
                  </a:ext>
                </a:extLst>
              </a:tr>
              <a:tr h="34345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구축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 착수 및 조직 구성</a:t>
                      </a:r>
                    </a:p>
                  </a:txBody>
                  <a:tcPr marL="72000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812856"/>
                  </a:ext>
                </a:extLst>
              </a:tr>
              <a:tr h="343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컨설턴트 선발 및 교육</a:t>
                      </a:r>
                    </a:p>
                  </a:txBody>
                  <a:tcPr marL="72000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767955"/>
                  </a:ext>
                </a:extLst>
              </a:tr>
              <a:tr h="28901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수요발굴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-5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홍보 및 업종별 설명회 개최</a:t>
                      </a:r>
                      <a:endParaRPr lang="ko-KR" altLang="en-US" sz="1000" b="1" kern="0" spc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744542"/>
                  </a:ext>
                </a:extLst>
              </a:tr>
              <a:tr h="343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 선정 및 협약 체결</a:t>
                      </a:r>
                    </a:p>
                  </a:txBody>
                  <a:tcPr marL="72000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114408"/>
                  </a:ext>
                </a:extLst>
              </a:tr>
              <a:tr h="34345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컨설팅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기업진단 및 심화 컨설팅</a:t>
                      </a:r>
                    </a:p>
                  </a:txBody>
                  <a:tcPr marL="72000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79548"/>
                  </a:ext>
                </a:extLst>
              </a:tr>
              <a:tr h="343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 점검 및 모니터링</a:t>
                      </a:r>
                    </a:p>
                  </a:txBody>
                  <a:tcPr marL="72000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C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511873"/>
                  </a:ext>
                </a:extLst>
              </a:tr>
              <a:tr h="28901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 연계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 전략 수립</a:t>
                      </a:r>
                    </a:p>
                  </a:txBody>
                  <a:tcPr marL="72000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010869"/>
                  </a:ext>
                </a:extLst>
              </a:tr>
              <a:tr h="2890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-12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정부지원사업 매칭 및 신청</a:t>
                      </a:r>
                      <a:endParaRPr lang="ko-KR" altLang="en-US" sz="1000" b="1" kern="0" spc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229717"/>
                  </a:ext>
                </a:extLst>
              </a:tr>
              <a:tr h="28901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사후관리</a:t>
                      </a:r>
                    </a:p>
                  </a:txBody>
                  <a:tcPr marL="11401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-8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만족도 조사 및 결과 보고</a:t>
                      </a:r>
                      <a:endParaRPr lang="ko-KR" altLang="en-US" sz="1000" b="1" kern="0" spc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D8A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D8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73336"/>
                  </a:ext>
                </a:extLst>
              </a:tr>
              <a:tr h="343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 점검 및 성과 확산</a:t>
                      </a:r>
                    </a:p>
                  </a:txBody>
                  <a:tcPr marL="72000" marR="11401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1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D8A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</a:p>
                  </a:txBody>
                  <a:tcPr marL="16095" marR="16095" marT="9501" marB="9501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D8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685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874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AB6B-66A2-E99B-DBEA-98EC820B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34024BC9-A62C-BCA8-3FA1-D8657949738F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PMDCA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주간 단위 고도화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실시간 성과 연계 분석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으로 목표 미달 조기 포착 및 </a:t>
            </a:r>
            <a:r>
              <a:rPr lang="ko-KR" altLang="en-US" spc="-3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선제적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대응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77012F-DA5E-76F4-0318-72B8375061EF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성과평가</a:t>
            </a:r>
            <a:r>
              <a:rPr lang="en-US" altLang="ko-KR" sz="1600" kern="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환류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41782D-EC4D-AD0E-1C44-A5A5C37583A1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PMDCA 5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단계를 주간 단위로 운영하고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G-DAX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데이터 기반 조기 경보로 목표 미달을 선제 관리함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95B51D-ED6A-17AE-3FFB-AF27103146E7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주간 단위로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진단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컨설팅 산출물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기업 만족도를 실시간으로 연계 분석하여 목표 미달 징후를 조기에 포착하고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PMO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가 즉각 현장에 개입하는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조기 경보 시스템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으로 목표 달성을 확실하게 보장합니다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1D619-6A00-48A6-3E4C-ACBE8799A4A7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사업계획의 적정성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계획의 구체성 및 실현가능성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C4A9456-2A99-ACED-0CE2-B9842269DA15}"/>
              </a:ext>
            </a:extLst>
          </p:cNvPr>
          <p:cNvGrpSpPr/>
          <p:nvPr/>
        </p:nvGrpSpPr>
        <p:grpSpPr>
          <a:xfrm>
            <a:off x="591821" y="2397925"/>
            <a:ext cx="8752860" cy="657581"/>
            <a:chOff x="540956" y="2254523"/>
            <a:chExt cx="8092799" cy="59364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F43B8B2D-DAD4-C372-642A-8EBDF2F2466C}"/>
                </a:ext>
              </a:extLst>
            </p:cNvPr>
            <p:cNvGrpSpPr/>
            <p:nvPr/>
          </p:nvGrpSpPr>
          <p:grpSpPr>
            <a:xfrm>
              <a:off x="540956" y="2254523"/>
              <a:ext cx="1224581" cy="593640"/>
              <a:chOff x="540851" y="2463512"/>
              <a:chExt cx="1540717" cy="629564"/>
            </a:xfrm>
          </p:grpSpPr>
          <p:sp>
            <p:nvSpPr>
              <p:cNvPr id="27" name="사각형: 둥근 위쪽 모서리 26">
                <a:extLst>
                  <a:ext uri="{FF2B5EF4-FFF2-40B4-BE49-F238E27FC236}">
                    <a16:creationId xmlns:a16="http://schemas.microsoft.com/office/drawing/2014/main" id="{F3A91542-3B7F-2F8B-A265-46F82B66A2C9}"/>
                  </a:ext>
                </a:extLst>
              </p:cNvPr>
              <p:cNvSpPr/>
              <p:nvPr/>
            </p:nvSpPr>
            <p:spPr bwMode="auto">
              <a:xfrm>
                <a:off x="540851" y="2463512"/>
                <a:ext cx="1540717" cy="242407"/>
              </a:xfrm>
              <a:prstGeom prst="round2SameRect">
                <a:avLst>
                  <a:gd name="adj1" fmla="val 42877"/>
                  <a:gd name="adj2" fmla="val 0"/>
                </a:avLst>
              </a:prstGeom>
              <a:solidFill>
                <a:srgbClr val="5D6DBE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P(Plan) 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28" name="사각형: 둥근 위쪽 모서리 27">
                <a:extLst>
                  <a:ext uri="{FF2B5EF4-FFF2-40B4-BE49-F238E27FC236}">
                    <a16:creationId xmlns:a16="http://schemas.microsoft.com/office/drawing/2014/main" id="{1F4DD458-B216-A302-F176-18323AEE624B}"/>
                  </a:ext>
                </a:extLst>
              </p:cNvPr>
              <p:cNvSpPr/>
              <p:nvPr/>
            </p:nvSpPr>
            <p:spPr bwMode="auto">
              <a:xfrm>
                <a:off x="540851" y="2705919"/>
                <a:ext cx="1540717" cy="387157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목표수립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136A53-4B1A-E528-2BF2-FA0B7E702EF6}"/>
                </a:ext>
              </a:extLst>
            </p:cNvPr>
            <p:cNvGrpSpPr/>
            <p:nvPr/>
          </p:nvGrpSpPr>
          <p:grpSpPr>
            <a:xfrm>
              <a:off x="2261341" y="2254523"/>
              <a:ext cx="1214250" cy="593640"/>
              <a:chOff x="546720" y="2463512"/>
              <a:chExt cx="1527719" cy="629564"/>
            </a:xfrm>
          </p:grpSpPr>
          <p:sp>
            <p:nvSpPr>
              <p:cNvPr id="24" name="사각형: 둥근 위쪽 모서리 23">
                <a:extLst>
                  <a:ext uri="{FF2B5EF4-FFF2-40B4-BE49-F238E27FC236}">
                    <a16:creationId xmlns:a16="http://schemas.microsoft.com/office/drawing/2014/main" id="{B756810D-2419-6D11-DF95-37BA1F5A13E7}"/>
                  </a:ext>
                </a:extLst>
              </p:cNvPr>
              <p:cNvSpPr/>
              <p:nvPr/>
            </p:nvSpPr>
            <p:spPr bwMode="auto">
              <a:xfrm>
                <a:off x="546720" y="2463512"/>
                <a:ext cx="1527719" cy="242407"/>
              </a:xfrm>
              <a:prstGeom prst="round2SameRect">
                <a:avLst>
                  <a:gd name="adj1" fmla="val 42877"/>
                  <a:gd name="adj2" fmla="val 0"/>
                </a:avLst>
              </a:prstGeom>
              <a:solidFill>
                <a:srgbClr val="5D6DBE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M(Measure)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25" name="사각형: 둥근 위쪽 모서리 24">
                <a:extLst>
                  <a:ext uri="{FF2B5EF4-FFF2-40B4-BE49-F238E27FC236}">
                    <a16:creationId xmlns:a16="http://schemas.microsoft.com/office/drawing/2014/main" id="{B3757979-60CE-A365-8209-DE5330083C26}"/>
                  </a:ext>
                </a:extLst>
              </p:cNvPr>
              <p:cNvSpPr/>
              <p:nvPr/>
            </p:nvSpPr>
            <p:spPr bwMode="auto">
              <a:xfrm>
                <a:off x="546720" y="2705919"/>
                <a:ext cx="1527719" cy="387157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주간 모니터링</a:t>
                </a: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0A19124-A9B1-3995-364F-1ACD655CB2D1}"/>
                </a:ext>
              </a:extLst>
            </p:cNvPr>
            <p:cNvGrpSpPr/>
            <p:nvPr/>
          </p:nvGrpSpPr>
          <p:grpSpPr>
            <a:xfrm>
              <a:off x="3971398" y="2254523"/>
              <a:ext cx="1223581" cy="593640"/>
              <a:chOff x="534982" y="2463512"/>
              <a:chExt cx="1539458" cy="629564"/>
            </a:xfrm>
          </p:grpSpPr>
          <p:sp>
            <p:nvSpPr>
              <p:cNvPr id="21" name="사각형: 둥근 위쪽 모서리 20">
                <a:extLst>
                  <a:ext uri="{FF2B5EF4-FFF2-40B4-BE49-F238E27FC236}">
                    <a16:creationId xmlns:a16="http://schemas.microsoft.com/office/drawing/2014/main" id="{675926DE-9B60-94E5-3AE6-BCA77E02D183}"/>
                  </a:ext>
                </a:extLst>
              </p:cNvPr>
              <p:cNvSpPr/>
              <p:nvPr/>
            </p:nvSpPr>
            <p:spPr bwMode="auto">
              <a:xfrm>
                <a:off x="534982" y="2463512"/>
                <a:ext cx="1539458" cy="242407"/>
              </a:xfrm>
              <a:prstGeom prst="round2SameRect">
                <a:avLst>
                  <a:gd name="adj1" fmla="val 42877"/>
                  <a:gd name="adj2" fmla="val 0"/>
                </a:avLst>
              </a:prstGeom>
              <a:solidFill>
                <a:srgbClr val="5D6DBE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D(Do)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id="{D8DA6316-3AAB-E30B-2C68-29D54009BAD9}"/>
                  </a:ext>
                </a:extLst>
              </p:cNvPr>
              <p:cNvSpPr/>
              <p:nvPr/>
            </p:nvSpPr>
            <p:spPr bwMode="auto">
              <a:xfrm>
                <a:off x="534982" y="2705919"/>
                <a:ext cx="1539458" cy="387157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현장지원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BB7E4A5C-A26F-EBE3-7B98-7B8CDC40E531}"/>
                </a:ext>
              </a:extLst>
            </p:cNvPr>
            <p:cNvGrpSpPr/>
            <p:nvPr/>
          </p:nvGrpSpPr>
          <p:grpSpPr>
            <a:xfrm>
              <a:off x="5690786" y="2254523"/>
              <a:ext cx="1223581" cy="593640"/>
              <a:chOff x="532047" y="2463512"/>
              <a:chExt cx="1539458" cy="629564"/>
            </a:xfrm>
          </p:grpSpPr>
          <p:sp>
            <p:nvSpPr>
              <p:cNvPr id="17" name="사각형: 둥근 위쪽 모서리 16">
                <a:extLst>
                  <a:ext uri="{FF2B5EF4-FFF2-40B4-BE49-F238E27FC236}">
                    <a16:creationId xmlns:a16="http://schemas.microsoft.com/office/drawing/2014/main" id="{EBFDE4FE-98A7-2ED4-DBDC-396172891712}"/>
                  </a:ext>
                </a:extLst>
              </p:cNvPr>
              <p:cNvSpPr/>
              <p:nvPr/>
            </p:nvSpPr>
            <p:spPr bwMode="auto">
              <a:xfrm>
                <a:off x="532047" y="2463512"/>
                <a:ext cx="1539458" cy="242407"/>
              </a:xfrm>
              <a:prstGeom prst="round2SameRect">
                <a:avLst>
                  <a:gd name="adj1" fmla="val 42877"/>
                  <a:gd name="adj2" fmla="val 0"/>
                </a:avLst>
              </a:prstGeom>
              <a:solidFill>
                <a:srgbClr val="5D6DBE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 C(Check)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id="{4DF32337-57BA-AA84-2985-0475A150E714}"/>
                  </a:ext>
                </a:extLst>
              </p:cNvPr>
              <p:cNvSpPr/>
              <p:nvPr/>
            </p:nvSpPr>
            <p:spPr bwMode="auto">
              <a:xfrm>
                <a:off x="532047" y="2705919"/>
                <a:ext cx="1539458" cy="387157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분기평가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14" name="오른쪽 화살표 141">
              <a:extLst>
                <a:ext uri="{FF2B5EF4-FFF2-40B4-BE49-F238E27FC236}">
                  <a16:creationId xmlns:a16="http://schemas.microsoft.com/office/drawing/2014/main" id="{9C1F318C-D3A2-622E-564E-7528DD8A3874}"/>
                </a:ext>
              </a:extLst>
            </p:cNvPr>
            <p:cNvSpPr/>
            <p:nvPr/>
          </p:nvSpPr>
          <p:spPr>
            <a:xfrm>
              <a:off x="1831025" y="2457557"/>
              <a:ext cx="362497" cy="253317"/>
            </a:xfrm>
            <a:prstGeom prst="rightArrow">
              <a:avLst>
                <a:gd name="adj1" fmla="val 71367"/>
                <a:gd name="adj2" fmla="val 50000"/>
              </a:avLst>
            </a:prstGeom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DDDDDD">
                    <a:lumMod val="30000"/>
                    <a:lumOff val="7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800" kern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15" name="오른쪽 화살표 141">
              <a:extLst>
                <a:ext uri="{FF2B5EF4-FFF2-40B4-BE49-F238E27FC236}">
                  <a16:creationId xmlns:a16="http://schemas.microsoft.com/office/drawing/2014/main" id="{B86121EC-B0C7-0ABF-2666-C7EDF779435D}"/>
                </a:ext>
              </a:extLst>
            </p:cNvPr>
            <p:cNvSpPr/>
            <p:nvPr/>
          </p:nvSpPr>
          <p:spPr>
            <a:xfrm>
              <a:off x="3543412" y="2457557"/>
              <a:ext cx="362497" cy="253317"/>
            </a:xfrm>
            <a:prstGeom prst="rightArrow">
              <a:avLst>
                <a:gd name="adj1" fmla="val 71367"/>
                <a:gd name="adj2" fmla="val 50000"/>
              </a:avLst>
            </a:prstGeom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DDDDDD">
                    <a:lumMod val="30000"/>
                    <a:lumOff val="7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800" kern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16" name="오른쪽 화살표 141">
              <a:extLst>
                <a:ext uri="{FF2B5EF4-FFF2-40B4-BE49-F238E27FC236}">
                  <a16:creationId xmlns:a16="http://schemas.microsoft.com/office/drawing/2014/main" id="{77EE71A4-A6F4-5D3F-4257-F7F3751E5F7A}"/>
                </a:ext>
              </a:extLst>
            </p:cNvPr>
            <p:cNvSpPr/>
            <p:nvPr/>
          </p:nvSpPr>
          <p:spPr>
            <a:xfrm>
              <a:off x="5262799" y="2457557"/>
              <a:ext cx="362497" cy="253317"/>
            </a:xfrm>
            <a:prstGeom prst="rightArrow">
              <a:avLst>
                <a:gd name="adj1" fmla="val 71367"/>
                <a:gd name="adj2" fmla="val 50000"/>
              </a:avLst>
            </a:prstGeom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DDDDDD">
                    <a:lumMod val="30000"/>
                    <a:lumOff val="7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800" kern="0">
                <a:solidFill>
                  <a:prstClr val="white"/>
                </a:solidFill>
                <a:latin typeface="+mn-ea"/>
              </a:endParaRP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1D03DD0-6458-7A4E-AB74-C47F43283018}"/>
                </a:ext>
              </a:extLst>
            </p:cNvPr>
            <p:cNvGrpSpPr/>
            <p:nvPr/>
          </p:nvGrpSpPr>
          <p:grpSpPr>
            <a:xfrm>
              <a:off x="7410174" y="2254523"/>
              <a:ext cx="1223581" cy="593640"/>
              <a:chOff x="532047" y="2463512"/>
              <a:chExt cx="1539458" cy="629564"/>
            </a:xfrm>
          </p:grpSpPr>
          <p:sp>
            <p:nvSpPr>
              <p:cNvPr id="31" name="사각형: 둥근 위쪽 모서리 30">
                <a:extLst>
                  <a:ext uri="{FF2B5EF4-FFF2-40B4-BE49-F238E27FC236}">
                    <a16:creationId xmlns:a16="http://schemas.microsoft.com/office/drawing/2014/main" id="{FB0BEB6D-A906-EF1E-1374-CDF01BE7C1DC}"/>
                  </a:ext>
                </a:extLst>
              </p:cNvPr>
              <p:cNvSpPr/>
              <p:nvPr/>
            </p:nvSpPr>
            <p:spPr bwMode="auto">
              <a:xfrm>
                <a:off x="532047" y="2463512"/>
                <a:ext cx="1539458" cy="242407"/>
              </a:xfrm>
              <a:prstGeom prst="round2SameRect">
                <a:avLst>
                  <a:gd name="adj1" fmla="val 42877"/>
                  <a:gd name="adj2" fmla="val 0"/>
                </a:avLst>
              </a:prstGeom>
              <a:solidFill>
                <a:srgbClr val="5D6DBE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A(Action)</a:t>
                </a:r>
              </a:p>
            </p:txBody>
          </p:sp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8A983817-273E-25B5-CEC0-8F6DB8B3ED47}"/>
                  </a:ext>
                </a:extLst>
              </p:cNvPr>
              <p:cNvSpPr/>
              <p:nvPr/>
            </p:nvSpPr>
            <p:spPr bwMode="auto">
              <a:xfrm>
                <a:off x="532047" y="2705919"/>
                <a:ext cx="1539458" cy="387157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 환류</a:t>
                </a:r>
                <a:r>
                  <a:rPr lang="en-US" altLang="ko-KR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/</a:t>
                </a:r>
                <a:r>
                  <a:rPr lang="ko-KR" altLang="en-US" sz="1000" b="1" kern="0" dirty="0">
                    <a:ln>
                      <a:solidFill>
                        <a:schemeClr val="bg2">
                          <a:lumMod val="25000"/>
                          <a:alpha val="0"/>
                        </a:schemeClr>
                      </a:solidFill>
                    </a:ln>
                    <a:latin typeface="+mn-ea"/>
                  </a:rPr>
                  <a:t>개선</a:t>
                </a:r>
                <a:endParaRPr kumimoji="0" lang="ko-KR" altLang="en-US" sz="1000" b="1" i="0" u="none" strike="noStrike" kern="0" cap="none" normalizeH="0" noProof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5D6DBE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33" name="오른쪽 화살표 141">
              <a:extLst>
                <a:ext uri="{FF2B5EF4-FFF2-40B4-BE49-F238E27FC236}">
                  <a16:creationId xmlns:a16="http://schemas.microsoft.com/office/drawing/2014/main" id="{28B1A67F-508F-C779-7C53-B1507F388B32}"/>
                </a:ext>
              </a:extLst>
            </p:cNvPr>
            <p:cNvSpPr/>
            <p:nvPr/>
          </p:nvSpPr>
          <p:spPr>
            <a:xfrm>
              <a:off x="6982187" y="2457557"/>
              <a:ext cx="362497" cy="253317"/>
            </a:xfrm>
            <a:prstGeom prst="rightArrow">
              <a:avLst>
                <a:gd name="adj1" fmla="val 71367"/>
                <a:gd name="adj2" fmla="val 50000"/>
              </a:avLst>
            </a:prstGeom>
            <a:gradFill flip="none"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DDDDDD">
                    <a:lumMod val="30000"/>
                    <a:lumOff val="7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800" kern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7B9BD1B-3B0B-8042-400D-BFD887458357}"/>
              </a:ext>
            </a:extLst>
          </p:cNvPr>
          <p:cNvGrpSpPr/>
          <p:nvPr/>
        </p:nvGrpSpPr>
        <p:grpSpPr>
          <a:xfrm>
            <a:off x="444954" y="1959442"/>
            <a:ext cx="2476026" cy="253317"/>
            <a:chOff x="444954" y="2154076"/>
            <a:chExt cx="2476026" cy="253317"/>
          </a:xfrm>
        </p:grpSpPr>
        <p:pic>
          <p:nvPicPr>
            <p:cNvPr id="36" name="그래픽 35" descr="배지 체크 표시1 단색으로 채워진">
              <a:extLst>
                <a:ext uri="{FF2B5EF4-FFF2-40B4-BE49-F238E27FC236}">
                  <a16:creationId xmlns:a16="http://schemas.microsoft.com/office/drawing/2014/main" id="{339CCCD4-7EB9-BE00-5E34-C1812CD14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0C9111-88FD-E1C5-C01C-ED9524DA4069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PMDCA 5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단계 순환 프로세스</a:t>
              </a:r>
              <a:endParaRPr lang="ko-KR" altLang="en-US" sz="1050" b="1" spc="-8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40C3"/>
                </a:solidFill>
              </a:endParaRPr>
            </a:p>
          </p:txBody>
        </p:sp>
      </p:grpSp>
      <p:sp>
        <p:nvSpPr>
          <p:cNvPr id="38" name="사각형: 둥근 위쪽 모서리 37">
            <a:extLst>
              <a:ext uri="{FF2B5EF4-FFF2-40B4-BE49-F238E27FC236}">
                <a16:creationId xmlns:a16="http://schemas.microsoft.com/office/drawing/2014/main" id="{D4325063-3F6B-8E6E-6AE4-033454F7CE46}"/>
              </a:ext>
            </a:extLst>
          </p:cNvPr>
          <p:cNvSpPr/>
          <p:nvPr/>
        </p:nvSpPr>
        <p:spPr bwMode="auto">
          <a:xfrm>
            <a:off x="591821" y="3395834"/>
            <a:ext cx="2819400" cy="21521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2026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년 핵심 성과지표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(KPI)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9" name="사각형: 둥근 위쪽 모서리 38">
            <a:extLst>
              <a:ext uri="{FF2B5EF4-FFF2-40B4-BE49-F238E27FC236}">
                <a16:creationId xmlns:a16="http://schemas.microsoft.com/office/drawing/2014/main" id="{AE4D974F-4F4C-5161-0181-C9B6025A5667}"/>
              </a:ext>
            </a:extLst>
          </p:cNvPr>
          <p:cNvSpPr/>
          <p:nvPr/>
        </p:nvSpPr>
        <p:spPr bwMode="auto">
          <a:xfrm>
            <a:off x="591821" y="3611048"/>
            <a:ext cx="2819400" cy="74471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marL="72000" indent="-720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과정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사전진단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390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건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/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컨설팅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300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건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월별 누적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marL="72000" indent="-720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결과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정책연계율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25%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이상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/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만족도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90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점 이상</a:t>
            </a:r>
          </a:p>
          <a:p>
            <a:pPr marL="72000" indent="-720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영향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고용유지율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80%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이상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(6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개월 후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0" name="사각형: 둥근 위쪽 모서리 39">
            <a:extLst>
              <a:ext uri="{FF2B5EF4-FFF2-40B4-BE49-F238E27FC236}">
                <a16:creationId xmlns:a16="http://schemas.microsoft.com/office/drawing/2014/main" id="{A51BC339-44A6-9962-CB77-1822FC15EFD4}"/>
              </a:ext>
            </a:extLst>
          </p:cNvPr>
          <p:cNvSpPr/>
          <p:nvPr/>
        </p:nvSpPr>
        <p:spPr bwMode="auto">
          <a:xfrm>
            <a:off x="3610848" y="3395835"/>
            <a:ext cx="2819400" cy="2152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조기 경보 시스템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1" name="사각형: 둥근 위쪽 모서리 40">
            <a:extLst>
              <a:ext uri="{FF2B5EF4-FFF2-40B4-BE49-F238E27FC236}">
                <a16:creationId xmlns:a16="http://schemas.microsoft.com/office/drawing/2014/main" id="{1B7DCD4A-B01F-A16E-9FF2-DD96D1A09FC2}"/>
              </a:ext>
            </a:extLst>
          </p:cNvPr>
          <p:cNvSpPr/>
          <p:nvPr/>
        </p:nvSpPr>
        <p:spPr bwMode="auto">
          <a:xfrm>
            <a:off x="3610848" y="3611047"/>
            <a:ext cx="2819400" cy="207855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algn="ctr" defTabSz="914400">
              <a:lnSpc>
                <a:spcPct val="150000"/>
              </a:lnSpc>
            </a:pPr>
            <a:endParaRPr lang="ko-KR" altLang="en-US" sz="9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127FDEF1-082A-8C59-074B-2278EF4F77DD}"/>
              </a:ext>
            </a:extLst>
          </p:cNvPr>
          <p:cNvGrpSpPr/>
          <p:nvPr/>
        </p:nvGrpSpPr>
        <p:grpSpPr>
          <a:xfrm>
            <a:off x="3778487" y="3714593"/>
            <a:ext cx="2518418" cy="1814942"/>
            <a:chOff x="4091939" y="3453133"/>
            <a:chExt cx="2518418" cy="168383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BF039B8-F809-83A6-DFE3-A07F04DD6A69}"/>
                </a:ext>
              </a:extLst>
            </p:cNvPr>
            <p:cNvSpPr txBox="1"/>
            <p:nvPr/>
          </p:nvSpPr>
          <p:spPr>
            <a:xfrm>
              <a:off x="4091939" y="4843555"/>
              <a:ext cx="2518418" cy="2934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400">
                <a:lnSpc>
                  <a:spcPct val="150000"/>
                </a:lnSpc>
              </a:pP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→ 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품질미달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심각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) → PMO 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즉시 개입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CC61B6A-8930-18C6-4E76-6CA2A7466539}"/>
                </a:ext>
              </a:extLst>
            </p:cNvPr>
            <p:cNvSpPr txBox="1"/>
            <p:nvPr/>
          </p:nvSpPr>
          <p:spPr>
            <a:xfrm>
              <a:off x="5240020" y="3764776"/>
              <a:ext cx="79536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400"/>
              <a:r>
                <a:rPr lang="en-US" altLang="ko-KR" sz="8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(</a:t>
              </a:r>
              <a:r>
                <a:rPr lang="ko-KR" altLang="en-US" sz="8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주간 분석</a:t>
              </a:r>
              <a:r>
                <a:rPr lang="en-US" altLang="ko-KR" sz="8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)</a:t>
              </a: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8738539D-0D98-4D1E-A6D4-79CAD44FAA30}"/>
                </a:ext>
              </a:extLst>
            </p:cNvPr>
            <p:cNvSpPr/>
            <p:nvPr/>
          </p:nvSpPr>
          <p:spPr bwMode="auto">
            <a:xfrm>
              <a:off x="4091941" y="3453133"/>
              <a:ext cx="2455230" cy="31853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0" rIns="36000" bIns="0" rtlCol="0" anchor="ctr"/>
            <a:lstStyle/>
            <a:p>
              <a:pPr algn="ctr" defTabSz="914400"/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실시간 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Data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수집</a:t>
              </a:r>
            </a:p>
          </p:txBody>
        </p:sp>
        <p:sp>
          <p:nvSpPr>
            <p:cNvPr id="50" name="사각형: 둥근 위쪽 모서리 49">
              <a:extLst>
                <a:ext uri="{FF2B5EF4-FFF2-40B4-BE49-F238E27FC236}">
                  <a16:creationId xmlns:a16="http://schemas.microsoft.com/office/drawing/2014/main" id="{78B15BFA-55E0-ACF6-6AE1-57C9DE7D5032}"/>
                </a:ext>
              </a:extLst>
            </p:cNvPr>
            <p:cNvSpPr/>
            <p:nvPr/>
          </p:nvSpPr>
          <p:spPr bwMode="auto">
            <a:xfrm>
              <a:off x="4091940" y="4008336"/>
              <a:ext cx="2455230" cy="31853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0" rIns="36000" bIns="0" rtlCol="0" anchor="ctr"/>
            <a:lstStyle/>
            <a:p>
              <a:pPr algn="ctr" defTabSz="914400"/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목표 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vs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진행도 비교 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품질 수준 자동 평가</a:t>
              </a: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37631FD2-079D-BCD3-D9C8-E0FC0963E1CC}"/>
                </a:ext>
              </a:extLst>
            </p:cNvPr>
            <p:cNvSpPr/>
            <p:nvPr/>
          </p:nvSpPr>
          <p:spPr bwMode="auto">
            <a:xfrm>
              <a:off x="4091939" y="4515826"/>
              <a:ext cx="2455230" cy="31853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0" rIns="36000" bIns="0" rtlCol="0" anchor="ctr"/>
            <a:lstStyle/>
            <a:p>
              <a:pPr algn="ctr" defTabSz="914400"/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Alert: </a:t>
              </a:r>
              <a:r>
                <a:rPr lang="ko-KR" altLang="en-US" sz="900" b="1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진척률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90%(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주의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 +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만족도 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80%(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경고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3EDA9EFA-FD97-9EE4-5610-C5BA6D0C66FA}"/>
                </a:ext>
              </a:extLst>
            </p:cNvPr>
            <p:cNvCxnSpPr>
              <a:cxnSpLocks/>
              <a:stCxn id="49" idx="1"/>
              <a:endCxn id="50" idx="3"/>
            </p:cNvCxnSpPr>
            <p:nvPr/>
          </p:nvCxnSpPr>
          <p:spPr bwMode="auto">
            <a:xfrm flipH="1">
              <a:off x="5319555" y="3771663"/>
              <a:ext cx="1" cy="236672"/>
            </a:xfrm>
            <a:prstGeom prst="straightConnector1">
              <a:avLst/>
            </a:prstGeom>
            <a:solidFill>
              <a:srgbClr val="970F43"/>
            </a:solidFill>
            <a:ln w="6350" cap="flat" cmpd="sng" algn="ctr">
              <a:solidFill>
                <a:srgbClr val="1040C3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40789819-A563-A841-96E1-5BB8989620C0}"/>
                </a:ext>
              </a:extLst>
            </p:cNvPr>
            <p:cNvCxnSpPr>
              <a:cxnSpLocks/>
              <a:stCxn id="50" idx="1"/>
              <a:endCxn id="51" idx="3"/>
            </p:cNvCxnSpPr>
            <p:nvPr/>
          </p:nvCxnSpPr>
          <p:spPr bwMode="auto">
            <a:xfrm flipH="1">
              <a:off x="5319554" y="4326866"/>
              <a:ext cx="1" cy="188960"/>
            </a:xfrm>
            <a:prstGeom prst="straightConnector1">
              <a:avLst/>
            </a:prstGeom>
            <a:solidFill>
              <a:srgbClr val="970F43"/>
            </a:solidFill>
            <a:ln w="6350" cap="flat" cmpd="sng" algn="ctr">
              <a:solidFill>
                <a:srgbClr val="1040C3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2" name="사각형: 둥근 위쪽 모서리 61">
            <a:extLst>
              <a:ext uri="{FF2B5EF4-FFF2-40B4-BE49-F238E27FC236}">
                <a16:creationId xmlns:a16="http://schemas.microsoft.com/office/drawing/2014/main" id="{0A5E9BA3-2199-0DEF-634D-258C80AAEB3A}"/>
              </a:ext>
            </a:extLst>
          </p:cNvPr>
          <p:cNvSpPr/>
          <p:nvPr/>
        </p:nvSpPr>
        <p:spPr bwMode="auto">
          <a:xfrm>
            <a:off x="6571775" y="3400770"/>
            <a:ext cx="2819400" cy="2152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분기별 중점 관리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3" name="사각형: 둥근 위쪽 모서리 62">
            <a:extLst>
              <a:ext uri="{FF2B5EF4-FFF2-40B4-BE49-F238E27FC236}">
                <a16:creationId xmlns:a16="http://schemas.microsoft.com/office/drawing/2014/main" id="{D6959EFA-C013-DC2A-9AAD-90A1243058BF}"/>
              </a:ext>
            </a:extLst>
          </p:cNvPr>
          <p:cNvSpPr/>
          <p:nvPr/>
        </p:nvSpPr>
        <p:spPr bwMode="auto">
          <a:xfrm>
            <a:off x="6571775" y="3615982"/>
            <a:ext cx="2819400" cy="88859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defTabSz="914400">
              <a:lnSpc>
                <a:spcPct val="150000"/>
              </a:lnSpc>
            </a:pP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Q1: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사전진단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130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건 달성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홍보강화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lnSpc>
                <a:spcPct val="150000"/>
              </a:lnSpc>
            </a:pP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Q2: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컨설팅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150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건 수행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스쿼드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최적화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lnSpc>
                <a:spcPct val="150000"/>
              </a:lnSpc>
            </a:pP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Q3: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정책연계율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20%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확보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신청서 지원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lnSpc>
                <a:spcPct val="150000"/>
              </a:lnSpc>
            </a:pP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Q4: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만족도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고용유지율 목표 달성 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사후관리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9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64" name="사각형: 둥근 위쪽 모서리 63">
            <a:extLst>
              <a:ext uri="{FF2B5EF4-FFF2-40B4-BE49-F238E27FC236}">
                <a16:creationId xmlns:a16="http://schemas.microsoft.com/office/drawing/2014/main" id="{6B8CB068-41D6-7399-4980-A2B6791B2E3B}"/>
              </a:ext>
            </a:extLst>
          </p:cNvPr>
          <p:cNvSpPr/>
          <p:nvPr/>
        </p:nvSpPr>
        <p:spPr bwMode="auto">
          <a:xfrm>
            <a:off x="6571775" y="4580857"/>
            <a:ext cx="2819400" cy="2152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점검 주기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5" name="사각형: 둥근 위쪽 모서리 64">
            <a:extLst>
              <a:ext uri="{FF2B5EF4-FFF2-40B4-BE49-F238E27FC236}">
                <a16:creationId xmlns:a16="http://schemas.microsoft.com/office/drawing/2014/main" id="{A8B1F7BB-C3B5-19F0-7CD0-143395FD4309}"/>
              </a:ext>
            </a:extLst>
          </p:cNvPr>
          <p:cNvSpPr/>
          <p:nvPr/>
        </p:nvSpPr>
        <p:spPr bwMode="auto">
          <a:xfrm>
            <a:off x="6571775" y="4796069"/>
            <a:ext cx="2819400" cy="89353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주간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부진 과제 식별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긴급 대응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월간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누적 진척도 검토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분기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공식 성과 평가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품질 검증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연간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최종 평가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차년 계획 수립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48EB9168-292F-52C4-770D-28867196190B}"/>
              </a:ext>
            </a:extLst>
          </p:cNvPr>
          <p:cNvSpPr/>
          <p:nvPr/>
        </p:nvSpPr>
        <p:spPr bwMode="auto">
          <a:xfrm>
            <a:off x="591821" y="4563684"/>
            <a:ext cx="2819400" cy="1125919"/>
          </a:xfrm>
          <a:prstGeom prst="roundRect">
            <a:avLst>
              <a:gd name="adj" fmla="val 8808"/>
            </a:avLst>
          </a:prstGeom>
          <a:solidFill>
            <a:schemeClr val="bg1"/>
          </a:solidFill>
          <a:ln w="57150">
            <a:solidFill>
              <a:srgbClr val="5D6DBE">
                <a:alpha val="40000"/>
              </a:srgb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>
              <a:spcAft>
                <a:spcPts val="600"/>
              </a:spcAft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주간 단위 세분화로 민첩한 대응</a:t>
            </a:r>
          </a:p>
          <a:p>
            <a:pPr defTabSz="914400">
              <a:spcAft>
                <a:spcPts val="600"/>
              </a:spcAft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실시간 분석으로 조기 경보 체계</a:t>
            </a:r>
          </a:p>
          <a:p>
            <a:pPr defTabSz="914400">
              <a:spcAft>
                <a:spcPts val="600"/>
              </a:spcAft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 경보로 리스크 </a:t>
            </a:r>
            <a:r>
              <a:rPr lang="ko-KR" altLang="en-US" sz="1000" b="1" kern="0" spc="-7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선제적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차단</a:t>
            </a:r>
          </a:p>
          <a:p>
            <a:pPr defTabSz="914400">
              <a:spcAft>
                <a:spcPts val="600"/>
              </a:spcAft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분기별 중점으로 예측 가능한 성과 관리</a:t>
            </a:r>
          </a:p>
        </p:txBody>
      </p:sp>
      <p:pic>
        <p:nvPicPr>
          <p:cNvPr id="72" name="Picture 27">
            <a:extLst>
              <a:ext uri="{FF2B5EF4-FFF2-40B4-BE49-F238E27FC236}">
                <a16:creationId xmlns:a16="http://schemas.microsoft.com/office/drawing/2014/main" id="{FB462C3E-F576-00E6-64A0-4BAFE8D0A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66101" y="4703343"/>
            <a:ext cx="372905" cy="43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043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AB9A5-F83A-7D5D-1730-4D48981A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234189E-07C8-2741-5B0F-2033078D3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935064"/>
              </p:ext>
            </p:extLst>
          </p:nvPr>
        </p:nvGraphicFramePr>
        <p:xfrm>
          <a:off x="4909848" y="1920766"/>
          <a:ext cx="4500660" cy="2679514"/>
        </p:xfrm>
        <a:graphic>
          <a:graphicData uri="http://schemas.openxmlformats.org/drawingml/2006/table">
            <a:tbl>
              <a:tblPr/>
              <a:tblGrid>
                <a:gridCol w="4500660">
                  <a:extLst>
                    <a:ext uri="{9D8B030D-6E8A-4147-A177-3AD203B41FA5}">
                      <a16:colId xmlns:a16="http://schemas.microsoft.com/office/drawing/2014/main" val="3104131353"/>
                    </a:ext>
                  </a:extLst>
                </a:gridCol>
              </a:tblGrid>
              <a:tr h="1427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50" dirty="0">
                          <a:ln>
                            <a:solidFill>
                              <a:srgbClr val="5D6DBE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주요 사업 영역</a:t>
                      </a:r>
                    </a:p>
                  </a:txBody>
                  <a:tcPr marL="108000" marR="6900" marT="5750" marB="57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074711"/>
                  </a:ext>
                </a:extLst>
              </a:tr>
              <a:tr h="2530854">
                <a:tc>
                  <a:txBody>
                    <a:bodyPr/>
                    <a:lstStyle/>
                    <a:p>
                      <a:pPr marL="0" marR="0" lvl="0" indent="0" algn="just" fontAlgn="base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ko-KR" altLang="en-US" sz="900" kern="0" spc="0" dirty="0"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6900" marT="5750" marB="57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99480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30DC81A-8B7D-1DF1-6E95-517BF07BB3E8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한국표준협회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60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정부정책 파트너십과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12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 지역네트워크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로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전국 산업전환 선도</a:t>
            </a:r>
            <a:endParaRPr lang="en-US" altLang="ko-KR" spc="-30" dirty="0">
              <a:solidFill>
                <a:srgbClr val="E3574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E847A0-8A8A-FF2C-0137-1F8A243105F9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일반현황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69F130-CB18-0606-6678-C35CEAAEDCDF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설립 이후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63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년간 경영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품질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인증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컨설팅 분야를 선도해온 기관으로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구조혁신 전담기관 지정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(2022),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일자리사업부 조직개편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(2024),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일자리전환지원센터 선정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(2025)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등 정부 산업전환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일자리 정책을 수행해온 검증된 파트너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A6F65-D322-C5AA-011A-8C049FA712D9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사업수행능력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한국표준협회 일반현황 및 역량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587C4E7-F4ED-93EE-A687-05AC15874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637019"/>
              </p:ext>
            </p:extLst>
          </p:nvPr>
        </p:nvGraphicFramePr>
        <p:xfrm>
          <a:off x="432898" y="1920078"/>
          <a:ext cx="4384200" cy="3962248"/>
        </p:xfrm>
        <a:graphic>
          <a:graphicData uri="http://schemas.openxmlformats.org/drawingml/2006/table">
            <a:tbl>
              <a:tblPr/>
              <a:tblGrid>
                <a:gridCol w="4384200">
                  <a:extLst>
                    <a:ext uri="{9D8B030D-6E8A-4147-A177-3AD203B41FA5}">
                      <a16:colId xmlns:a16="http://schemas.microsoft.com/office/drawing/2014/main" val="2370673663"/>
                    </a:ext>
                  </a:extLst>
                </a:gridCol>
              </a:tblGrid>
              <a:tr h="164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50" dirty="0" err="1">
                          <a:ln>
                            <a:solidFill>
                              <a:srgbClr val="5D6DBE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주요연혁</a:t>
                      </a:r>
                      <a:r>
                        <a:rPr lang="en-US" altLang="ko-KR" sz="900" b="1" kern="0" spc="0" dirty="0">
                          <a:ln>
                            <a:solidFill>
                              <a:srgbClr val="5D6DBE">
                                <a:alpha val="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ln>
                            <a:solidFill>
                              <a:srgbClr val="5D6DBE">
                                <a:alpha val="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</a:t>
                      </a:r>
                      <a:r>
                        <a:rPr lang="en-US" altLang="ko-KR" sz="900" b="1" kern="0" spc="0" dirty="0">
                          <a:ln>
                            <a:solidFill>
                              <a:srgbClr val="5D6DBE">
                                <a:alpha val="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-50" dirty="0">
                        <a:ln>
                          <a:solidFill>
                            <a:srgbClr val="5D6DBE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08000" marR="6900" marT="5750" marB="57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184224"/>
                  </a:ext>
                </a:extLst>
              </a:tr>
              <a:tr h="3798135">
                <a:tc>
                  <a:txBody>
                    <a:bodyPr/>
                    <a:lstStyle/>
                    <a:p>
                      <a:pPr marL="0" marR="0" lvl="0" indent="0" algn="just" fontAlgn="base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(1962. 03)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한국표준협회 설립</a:t>
                      </a:r>
                    </a:p>
                    <a:p>
                      <a:pPr marL="0" marR="0" lvl="0" indent="0" algn="just" fontAlgn="base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(1975. 01)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국가품질상 운영</a:t>
                      </a:r>
                    </a:p>
                    <a:p>
                      <a:pPr marL="0" marR="0" lvl="0" indent="0" algn="just" fontAlgn="base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(1987. 05)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인정직업훈련원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노동부 인가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just" fontAlgn="base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(1998. 07) KS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인증기관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국립기술품질원 지정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just" fontAlgn="base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(2000. 09) ISO9001, 14001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인증기관 지정</a:t>
                      </a:r>
                    </a:p>
                    <a:p>
                      <a:pPr marL="0" marR="0" lvl="0" indent="0" algn="just" fontAlgn="base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(2006. 07)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대한민국 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LOHAS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인증기관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(2009. 06) ISO26000(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사회적책임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간사기관 지정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(2010. 01) </a:t>
                      </a:r>
                      <a:r>
                        <a:rPr lang="ko-KR" altLang="en-US" sz="900" kern="0" spc="0" dirty="0" err="1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워크런센터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이러닝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오픈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(2019. 07)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국토교통부 도시재생뉴딜 주민참여프로젝트팀 사업운영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(2019. 12) KS×ISO 37101 (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공동체의 지속가능발전 경영시스템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(2020. 03) </a:t>
                      </a:r>
                      <a:r>
                        <a:rPr lang="ko-KR" altLang="en-US" sz="900" kern="0" spc="0" dirty="0" err="1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지속가능도시추진단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설립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(2020. 06)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국토교통부 도시재생뉴딜 청년인턴십 사무국 운영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(2020. 07)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중소벤처기업부 </a:t>
                      </a:r>
                      <a:r>
                        <a:rPr lang="ko-KR" altLang="en-US" sz="900" kern="0" spc="0" dirty="0" err="1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엑셀러레이터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등록기관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(2020. 08)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전국 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도약기업 성장전략 수립 컨설팅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(2021. 03)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서울시 도시재생 지원기관 지정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(2022. 03) </a:t>
                      </a:r>
                      <a:r>
                        <a:rPr lang="ko-KR" altLang="en-US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구조혁신 컨설팅 전담기관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kern="0" spc="0" dirty="0" err="1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국제벨류임팩트재단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(IFVI)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이사회 공식 임명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(2022. 04)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충청북도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전라남도 업의전환 전담기관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(2022. 04) ESG ITF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한국대표단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공공기관 </a:t>
                      </a:r>
                      <a:r>
                        <a:rPr lang="ko-KR" altLang="en-US" sz="900" kern="0" spc="0" dirty="0" err="1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경영컨퍼런스</a:t>
                      </a:r>
                      <a:endParaRPr lang="ko-KR" altLang="en-US" sz="900" kern="0" spc="0" dirty="0"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(2023. 01) </a:t>
                      </a:r>
                      <a:r>
                        <a:rPr lang="ko-KR" altLang="en-US" sz="900" kern="0" spc="0" dirty="0" err="1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국제통용발자국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검증기관 인정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(2024. 03) </a:t>
                      </a:r>
                      <a:r>
                        <a:rPr lang="ko-KR" altLang="en-US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일자리 사업부 조직개편</a:t>
                      </a:r>
                      <a:r>
                        <a:rPr lang="en-US" altLang="ko-KR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kern="0" spc="0" dirty="0" err="1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미래내일일경험</a:t>
                      </a:r>
                      <a:r>
                        <a:rPr lang="ko-KR" altLang="en-US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권역센터</a:t>
                      </a:r>
                      <a:r>
                        <a:rPr lang="en-US" altLang="ko-KR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</a:t>
                      </a:r>
                      <a:r>
                        <a:rPr lang="ko-KR" altLang="en-US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운영기관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(2024. 03) </a:t>
                      </a:r>
                      <a:r>
                        <a:rPr lang="ko-KR" altLang="en-US" sz="900" kern="0" spc="0" dirty="0" err="1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퓨처밸류캠퍼스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개관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강남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대전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부산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대구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endParaRPr lang="ko-KR" altLang="en-US" sz="900" kern="0" spc="0" dirty="0"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(2025. 01) 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청년도약일자리장려금 지정기관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강남고용센터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(2025. 03) </a:t>
                      </a:r>
                      <a:r>
                        <a:rPr lang="ko-KR" altLang="en-US" sz="900" kern="0" spc="0" dirty="0" err="1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미래내일일경험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사전직무교육기관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(2025. 02) </a:t>
                      </a:r>
                      <a:r>
                        <a:rPr lang="ko-KR" altLang="en-US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</a:t>
                      </a:r>
                      <a:r>
                        <a:rPr lang="en-US" altLang="ko-KR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일자리전환지원센터 선정</a:t>
                      </a:r>
                      <a:r>
                        <a:rPr lang="en-US" altLang="ko-KR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고용노동부</a:t>
                      </a:r>
                      <a:r>
                        <a:rPr lang="en-US" altLang="ko-KR" sz="900" b="1" kern="0" spc="0" dirty="0"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rgbClr val="1040C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(2025. 03) </a:t>
                      </a:r>
                      <a:r>
                        <a:rPr lang="ko-KR" altLang="en-US" sz="900" kern="0" spc="0" dirty="0" err="1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미래내일일경험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사전직무교육기관 선정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고용노동부</a:t>
                      </a:r>
                      <a:r>
                        <a:rPr lang="en-US" altLang="ko-KR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40404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6900" marT="5750" marB="57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34438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3496479-33AF-2DB9-A877-E2FB82FDF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8907"/>
              </p:ext>
            </p:extLst>
          </p:nvPr>
        </p:nvGraphicFramePr>
        <p:xfrm>
          <a:off x="4909848" y="5354302"/>
          <a:ext cx="4500660" cy="528024"/>
        </p:xfrm>
        <a:graphic>
          <a:graphicData uri="http://schemas.openxmlformats.org/drawingml/2006/table">
            <a:tbl>
              <a:tblPr/>
              <a:tblGrid>
                <a:gridCol w="1125165">
                  <a:extLst>
                    <a:ext uri="{9D8B030D-6E8A-4147-A177-3AD203B41FA5}">
                      <a16:colId xmlns:a16="http://schemas.microsoft.com/office/drawing/2014/main" val="2016910373"/>
                    </a:ext>
                  </a:extLst>
                </a:gridCol>
                <a:gridCol w="1125165">
                  <a:extLst>
                    <a:ext uri="{9D8B030D-6E8A-4147-A177-3AD203B41FA5}">
                      <a16:colId xmlns:a16="http://schemas.microsoft.com/office/drawing/2014/main" val="306485335"/>
                    </a:ext>
                  </a:extLst>
                </a:gridCol>
                <a:gridCol w="1125165">
                  <a:extLst>
                    <a:ext uri="{9D8B030D-6E8A-4147-A177-3AD203B41FA5}">
                      <a16:colId xmlns:a16="http://schemas.microsoft.com/office/drawing/2014/main" val="3927440801"/>
                    </a:ext>
                  </a:extLst>
                </a:gridCol>
                <a:gridCol w="1125165">
                  <a:extLst>
                    <a:ext uri="{9D8B030D-6E8A-4147-A177-3AD203B41FA5}">
                      <a16:colId xmlns:a16="http://schemas.microsoft.com/office/drawing/2014/main" val="1326217812"/>
                    </a:ext>
                  </a:extLst>
                </a:gridCol>
              </a:tblGrid>
              <a:tr h="82573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학위별 인원</a:t>
                      </a: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982878"/>
                  </a:ext>
                </a:extLst>
              </a:tr>
              <a:tr h="825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총인원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박사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석사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학사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290772"/>
                  </a:ext>
                </a:extLst>
              </a:tr>
              <a:tr h="825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361(100%)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25(7%)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189(52.3%)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147(40.7%)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3930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1C0479D-F64E-BC1C-4A96-6B9296223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076828"/>
              </p:ext>
            </p:extLst>
          </p:nvPr>
        </p:nvGraphicFramePr>
        <p:xfrm>
          <a:off x="4909848" y="4714830"/>
          <a:ext cx="4500658" cy="528024"/>
        </p:xfrm>
        <a:graphic>
          <a:graphicData uri="http://schemas.openxmlformats.org/drawingml/2006/table">
            <a:tbl>
              <a:tblPr/>
              <a:tblGrid>
                <a:gridCol w="642951">
                  <a:extLst>
                    <a:ext uri="{9D8B030D-6E8A-4147-A177-3AD203B41FA5}">
                      <a16:colId xmlns:a16="http://schemas.microsoft.com/office/drawing/2014/main" val="897194452"/>
                    </a:ext>
                  </a:extLst>
                </a:gridCol>
                <a:gridCol w="642951">
                  <a:extLst>
                    <a:ext uri="{9D8B030D-6E8A-4147-A177-3AD203B41FA5}">
                      <a16:colId xmlns:a16="http://schemas.microsoft.com/office/drawing/2014/main" val="3691295791"/>
                    </a:ext>
                  </a:extLst>
                </a:gridCol>
                <a:gridCol w="642951">
                  <a:extLst>
                    <a:ext uri="{9D8B030D-6E8A-4147-A177-3AD203B41FA5}">
                      <a16:colId xmlns:a16="http://schemas.microsoft.com/office/drawing/2014/main" val="3097609507"/>
                    </a:ext>
                  </a:extLst>
                </a:gridCol>
                <a:gridCol w="642951">
                  <a:extLst>
                    <a:ext uri="{9D8B030D-6E8A-4147-A177-3AD203B41FA5}">
                      <a16:colId xmlns:a16="http://schemas.microsoft.com/office/drawing/2014/main" val="2066180174"/>
                    </a:ext>
                  </a:extLst>
                </a:gridCol>
                <a:gridCol w="642951">
                  <a:extLst>
                    <a:ext uri="{9D8B030D-6E8A-4147-A177-3AD203B41FA5}">
                      <a16:colId xmlns:a16="http://schemas.microsoft.com/office/drawing/2014/main" val="72206677"/>
                    </a:ext>
                  </a:extLst>
                </a:gridCol>
                <a:gridCol w="763637">
                  <a:extLst>
                    <a:ext uri="{9D8B030D-6E8A-4147-A177-3AD203B41FA5}">
                      <a16:colId xmlns:a16="http://schemas.microsoft.com/office/drawing/2014/main" val="3412567220"/>
                    </a:ext>
                  </a:extLst>
                </a:gridCol>
                <a:gridCol w="522266">
                  <a:extLst>
                    <a:ext uri="{9D8B030D-6E8A-4147-A177-3AD203B41FA5}">
                      <a16:colId xmlns:a16="http://schemas.microsoft.com/office/drawing/2014/main" val="741845901"/>
                    </a:ext>
                  </a:extLst>
                </a:gridCol>
              </a:tblGrid>
              <a:tr h="92397">
                <a:tc grid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직급별 인원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704083"/>
                  </a:ext>
                </a:extLst>
              </a:tr>
              <a:tr h="1644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총인원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연구원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연구위원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수석연구위원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임원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377689"/>
                  </a:ext>
                </a:extLst>
              </a:tr>
              <a:tr h="923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361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139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40404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3308" marR="23308" marT="19424" marB="19424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9448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0BA19B4-D2BE-06E7-8AC7-5C0120359E91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국가 주요 정책사업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도시재생뉴딜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구조혁신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일자리전환 등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의 실행 파트너로서 </a:t>
            </a:r>
            <a:endParaRPr lang="en-US" altLang="ko-KR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산업전환이라는 국가 과제를 성공적으로 이끌 수 있는 역량과 책임감을 갖춘 기관입니다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168865D-34FA-9904-F593-76F4409B8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441" y="2273942"/>
            <a:ext cx="4375475" cy="21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69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53784-97AE-22BD-3727-F197F478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7113753-8D96-0478-D2CC-5A0F319EE2EE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차별화 역량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검증된 경험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+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우수 전문가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+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전국 네트워크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+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정책 </a:t>
            </a:r>
            <a:r>
              <a:rPr lang="ko-KR" altLang="en-US" spc="-30" dirty="0" err="1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연계력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+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품질 시스템</a:t>
            </a:r>
            <a:endParaRPr lang="en-US" altLang="ko-KR" spc="-30" dirty="0">
              <a:solidFill>
                <a:srgbClr val="5D6DB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E0F6EE-5A12-25DB-058E-E5550DB409AD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차별화 역량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2107B9-6EFD-46F2-03CC-8EDA6B00D541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285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개사 컨설팅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43.7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억 원 장려금 연계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만족도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4.88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점을 달성한 검증된 수행기관으로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전문인력과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PMDCA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기반 품질관리 체계를 통해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2026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목표를 확실히 달성하고자 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53D288-C7A7-C145-75FB-D5DB104737F0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한국표준협회의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대 차별화 역량은 모두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2025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년 현장에서 검증되었으며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이를 바탕으로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2026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년에는 더욱 고도화된 사업 수행을 약속합니다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18D89-0EB4-2842-1821-56CCAE62B0CE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사업수행능력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한국표준협회 일반현황 및 역량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90640FB-CB9C-16CB-F012-7390158FE322}"/>
              </a:ext>
            </a:extLst>
          </p:cNvPr>
          <p:cNvGrpSpPr/>
          <p:nvPr/>
        </p:nvGrpSpPr>
        <p:grpSpPr>
          <a:xfrm>
            <a:off x="484891" y="2537821"/>
            <a:ext cx="1599544" cy="3139404"/>
            <a:chOff x="422136" y="2638584"/>
            <a:chExt cx="1859150" cy="3139404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B3733D6-68ED-3775-94EE-EA5C97274E7B}"/>
                </a:ext>
              </a:extLst>
            </p:cNvPr>
            <p:cNvCxnSpPr>
              <a:cxnSpLocks/>
              <a:stCxn id="14" idx="1"/>
              <a:endCxn id="16" idx="3"/>
            </p:cNvCxnSpPr>
            <p:nvPr/>
          </p:nvCxnSpPr>
          <p:spPr bwMode="auto">
            <a:xfrm flipH="1">
              <a:off x="1351711" y="3983339"/>
              <a:ext cx="1" cy="955040"/>
            </a:xfrm>
            <a:prstGeom prst="line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사각형: 둥근 위쪽 모서리 12">
              <a:extLst>
                <a:ext uri="{FF2B5EF4-FFF2-40B4-BE49-F238E27FC236}">
                  <a16:creationId xmlns:a16="http://schemas.microsoft.com/office/drawing/2014/main" id="{4097A28F-CB07-99D9-4F9F-095CCADEE9DC}"/>
                </a:ext>
              </a:extLst>
            </p:cNvPr>
            <p:cNvSpPr/>
            <p:nvPr/>
          </p:nvSpPr>
          <p:spPr bwMode="auto">
            <a:xfrm>
              <a:off x="422137" y="2638584"/>
              <a:ext cx="1859149" cy="400351"/>
            </a:xfrm>
            <a:prstGeom prst="round2SameRect">
              <a:avLst>
                <a:gd name="adj1" fmla="val 21605"/>
                <a:gd name="adj2" fmla="val 0"/>
              </a:avLst>
            </a:prstGeom>
            <a:solidFill>
              <a:srgbClr val="1040C3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1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검증된 사업 수행 경험</a:t>
              </a:r>
              <a:endParaRPr kumimoji="0" lang="ko-KR" altLang="en-US" sz="1100" b="1" i="0" u="none" strike="noStrike" kern="0" cap="none" spc="-5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id="{EA3470A1-93DB-3C4D-5746-36DDB44960AD}"/>
                </a:ext>
              </a:extLst>
            </p:cNvPr>
            <p:cNvSpPr/>
            <p:nvPr/>
          </p:nvSpPr>
          <p:spPr bwMode="auto">
            <a:xfrm>
              <a:off x="422137" y="3038934"/>
              <a:ext cx="1859149" cy="94440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산업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·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일자리전환 지원센터 운영</a:t>
              </a:r>
              <a:endPara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석탄화력 정의로운 전환 지원</a:t>
              </a:r>
              <a:endPara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취약지역 실태조사 수행</a:t>
              </a:r>
            </a:p>
          </p:txBody>
        </p:sp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id="{6EDBBBCD-04D0-66D6-605D-4D6417E1E2C2}"/>
                </a:ext>
              </a:extLst>
            </p:cNvPr>
            <p:cNvSpPr/>
            <p:nvPr/>
          </p:nvSpPr>
          <p:spPr bwMode="auto">
            <a:xfrm>
              <a:off x="422136" y="4102349"/>
              <a:ext cx="1859149" cy="62024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목표 </a:t>
              </a:r>
              <a:r>
                <a:rPr lang="ko-KR" altLang="en-US" sz="10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달성률</a:t>
              </a:r>
              <a:b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지원 기업 수</a:t>
              </a:r>
              <a:b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조사 규모</a:t>
              </a: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2813F07A-7D9E-1C30-F27F-95CF539E3650}"/>
                </a:ext>
              </a:extLst>
            </p:cNvPr>
            <p:cNvSpPr/>
            <p:nvPr/>
          </p:nvSpPr>
          <p:spPr bwMode="auto">
            <a:xfrm>
              <a:off x="422136" y="4938379"/>
              <a:ext cx="1859149" cy="83960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EEF6F7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2025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년 실적</a:t>
              </a:r>
            </a:p>
            <a:p>
              <a:pPr fontAlgn="base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• 285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개사 전문컨설팅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(100%)</a:t>
              </a:r>
            </a:p>
            <a:p>
              <a:pPr fontAlgn="base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• 272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개사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(2021~)</a:t>
              </a:r>
            </a:p>
            <a:p>
              <a:pPr fontAlgn="base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• 20,000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개 기업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D456DFC9-05B5-6DBB-086D-4167E37A3F44}"/>
              </a:ext>
            </a:extLst>
          </p:cNvPr>
          <p:cNvGrpSpPr/>
          <p:nvPr/>
        </p:nvGrpSpPr>
        <p:grpSpPr>
          <a:xfrm>
            <a:off x="2316607" y="2537821"/>
            <a:ext cx="1599544" cy="3139404"/>
            <a:chOff x="422136" y="2638584"/>
            <a:chExt cx="1859150" cy="3139404"/>
          </a:xfrm>
        </p:grpSpPr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42C38853-316C-C659-B3B9-C14F39A6273C}"/>
                </a:ext>
              </a:extLst>
            </p:cNvPr>
            <p:cNvCxnSpPr>
              <a:cxnSpLocks/>
              <a:stCxn id="61" idx="1"/>
              <a:endCxn id="63" idx="3"/>
            </p:cNvCxnSpPr>
            <p:nvPr/>
          </p:nvCxnSpPr>
          <p:spPr bwMode="auto">
            <a:xfrm flipH="1">
              <a:off x="1351711" y="3983339"/>
              <a:ext cx="1" cy="955040"/>
            </a:xfrm>
            <a:prstGeom prst="line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" name="사각형: 둥근 위쪽 모서리 59">
              <a:extLst>
                <a:ext uri="{FF2B5EF4-FFF2-40B4-BE49-F238E27FC236}">
                  <a16:creationId xmlns:a16="http://schemas.microsoft.com/office/drawing/2014/main" id="{50DE909E-258B-2FE6-CA61-6F3F08EFF727}"/>
                </a:ext>
              </a:extLst>
            </p:cNvPr>
            <p:cNvSpPr/>
            <p:nvPr/>
          </p:nvSpPr>
          <p:spPr bwMode="auto">
            <a:xfrm>
              <a:off x="422137" y="2638584"/>
              <a:ext cx="1859149" cy="400351"/>
            </a:xfrm>
            <a:prstGeom prst="round2SameRect">
              <a:avLst>
                <a:gd name="adj1" fmla="val 21605"/>
                <a:gd name="adj2" fmla="val 0"/>
              </a:avLst>
            </a:prstGeom>
            <a:solidFill>
              <a:srgbClr val="1040C3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1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우수 전문가 </a:t>
              </a:r>
              <a:r>
                <a:rPr lang="en-US" altLang="ko-KR" sz="11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Pool </a:t>
              </a:r>
              <a:r>
                <a:rPr lang="ko-KR" altLang="en-US" sz="11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보유</a:t>
              </a:r>
              <a:endParaRPr kumimoji="0" lang="ko-KR" altLang="en-US" sz="1100" b="1" i="0" u="none" strike="noStrike" kern="0" cap="none" spc="-5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61" name="사각형: 둥근 위쪽 모서리 60">
              <a:extLst>
                <a:ext uri="{FF2B5EF4-FFF2-40B4-BE49-F238E27FC236}">
                  <a16:creationId xmlns:a16="http://schemas.microsoft.com/office/drawing/2014/main" id="{08CEDDC5-B9DF-721F-7293-8F7DD64C47CB}"/>
                </a:ext>
              </a:extLst>
            </p:cNvPr>
            <p:cNvSpPr/>
            <p:nvPr/>
          </p:nvSpPr>
          <p:spPr bwMode="auto">
            <a:xfrm>
              <a:off x="422137" y="3038934"/>
              <a:ext cx="1859149" cy="94440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공인노무사 중심 전문가</a:t>
              </a:r>
              <a:endPara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endParaRPr>
            </a:p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풍부한 현장 경험</a:t>
              </a:r>
            </a:p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높은 학력 수준</a:t>
              </a:r>
              <a:endPara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사각형: 둥근 위쪽 모서리 61">
              <a:extLst>
                <a:ext uri="{FF2B5EF4-FFF2-40B4-BE49-F238E27FC236}">
                  <a16:creationId xmlns:a16="http://schemas.microsoft.com/office/drawing/2014/main" id="{E4F00F93-176D-3209-6972-9C814DC6D314}"/>
                </a:ext>
              </a:extLst>
            </p:cNvPr>
            <p:cNvSpPr/>
            <p:nvPr/>
          </p:nvSpPr>
          <p:spPr bwMode="auto">
            <a:xfrm>
              <a:off x="422136" y="4102349"/>
              <a:ext cx="1859149" cy="62024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전문가 수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경력 분포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학력 분포</a:t>
              </a:r>
            </a:p>
          </p:txBody>
        </p:sp>
        <p:sp>
          <p:nvSpPr>
            <p:cNvPr id="63" name="사각형: 둥근 위쪽 모서리 62">
              <a:extLst>
                <a:ext uri="{FF2B5EF4-FFF2-40B4-BE49-F238E27FC236}">
                  <a16:creationId xmlns:a16="http://schemas.microsoft.com/office/drawing/2014/main" id="{57865582-ADE0-CBFD-B3F8-72B648A96A0E}"/>
                </a:ext>
              </a:extLst>
            </p:cNvPr>
            <p:cNvSpPr/>
            <p:nvPr/>
          </p:nvSpPr>
          <p:spPr bwMode="auto">
            <a:xfrm>
              <a:off x="422136" y="4938379"/>
              <a:ext cx="1859149" cy="83960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EEF6F7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2025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년 실적</a:t>
              </a:r>
            </a:p>
            <a:p>
              <a:pPr fontAlgn="base"/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84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명 </a:t>
              </a: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공인노무사 </a:t>
              </a: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52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명</a:t>
              </a: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)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10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년 이상 </a:t>
              </a: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66.7%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석</a:t>
              </a: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박사 </a:t>
              </a: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57.1%</a:t>
              </a:r>
              <a:endParaRPr lang="ko-KR" altLang="en-US" sz="1000" kern="0" dirty="0">
                <a:solidFill>
                  <a:srgbClr val="40404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0FD3DEC-949C-19EE-75EF-05774608B49D}"/>
              </a:ext>
            </a:extLst>
          </p:cNvPr>
          <p:cNvGrpSpPr/>
          <p:nvPr/>
        </p:nvGrpSpPr>
        <p:grpSpPr>
          <a:xfrm>
            <a:off x="4148324" y="2537821"/>
            <a:ext cx="1599544" cy="3139404"/>
            <a:chOff x="422136" y="2638584"/>
            <a:chExt cx="1859150" cy="3139404"/>
          </a:xfrm>
        </p:grpSpPr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C4A61F5D-B5C6-FC2E-BF2C-D0529D9D5024}"/>
                </a:ext>
              </a:extLst>
            </p:cNvPr>
            <p:cNvCxnSpPr>
              <a:cxnSpLocks/>
              <a:stCxn id="67" idx="1"/>
              <a:endCxn id="69" idx="3"/>
            </p:cNvCxnSpPr>
            <p:nvPr/>
          </p:nvCxnSpPr>
          <p:spPr bwMode="auto">
            <a:xfrm flipH="1">
              <a:off x="1351711" y="3983339"/>
              <a:ext cx="1" cy="955040"/>
            </a:xfrm>
            <a:prstGeom prst="line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사각형: 둥근 위쪽 모서리 65">
              <a:extLst>
                <a:ext uri="{FF2B5EF4-FFF2-40B4-BE49-F238E27FC236}">
                  <a16:creationId xmlns:a16="http://schemas.microsoft.com/office/drawing/2014/main" id="{B0DA76A5-8FD3-1DB4-5B62-B3C1FE8FBD3E}"/>
                </a:ext>
              </a:extLst>
            </p:cNvPr>
            <p:cNvSpPr/>
            <p:nvPr/>
          </p:nvSpPr>
          <p:spPr bwMode="auto">
            <a:xfrm>
              <a:off x="422137" y="2638584"/>
              <a:ext cx="1859149" cy="400351"/>
            </a:xfrm>
            <a:prstGeom prst="round2SameRect">
              <a:avLst>
                <a:gd name="adj1" fmla="val 21605"/>
                <a:gd name="adj2" fmla="val 0"/>
              </a:avLst>
            </a:prstGeom>
            <a:solidFill>
              <a:srgbClr val="1040C3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1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전국 네트워크 인프라</a:t>
              </a:r>
            </a:p>
          </p:txBody>
        </p:sp>
        <p:sp>
          <p:nvSpPr>
            <p:cNvPr id="67" name="사각형: 둥근 위쪽 모서리 66">
              <a:extLst>
                <a:ext uri="{FF2B5EF4-FFF2-40B4-BE49-F238E27FC236}">
                  <a16:creationId xmlns:a16="http://schemas.microsoft.com/office/drawing/2014/main" id="{BBD1F034-4646-854F-0EB0-DDA6A96447F9}"/>
                </a:ext>
              </a:extLst>
            </p:cNvPr>
            <p:cNvSpPr/>
            <p:nvPr/>
          </p:nvSpPr>
          <p:spPr bwMode="auto">
            <a:xfrm>
              <a:off x="422137" y="3038934"/>
              <a:ext cx="1859149" cy="94440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전국 지역본부 운영</a:t>
              </a:r>
            </a:p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회원사 네트워크</a:t>
              </a:r>
            </a:p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협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·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단체 협력 체계</a:t>
              </a:r>
              <a:endPara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위쪽 모서리 67">
              <a:extLst>
                <a:ext uri="{FF2B5EF4-FFF2-40B4-BE49-F238E27FC236}">
                  <a16:creationId xmlns:a16="http://schemas.microsoft.com/office/drawing/2014/main" id="{917C91A2-54CE-6AE8-ECCB-194145254B49}"/>
                </a:ext>
              </a:extLst>
            </p:cNvPr>
            <p:cNvSpPr/>
            <p:nvPr/>
          </p:nvSpPr>
          <p:spPr bwMode="auto">
            <a:xfrm>
              <a:off x="422136" y="4102349"/>
              <a:ext cx="1859149" cy="62024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지역본부 수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네트워크 규모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협업 기관 수</a:t>
              </a:r>
            </a:p>
          </p:txBody>
        </p:sp>
        <p:sp>
          <p:nvSpPr>
            <p:cNvPr id="69" name="사각형: 둥근 위쪽 모서리 68">
              <a:extLst>
                <a:ext uri="{FF2B5EF4-FFF2-40B4-BE49-F238E27FC236}">
                  <a16:creationId xmlns:a16="http://schemas.microsoft.com/office/drawing/2014/main" id="{2928698C-0295-C8EA-2A41-EA23D3388DB6}"/>
                </a:ext>
              </a:extLst>
            </p:cNvPr>
            <p:cNvSpPr/>
            <p:nvPr/>
          </p:nvSpPr>
          <p:spPr bwMode="auto">
            <a:xfrm>
              <a:off x="422136" y="4938379"/>
              <a:ext cx="1859149" cy="83960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EEF6F7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2025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년 실적</a:t>
              </a:r>
            </a:p>
            <a:p>
              <a:pPr fontAlgn="base"/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12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개 지역본부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4,226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개사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12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개 협</a:t>
              </a: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단체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06FFC6C2-7F90-B223-845F-B240E3171BEE}"/>
              </a:ext>
            </a:extLst>
          </p:cNvPr>
          <p:cNvGrpSpPr/>
          <p:nvPr/>
        </p:nvGrpSpPr>
        <p:grpSpPr>
          <a:xfrm>
            <a:off x="5980041" y="2540874"/>
            <a:ext cx="1599544" cy="3139404"/>
            <a:chOff x="422136" y="2638584"/>
            <a:chExt cx="1859150" cy="3139404"/>
          </a:xfrm>
        </p:grpSpPr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B9CA8F0E-9A42-C89C-7098-778402AF43A1}"/>
                </a:ext>
              </a:extLst>
            </p:cNvPr>
            <p:cNvCxnSpPr>
              <a:cxnSpLocks/>
              <a:stCxn id="73" idx="1"/>
              <a:endCxn id="75" idx="3"/>
            </p:cNvCxnSpPr>
            <p:nvPr/>
          </p:nvCxnSpPr>
          <p:spPr bwMode="auto">
            <a:xfrm flipH="1">
              <a:off x="1351711" y="3983339"/>
              <a:ext cx="1" cy="955040"/>
            </a:xfrm>
            <a:prstGeom prst="line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사각형: 둥근 위쪽 모서리 71">
              <a:extLst>
                <a:ext uri="{FF2B5EF4-FFF2-40B4-BE49-F238E27FC236}">
                  <a16:creationId xmlns:a16="http://schemas.microsoft.com/office/drawing/2014/main" id="{B965A716-6A19-EFC7-1471-A0F85B227B81}"/>
                </a:ext>
              </a:extLst>
            </p:cNvPr>
            <p:cNvSpPr/>
            <p:nvPr/>
          </p:nvSpPr>
          <p:spPr bwMode="auto">
            <a:xfrm>
              <a:off x="422137" y="2638584"/>
              <a:ext cx="1859149" cy="400351"/>
            </a:xfrm>
            <a:prstGeom prst="round2SameRect">
              <a:avLst>
                <a:gd name="adj1" fmla="val 21605"/>
                <a:gd name="adj2" fmla="val 0"/>
              </a:avLst>
            </a:prstGeom>
            <a:solidFill>
              <a:srgbClr val="1040C3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1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정책 연계 실행력</a:t>
              </a:r>
              <a:endParaRPr kumimoji="0" lang="ko-KR" altLang="en-US" sz="1100" b="1" i="0" u="none" strike="noStrike" kern="0" cap="none" spc="-5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73" name="사각형: 둥근 위쪽 모서리 72">
              <a:extLst>
                <a:ext uri="{FF2B5EF4-FFF2-40B4-BE49-F238E27FC236}">
                  <a16:creationId xmlns:a16="http://schemas.microsoft.com/office/drawing/2014/main" id="{5F65B258-778E-42E7-FE7B-B40EF7CDB0C9}"/>
                </a:ext>
              </a:extLst>
            </p:cNvPr>
            <p:cNvSpPr/>
            <p:nvPr/>
          </p:nvSpPr>
          <p:spPr bwMode="auto">
            <a:xfrm>
              <a:off x="422137" y="3038934"/>
              <a:ext cx="1859149" cy="94440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장려금 연계 목표 초과</a:t>
              </a:r>
            </a:p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대규모 장려금 지원</a:t>
              </a:r>
            </a:p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다부처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 사업 연계</a:t>
              </a:r>
              <a:endPara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사각형: 둥근 위쪽 모서리 73">
              <a:extLst>
                <a:ext uri="{FF2B5EF4-FFF2-40B4-BE49-F238E27FC236}">
                  <a16:creationId xmlns:a16="http://schemas.microsoft.com/office/drawing/2014/main" id="{F79D7C77-7AB8-DB2B-3502-DE994CFB758F}"/>
                </a:ext>
              </a:extLst>
            </p:cNvPr>
            <p:cNvSpPr/>
            <p:nvPr/>
          </p:nvSpPr>
          <p:spPr bwMode="auto">
            <a:xfrm>
              <a:off x="422136" y="4102349"/>
              <a:ext cx="1859149" cy="62024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장려금 </a:t>
              </a:r>
              <a:r>
                <a:rPr lang="ko-KR" altLang="en-US" sz="1000" kern="0" dirty="0" err="1">
                  <a:solidFill>
                    <a:srgbClr val="404040"/>
                  </a:solidFill>
                  <a:latin typeface="맑은 고딕" panose="020B0503020000020004" pitchFamily="50" charset="-127"/>
                </a:rPr>
                <a:t>연계율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지원 금액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연계 사업 수</a:t>
              </a:r>
            </a:p>
          </p:txBody>
        </p:sp>
        <p:sp>
          <p:nvSpPr>
            <p:cNvPr id="75" name="사각형: 둥근 위쪽 모서리 74">
              <a:extLst>
                <a:ext uri="{FF2B5EF4-FFF2-40B4-BE49-F238E27FC236}">
                  <a16:creationId xmlns:a16="http://schemas.microsoft.com/office/drawing/2014/main" id="{5FAC3911-3722-3A6C-A87C-B14722346947}"/>
                </a:ext>
              </a:extLst>
            </p:cNvPr>
            <p:cNvSpPr/>
            <p:nvPr/>
          </p:nvSpPr>
          <p:spPr bwMode="auto">
            <a:xfrm>
              <a:off x="422136" y="4938379"/>
              <a:ext cx="1859149" cy="83960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EEF6F7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2025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년 실적</a:t>
              </a:r>
            </a:p>
            <a:p>
              <a:pPr fontAlgn="base"/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21% (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목표 </a:t>
              </a: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20%)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43.7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억 원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노동부</a:t>
              </a: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 kern="0" dirty="0" err="1">
                  <a:solidFill>
                    <a:srgbClr val="404040"/>
                  </a:solidFill>
                  <a:latin typeface="맑은 고딕" panose="020B0503020000020004" pitchFamily="50" charset="-127"/>
                </a:rPr>
                <a:t>산업부</a:t>
              </a: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 kern="0" dirty="0" err="1">
                  <a:solidFill>
                    <a:srgbClr val="404040"/>
                  </a:solidFill>
                  <a:latin typeface="맑은 고딕" panose="020B0503020000020004" pitchFamily="50" charset="-127"/>
                </a:rPr>
                <a:t>중기부</a:t>
              </a:r>
              <a:endParaRPr lang="ko-KR" altLang="en-US" sz="1000" kern="0" dirty="0">
                <a:solidFill>
                  <a:srgbClr val="40404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4F9DE35C-FFF5-F773-2ACD-0359EBCA32B7}"/>
              </a:ext>
            </a:extLst>
          </p:cNvPr>
          <p:cNvGrpSpPr/>
          <p:nvPr/>
        </p:nvGrpSpPr>
        <p:grpSpPr>
          <a:xfrm>
            <a:off x="7811757" y="2540874"/>
            <a:ext cx="1599544" cy="3139404"/>
            <a:chOff x="422136" y="2638584"/>
            <a:chExt cx="1859150" cy="3139404"/>
          </a:xfrm>
        </p:grpSpPr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CE5F036-2817-999F-C2D0-CB8090A1165A}"/>
                </a:ext>
              </a:extLst>
            </p:cNvPr>
            <p:cNvCxnSpPr>
              <a:cxnSpLocks/>
              <a:stCxn id="79" idx="1"/>
              <a:endCxn id="81" idx="3"/>
            </p:cNvCxnSpPr>
            <p:nvPr/>
          </p:nvCxnSpPr>
          <p:spPr bwMode="auto">
            <a:xfrm flipH="1">
              <a:off x="1351711" y="3983339"/>
              <a:ext cx="1" cy="955040"/>
            </a:xfrm>
            <a:prstGeom prst="line">
              <a:avLst/>
            </a:prstGeom>
            <a:solidFill>
              <a:srgbClr val="970F43"/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사각형: 둥근 위쪽 모서리 77">
              <a:extLst>
                <a:ext uri="{FF2B5EF4-FFF2-40B4-BE49-F238E27FC236}">
                  <a16:creationId xmlns:a16="http://schemas.microsoft.com/office/drawing/2014/main" id="{00173DE8-FCB5-F78D-E25E-8D9CE4C2FFD3}"/>
                </a:ext>
              </a:extLst>
            </p:cNvPr>
            <p:cNvSpPr/>
            <p:nvPr/>
          </p:nvSpPr>
          <p:spPr bwMode="auto">
            <a:xfrm>
              <a:off x="422137" y="2638584"/>
              <a:ext cx="1859149" cy="400351"/>
            </a:xfrm>
            <a:prstGeom prst="round2SameRect">
              <a:avLst>
                <a:gd name="adj1" fmla="val 21605"/>
                <a:gd name="adj2" fmla="val 0"/>
              </a:avLst>
            </a:prstGeom>
            <a:solidFill>
              <a:srgbClr val="1040C3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1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체계적 품질관리시스템</a:t>
              </a:r>
            </a:p>
          </p:txBody>
        </p:sp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D28A6FFD-B467-E978-DBD9-C567774E41D1}"/>
                </a:ext>
              </a:extLst>
            </p:cNvPr>
            <p:cNvSpPr/>
            <p:nvPr/>
          </p:nvSpPr>
          <p:spPr bwMode="auto">
            <a:xfrm>
              <a:off x="422137" y="3038934"/>
              <a:ext cx="1859149" cy="94440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PMDCA 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성과관리</a:t>
              </a:r>
            </a:p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4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단계 품질관리</a:t>
              </a:r>
            </a:p>
            <a:p>
              <a:pPr marL="36000" indent="-360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최고 수준 만족도</a:t>
              </a:r>
              <a:endPara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사각형: 둥근 위쪽 모서리 79">
              <a:extLst>
                <a:ext uri="{FF2B5EF4-FFF2-40B4-BE49-F238E27FC236}">
                  <a16:creationId xmlns:a16="http://schemas.microsoft.com/office/drawing/2014/main" id="{A4B89917-4EE5-496E-5ABE-2C1067BC64E7}"/>
                </a:ext>
              </a:extLst>
            </p:cNvPr>
            <p:cNvSpPr/>
            <p:nvPr/>
          </p:nvSpPr>
          <p:spPr bwMode="auto">
            <a:xfrm>
              <a:off x="422136" y="4102349"/>
              <a:ext cx="1859149" cy="62024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성과관리 체계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품질검증 단계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고객 만족도</a:t>
              </a:r>
            </a:p>
          </p:txBody>
        </p:sp>
        <p:sp>
          <p:nvSpPr>
            <p:cNvPr id="81" name="사각형: 둥근 위쪽 모서리 80">
              <a:extLst>
                <a:ext uri="{FF2B5EF4-FFF2-40B4-BE49-F238E27FC236}">
                  <a16:creationId xmlns:a16="http://schemas.microsoft.com/office/drawing/2014/main" id="{63312320-BF83-361B-60B6-EB0749CFA8A2}"/>
                </a:ext>
              </a:extLst>
            </p:cNvPr>
            <p:cNvSpPr/>
            <p:nvPr/>
          </p:nvSpPr>
          <p:spPr bwMode="auto">
            <a:xfrm>
              <a:off x="422136" y="4938379"/>
              <a:ext cx="1859149" cy="83960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EEF6F7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2025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404040"/>
                  </a:solidFill>
                  <a:latin typeface="맑은 고딕" panose="020B0503020000020004" pitchFamily="50" charset="-127"/>
                </a:rPr>
                <a:t>년 실적</a:t>
              </a:r>
            </a:p>
            <a:p>
              <a:pPr fontAlgn="base"/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Plan-Do-Check-Act</a:t>
              </a:r>
              <a:b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4</a:t>
              </a:r>
              <a: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단계 검증</a:t>
              </a:r>
              <a:br>
                <a:rPr lang="ko-KR" altLang="en-US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srgbClr val="404040"/>
                  </a:solidFill>
                  <a:latin typeface="맑은 고딕" panose="020B0503020000020004" pitchFamily="50" charset="-127"/>
                </a:rPr>
                <a:t>• 4.88/5.0</a:t>
              </a:r>
              <a:endParaRPr lang="ko-KR" altLang="en-US" sz="1000" kern="0" dirty="0">
                <a:solidFill>
                  <a:srgbClr val="404040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83" name="타원 82">
            <a:extLst>
              <a:ext uri="{FF2B5EF4-FFF2-40B4-BE49-F238E27FC236}">
                <a16:creationId xmlns:a16="http://schemas.microsoft.com/office/drawing/2014/main" id="{CD686AB1-333F-8C54-E724-915E83BF83C5}"/>
              </a:ext>
            </a:extLst>
          </p:cNvPr>
          <p:cNvSpPr/>
          <p:nvPr/>
        </p:nvSpPr>
        <p:spPr bwMode="auto">
          <a:xfrm>
            <a:off x="1133615" y="2173109"/>
            <a:ext cx="302093" cy="295913"/>
          </a:xfrm>
          <a:prstGeom prst="ellipse">
            <a:avLst/>
          </a:prstGeom>
          <a:solidFill>
            <a:srgbClr val="EEF6F7"/>
          </a:solidFill>
          <a:ln w="38100">
            <a:solidFill>
              <a:srgbClr val="1040C3"/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5D6DBE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8FA48830-1E32-7266-A1A6-7C72E6CBC594}"/>
              </a:ext>
            </a:extLst>
          </p:cNvPr>
          <p:cNvSpPr/>
          <p:nvPr/>
        </p:nvSpPr>
        <p:spPr bwMode="auto">
          <a:xfrm>
            <a:off x="2965332" y="2173109"/>
            <a:ext cx="302093" cy="295913"/>
          </a:xfrm>
          <a:prstGeom prst="ellipse">
            <a:avLst/>
          </a:prstGeom>
          <a:solidFill>
            <a:srgbClr val="EEF6F7"/>
          </a:solidFill>
          <a:ln w="38100">
            <a:solidFill>
              <a:srgbClr val="1040C3"/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rPr>
              <a:t>2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5D6DBE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B9F954AA-2558-2FB0-CB58-F3D0F0C9A2F6}"/>
              </a:ext>
            </a:extLst>
          </p:cNvPr>
          <p:cNvSpPr/>
          <p:nvPr/>
        </p:nvSpPr>
        <p:spPr bwMode="auto">
          <a:xfrm>
            <a:off x="4797049" y="2173109"/>
            <a:ext cx="302093" cy="295913"/>
          </a:xfrm>
          <a:prstGeom prst="ellipse">
            <a:avLst/>
          </a:prstGeom>
          <a:solidFill>
            <a:srgbClr val="EEF6F7"/>
          </a:solidFill>
          <a:ln w="38100">
            <a:solidFill>
              <a:srgbClr val="1040C3"/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rPr>
              <a:t>3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5D6DBE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6D3DA238-CF82-AF1A-5CA3-7E991C1C41F1}"/>
              </a:ext>
            </a:extLst>
          </p:cNvPr>
          <p:cNvSpPr/>
          <p:nvPr/>
        </p:nvSpPr>
        <p:spPr bwMode="auto">
          <a:xfrm>
            <a:off x="6628766" y="2173109"/>
            <a:ext cx="302093" cy="295913"/>
          </a:xfrm>
          <a:prstGeom prst="ellipse">
            <a:avLst/>
          </a:prstGeom>
          <a:solidFill>
            <a:srgbClr val="EEF6F7"/>
          </a:solidFill>
          <a:ln w="38100">
            <a:solidFill>
              <a:srgbClr val="1040C3"/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rPr>
              <a:t>4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5D6DBE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24AE69ED-3828-1324-71D8-648F711769E6}"/>
              </a:ext>
            </a:extLst>
          </p:cNvPr>
          <p:cNvSpPr/>
          <p:nvPr/>
        </p:nvSpPr>
        <p:spPr bwMode="auto">
          <a:xfrm>
            <a:off x="8460481" y="2173109"/>
            <a:ext cx="302093" cy="295913"/>
          </a:xfrm>
          <a:prstGeom prst="ellipse">
            <a:avLst/>
          </a:prstGeom>
          <a:solidFill>
            <a:srgbClr val="EEF6F7"/>
          </a:solidFill>
          <a:ln w="38100">
            <a:solidFill>
              <a:srgbClr val="1040C3"/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rPr>
              <a:t>5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5D6DBE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6549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3CEA1-7987-E0B2-43D5-26D47A90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C48100F-032F-82A5-8883-28AB0BCA49AA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대한민국 산업</a:t>
            </a:r>
            <a:r>
              <a:rPr lang="en-US" altLang="ko-KR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일자리 전환의 신뢰받는 </a:t>
            </a:r>
            <a:r>
              <a:rPr lang="ko-KR" altLang="en-US" spc="-3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파트너로서의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실적 증명</a:t>
            </a:r>
            <a:endParaRPr lang="en-US" altLang="ko-KR" spc="-30" dirty="0">
              <a:solidFill>
                <a:srgbClr val="5D6DB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598BFD-5CA0-2FD1-334A-5DFC09BC0FD7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사업수행경험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BB9BB-781A-F47A-2D19-6842F4D391FF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이상의 정부정책 연계 산업전환 컨설팅 수행으로 종합 솔루션과 실질적 성과 도출의 경험 보유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058675-33C1-1125-75C7-15D43CC83479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300" b="1" kern="0" spc="-8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300" b="1" kern="0" spc="-8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년 이상 정부 정책사업 핵심 파트너</a:t>
            </a:r>
            <a:r>
              <a:rPr lang="en-US" altLang="ko-KR" sz="1300" b="1" kern="0" spc="-8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300" b="1" kern="0" spc="-8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일터혁신</a:t>
            </a:r>
            <a:r>
              <a:rPr lang="en-US" altLang="ko-KR" sz="1300" b="1" kern="0" spc="-8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·NCS·</a:t>
            </a:r>
            <a:r>
              <a:rPr lang="ko-KR" altLang="en-US" sz="1300" b="1" kern="0" spc="-8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재취업 최고 등급</a:t>
            </a:r>
            <a:r>
              <a:rPr lang="en-US" altLang="ko-KR" sz="1300" b="1" kern="0" spc="-8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300" b="1" kern="0" spc="-8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로서</a:t>
            </a:r>
          </a:p>
          <a:p>
            <a:pPr algn="ctr" defTabSz="914400"/>
            <a:r>
              <a:rPr lang="ko-KR" altLang="en-US" sz="1300" b="1" kern="0" spc="-8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기업 진단부터 성과 연계까지 산업전환 전 주기 통합 관리 경험을 갖추고 있습니다</a:t>
            </a:r>
            <a:r>
              <a:rPr lang="en-US" altLang="ko-KR" sz="1300" b="1" kern="0" spc="-8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8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6B4A6-366B-E5A9-8CF9-358CACF17BA8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사업수행능력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유사 사업 수행 경험 및 실적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E974302-5ED5-DE91-441E-18322C70CAA6}"/>
              </a:ext>
            </a:extLst>
          </p:cNvPr>
          <p:cNvGrpSpPr/>
          <p:nvPr/>
        </p:nvGrpSpPr>
        <p:grpSpPr>
          <a:xfrm>
            <a:off x="457998" y="2032773"/>
            <a:ext cx="2814120" cy="1104042"/>
            <a:chOff x="457998" y="2204797"/>
            <a:chExt cx="2814120" cy="1171109"/>
          </a:xfrm>
        </p:grpSpPr>
        <p:sp>
          <p:nvSpPr>
            <p:cNvPr id="2" name="사각형: 둥근 위쪽 모서리 1">
              <a:extLst>
                <a:ext uri="{FF2B5EF4-FFF2-40B4-BE49-F238E27FC236}">
                  <a16:creationId xmlns:a16="http://schemas.microsoft.com/office/drawing/2014/main" id="{AB5DB223-9C09-E5F3-BC26-0DFC3F0308D9}"/>
                </a:ext>
              </a:extLst>
            </p:cNvPr>
            <p:cNvSpPr/>
            <p:nvPr/>
          </p:nvSpPr>
          <p:spPr bwMode="auto">
            <a:xfrm>
              <a:off x="457998" y="2204797"/>
              <a:ext cx="2814120" cy="299588"/>
            </a:xfrm>
            <a:prstGeom prst="round2SameRect">
              <a:avLst>
                <a:gd name="adj1" fmla="val 26931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2025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년 산업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·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일자리전환 지원센터 운영 실적</a:t>
              </a:r>
              <a:endParaRPr kumimoji="0" lang="ko-KR" altLang="en-US" sz="1000" b="1" i="0" u="none" strike="noStrike" kern="0" cap="none" spc="-5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" name="사각형: 둥근 위쪽 모서리 2">
              <a:extLst>
                <a:ext uri="{FF2B5EF4-FFF2-40B4-BE49-F238E27FC236}">
                  <a16:creationId xmlns:a16="http://schemas.microsoft.com/office/drawing/2014/main" id="{B9D491C4-B7DC-B411-92B0-1DC75445A31C}"/>
                </a:ext>
              </a:extLst>
            </p:cNvPr>
            <p:cNvSpPr/>
            <p:nvPr/>
          </p:nvSpPr>
          <p:spPr bwMode="auto">
            <a:xfrm>
              <a:off x="457998" y="2504385"/>
              <a:ext cx="2814120" cy="60591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기업 발굴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: 487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개사</a:t>
              </a:r>
            </a:p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컨설팅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: 285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개사</a:t>
              </a:r>
            </a:p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장려금 연계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: 60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개</a:t>
              </a:r>
            </a:p>
          </p:txBody>
        </p:sp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C8327E19-BB8C-3CE7-7BF3-918C11835412}"/>
                </a:ext>
              </a:extLst>
            </p:cNvPr>
            <p:cNvSpPr/>
            <p:nvPr/>
          </p:nvSpPr>
          <p:spPr bwMode="auto">
            <a:xfrm>
              <a:off x="457998" y="3091246"/>
              <a:ext cx="2814120" cy="28466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1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정책 목표를 초과 달성하는 신뢰받는 사업 운영 파트너</a:t>
              </a:r>
              <a:endParaRPr kumimoji="0" lang="ko-KR" altLang="en-US" sz="1000" b="1" i="0" u="none" strike="noStrike" kern="0" cap="none" spc="-15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BD067EB-0367-F0D5-5C26-AE910D10265D}"/>
              </a:ext>
            </a:extLst>
          </p:cNvPr>
          <p:cNvGrpSpPr/>
          <p:nvPr/>
        </p:nvGrpSpPr>
        <p:grpSpPr>
          <a:xfrm>
            <a:off x="457998" y="3264325"/>
            <a:ext cx="2814120" cy="1259536"/>
            <a:chOff x="457998" y="2204797"/>
            <a:chExt cx="2814120" cy="1336049"/>
          </a:xfrm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373FD531-87BD-60EB-ECDE-667371CC7403}"/>
                </a:ext>
              </a:extLst>
            </p:cNvPr>
            <p:cNvSpPr/>
            <p:nvPr/>
          </p:nvSpPr>
          <p:spPr bwMode="auto">
            <a:xfrm>
              <a:off x="457998" y="2204797"/>
              <a:ext cx="2814120" cy="299588"/>
            </a:xfrm>
            <a:prstGeom prst="round2SameRect">
              <a:avLst>
                <a:gd name="adj1" fmla="val 26931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평가등급으로 증명하는 전문성</a:t>
              </a:r>
              <a:endParaRPr kumimoji="0" lang="ko-KR" altLang="en-US" sz="1000" b="1" i="0" u="none" strike="noStrike" kern="0" cap="none" spc="-5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5065A7B0-92FC-326F-82A7-EE533FDCFD64}"/>
                </a:ext>
              </a:extLst>
            </p:cNvPr>
            <p:cNvSpPr/>
            <p:nvPr/>
          </p:nvSpPr>
          <p:spPr bwMode="auto">
            <a:xfrm>
              <a:off x="457998" y="2504385"/>
              <a:ext cx="2814120" cy="75180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평가등급으로 증명하는 전문성</a:t>
              </a:r>
            </a:p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일터혁신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: 2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년 연속 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A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등급</a:t>
              </a:r>
            </a:p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NCS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기업활용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: 3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년 연속 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S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등급</a:t>
              </a:r>
            </a:p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재취업지원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: 5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년 연속 우수사례 최다 배출</a:t>
              </a:r>
            </a:p>
          </p:txBody>
        </p:sp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id="{15BBA966-6DE2-1D47-AFE4-11FDB720A508}"/>
                </a:ext>
              </a:extLst>
            </p:cNvPr>
            <p:cNvSpPr/>
            <p:nvPr/>
          </p:nvSpPr>
          <p:spPr bwMode="auto">
            <a:xfrm>
              <a:off x="457998" y="3256186"/>
              <a:ext cx="2814120" cy="28466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정부 평가로 검증된 최고 수준의 전문성과 역량</a:t>
              </a:r>
              <a:endParaRPr kumimoji="0" lang="ko-KR" altLang="en-US" sz="1000" b="1" i="0" u="none" strike="noStrike" kern="0" cap="none" spc="-5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4928FEC-BD17-EB14-2804-7E5C2D4D9CEC}"/>
              </a:ext>
            </a:extLst>
          </p:cNvPr>
          <p:cNvGrpSpPr/>
          <p:nvPr/>
        </p:nvGrpSpPr>
        <p:grpSpPr>
          <a:xfrm>
            <a:off x="457998" y="4601469"/>
            <a:ext cx="2814120" cy="1252881"/>
            <a:chOff x="457998" y="2204797"/>
            <a:chExt cx="2814120" cy="1336049"/>
          </a:xfrm>
        </p:grpSpPr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B96CA08D-9F8B-550F-D3B2-53E13E39276F}"/>
                </a:ext>
              </a:extLst>
            </p:cNvPr>
            <p:cNvSpPr/>
            <p:nvPr/>
          </p:nvSpPr>
          <p:spPr bwMode="auto">
            <a:xfrm>
              <a:off x="457998" y="2204797"/>
              <a:ext cx="2814120" cy="299588"/>
            </a:xfrm>
            <a:prstGeom prst="round2SameRect">
              <a:avLst>
                <a:gd name="adj1" fmla="val 26931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산업전환의 전 주기를 관리하는 종합 컨설팅 체계</a:t>
              </a:r>
              <a:endParaRPr kumimoji="0" lang="ko-KR" altLang="en-US" sz="1000" b="1" i="0" u="none" strike="noStrike" kern="0" cap="none" spc="-5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0" name="사각형: 둥근 위쪽 모서리 19">
              <a:extLst>
                <a:ext uri="{FF2B5EF4-FFF2-40B4-BE49-F238E27FC236}">
                  <a16:creationId xmlns:a16="http://schemas.microsoft.com/office/drawing/2014/main" id="{22AC64B5-62AA-0082-8F72-F6C7825A184C}"/>
                </a:ext>
              </a:extLst>
            </p:cNvPr>
            <p:cNvSpPr/>
            <p:nvPr/>
          </p:nvSpPr>
          <p:spPr bwMode="auto">
            <a:xfrm>
              <a:off x="457998" y="2504385"/>
              <a:ext cx="2814120" cy="75180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기업 진단 및 전략 수립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(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경영전략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,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조직진단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, ESG)</a:t>
              </a:r>
            </a:p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직무 전환 및 교육훈련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(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직무심화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,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전환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,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적응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)</a:t>
              </a:r>
            </a:p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경력 지원 및 고용 연계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(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생애주기별 경력지원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)</a:t>
              </a:r>
            </a:p>
            <a:p>
              <a:pPr marL="36000" indent="-36000" fontAlgn="base">
                <a:buFont typeface="Arial" panose="020B0604020202020204" pitchFamily="34" charset="0"/>
                <a:buChar char="•"/>
              </a:pP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아이템 및 판로 연계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(</a:t>
              </a:r>
              <a:r>
                <a:rPr lang="ko-KR" altLang="en-US" sz="900" b="1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발굴→고도화→판로개척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</a:rPr>
                <a:t>)</a:t>
              </a:r>
              <a:endPara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endParaRPr>
            </a:p>
          </p:txBody>
        </p:sp>
        <p:sp>
          <p:nvSpPr>
            <p:cNvPr id="21" name="사각형: 둥근 위쪽 모서리 20">
              <a:extLst>
                <a:ext uri="{FF2B5EF4-FFF2-40B4-BE49-F238E27FC236}">
                  <a16:creationId xmlns:a16="http://schemas.microsoft.com/office/drawing/2014/main" id="{3262BBFC-4C90-FF35-25EB-4F7429E4775C}"/>
                </a:ext>
              </a:extLst>
            </p:cNvPr>
            <p:cNvSpPr/>
            <p:nvPr/>
          </p:nvSpPr>
          <p:spPr bwMode="auto">
            <a:xfrm>
              <a:off x="457998" y="3256186"/>
              <a:ext cx="2814120" cy="28466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진단부터 성과까지 원스톱 솔루션</a:t>
              </a:r>
            </a:p>
          </p:txBody>
        </p:sp>
      </p:grpSp>
      <p:pic>
        <p:nvPicPr>
          <p:cNvPr id="22" name="Picture 19">
            <a:extLst>
              <a:ext uri="{FF2B5EF4-FFF2-40B4-BE49-F238E27FC236}">
                <a16:creationId xmlns:a16="http://schemas.microsoft.com/office/drawing/2014/main" id="{8DC32A6B-02A5-4D2E-57D5-1F7F13E11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47" y="3730344"/>
            <a:ext cx="349625" cy="423490"/>
          </a:xfrm>
          <a:prstGeom prst="rect">
            <a:avLst/>
          </a:prstGeom>
        </p:spPr>
      </p:pic>
      <p:pic>
        <p:nvPicPr>
          <p:cNvPr id="23" name="Picture 20">
            <a:extLst>
              <a:ext uri="{FF2B5EF4-FFF2-40B4-BE49-F238E27FC236}">
                <a16:creationId xmlns:a16="http://schemas.microsoft.com/office/drawing/2014/main" id="{8153B69E-C11A-963F-770F-7DFADD282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76" y="2421613"/>
            <a:ext cx="429396" cy="440131"/>
          </a:xfrm>
          <a:prstGeom prst="rect">
            <a:avLst/>
          </a:prstGeom>
        </p:spPr>
      </p:pic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BAA9A470-5542-A0C9-94C8-9FA472C787DE}"/>
              </a:ext>
            </a:extLst>
          </p:cNvPr>
          <p:cNvSpPr/>
          <p:nvPr/>
        </p:nvSpPr>
        <p:spPr bwMode="auto">
          <a:xfrm>
            <a:off x="3465257" y="2022367"/>
            <a:ext cx="2975486" cy="282431"/>
          </a:xfrm>
          <a:prstGeom prst="round2SameRect">
            <a:avLst>
              <a:gd name="adj1" fmla="val 26931"/>
              <a:gd name="adj2" fmla="val 0"/>
            </a:avLst>
          </a:prstGeom>
          <a:solidFill>
            <a:srgbClr val="1040C3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산업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일자리 전환 컨설팅의 진화 과정 </a:t>
            </a:r>
            <a:endParaRPr kumimoji="0" lang="ko-KR" altLang="en-US" sz="100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9D57742C-4DA7-912D-7D12-D29F952EDFB2}"/>
              </a:ext>
            </a:extLst>
          </p:cNvPr>
          <p:cNvSpPr/>
          <p:nvPr/>
        </p:nvSpPr>
        <p:spPr bwMode="auto">
          <a:xfrm>
            <a:off x="3465257" y="2304797"/>
            <a:ext cx="2975486" cy="354955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fontAlgn="base"/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</a:endParaRPr>
          </a:p>
        </p:txBody>
      </p:sp>
      <p:sp>
        <p:nvSpPr>
          <p:cNvPr id="26" name="사각형: 둥근 위쪽 모서리 25">
            <a:extLst>
              <a:ext uri="{FF2B5EF4-FFF2-40B4-BE49-F238E27FC236}">
                <a16:creationId xmlns:a16="http://schemas.microsoft.com/office/drawing/2014/main" id="{2A98D168-D46C-8B02-841F-269F72ACE5C5}"/>
              </a:ext>
            </a:extLst>
          </p:cNvPr>
          <p:cNvSpPr/>
          <p:nvPr/>
        </p:nvSpPr>
        <p:spPr bwMode="auto">
          <a:xfrm>
            <a:off x="3589712" y="2465126"/>
            <a:ext cx="2723324" cy="65373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2022~2023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년</a:t>
            </a:r>
          </a:p>
          <a:p>
            <a:pPr defTabSz="914400">
              <a:spcAft>
                <a:spcPts val="200"/>
              </a:spcAft>
            </a:pP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구조혁신 컨설팅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최다 물량 수행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 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산업통상자원부 사업재편 파트너십 사업 운영</a:t>
            </a:r>
          </a:p>
        </p:txBody>
      </p:sp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46530A22-4BD5-A675-1E9E-4F67C3174327}"/>
              </a:ext>
            </a:extLst>
          </p:cNvPr>
          <p:cNvSpPr/>
          <p:nvPr/>
        </p:nvSpPr>
        <p:spPr bwMode="auto">
          <a:xfrm>
            <a:off x="3589712" y="3494317"/>
            <a:ext cx="2723324" cy="65373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2024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년</a:t>
            </a:r>
          </a:p>
          <a:p>
            <a:pPr defTabSz="914400">
              <a:spcAft>
                <a:spcPts val="200"/>
              </a:spcAft>
            </a:pP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다층적 컨설팅 체계 확립</a:t>
            </a:r>
          </a:p>
          <a:p>
            <a:pPr defTabSz="914400">
              <a:spcAft>
                <a:spcPts val="200"/>
              </a:spcAft>
            </a:pP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 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일터혁신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·NCS·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유연근무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재취업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워라밸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등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B2DFC860-3A6A-806A-BC8C-3975418ECDB5}"/>
              </a:ext>
            </a:extLst>
          </p:cNvPr>
          <p:cNvSpPr/>
          <p:nvPr/>
        </p:nvSpPr>
        <p:spPr bwMode="auto">
          <a:xfrm>
            <a:off x="3589712" y="4523508"/>
            <a:ext cx="2723324" cy="92733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2025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년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(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현재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일자리전환 지원센터 선정</a:t>
            </a:r>
          </a:p>
          <a:p>
            <a:pPr defTabSz="914400">
              <a:spcAft>
                <a:spcPts val="200"/>
              </a:spcAft>
            </a:pP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 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487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개사 발굴 →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285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개사 컨설팅 </a:t>
            </a:r>
            <a:endParaRPr lang="en-US" altLang="ko-KR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spcAft>
                <a:spcPts val="200"/>
              </a:spcAft>
            </a:pP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→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60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 장려금 연계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*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 목표 초과 달성</a:t>
            </a:r>
          </a:p>
        </p:txBody>
      </p: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3CABDC15-A0A9-CB9E-A404-93FDF3F1E7C1}"/>
              </a:ext>
            </a:extLst>
          </p:cNvPr>
          <p:cNvSpPr/>
          <p:nvPr/>
        </p:nvSpPr>
        <p:spPr bwMode="auto">
          <a:xfrm>
            <a:off x="3463630" y="5587408"/>
            <a:ext cx="2975485" cy="26694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FE2F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5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년 연속 정부 정책사업 최우선 선정 파트너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2033ADB-3D0B-0FDC-04B2-4BC2D6BDE93E}"/>
              </a:ext>
            </a:extLst>
          </p:cNvPr>
          <p:cNvCxnSpPr>
            <a:cxnSpLocks/>
            <a:stCxn id="26" idx="1"/>
            <a:endCxn id="27" idx="3"/>
          </p:cNvCxnSpPr>
          <p:nvPr/>
        </p:nvCxnSpPr>
        <p:spPr bwMode="auto">
          <a:xfrm>
            <a:off x="4951374" y="3118863"/>
            <a:ext cx="0" cy="375454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1040C3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4DFEE0F-BE4E-5239-3EC7-3E316E43B9E7}"/>
              </a:ext>
            </a:extLst>
          </p:cNvPr>
          <p:cNvCxnSpPr>
            <a:cxnSpLocks/>
            <a:stCxn id="27" idx="1"/>
            <a:endCxn id="28" idx="3"/>
          </p:cNvCxnSpPr>
          <p:nvPr/>
        </p:nvCxnSpPr>
        <p:spPr bwMode="auto">
          <a:xfrm>
            <a:off x="4951374" y="4148054"/>
            <a:ext cx="0" cy="375454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1040C3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DE42125-A4CF-F232-E203-717C381561F3}"/>
              </a:ext>
            </a:extLst>
          </p:cNvPr>
          <p:cNvSpPr txBox="1"/>
          <p:nvPr/>
        </p:nvSpPr>
        <p:spPr>
          <a:xfrm>
            <a:off x="4951373" y="3217185"/>
            <a:ext cx="9604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경험 축적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AC7D92-8B0B-56D4-3543-E54BDCD938C9}"/>
              </a:ext>
            </a:extLst>
          </p:cNvPr>
          <p:cNvSpPr txBox="1"/>
          <p:nvPr/>
        </p:nvSpPr>
        <p:spPr>
          <a:xfrm>
            <a:off x="4951373" y="4196640"/>
            <a:ext cx="9604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신뢰도 강화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)</a:t>
            </a:r>
          </a:p>
        </p:txBody>
      </p:sp>
      <p:sp>
        <p:nvSpPr>
          <p:cNvPr id="41" name="사각형: 둥근 위쪽 모서리 40">
            <a:extLst>
              <a:ext uri="{FF2B5EF4-FFF2-40B4-BE49-F238E27FC236}">
                <a16:creationId xmlns:a16="http://schemas.microsoft.com/office/drawing/2014/main" id="{C919095C-C1BD-1B41-9CC0-FCFCD8D3863A}"/>
              </a:ext>
            </a:extLst>
          </p:cNvPr>
          <p:cNvSpPr/>
          <p:nvPr/>
        </p:nvSpPr>
        <p:spPr bwMode="auto">
          <a:xfrm>
            <a:off x="6565196" y="2035250"/>
            <a:ext cx="2811600" cy="269548"/>
          </a:xfrm>
          <a:prstGeom prst="round2SameRect">
            <a:avLst>
              <a:gd name="adj1" fmla="val 26931"/>
              <a:gd name="adj2" fmla="val 0"/>
            </a:avLst>
          </a:prstGeom>
          <a:solidFill>
            <a:srgbClr val="1040C3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사업 영역별 컨설팅 포트폴리오</a:t>
            </a:r>
            <a:endParaRPr kumimoji="0" lang="ko-KR" altLang="en-US" sz="100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7FD72771-0B62-A251-FCC7-CBDC520F3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949453"/>
              </p:ext>
            </p:extLst>
          </p:nvPr>
        </p:nvGraphicFramePr>
        <p:xfrm>
          <a:off x="6565196" y="2304797"/>
          <a:ext cx="2814120" cy="3566613"/>
        </p:xfrm>
        <a:graphic>
          <a:graphicData uri="http://schemas.openxmlformats.org/drawingml/2006/table">
            <a:tbl>
              <a:tblPr/>
              <a:tblGrid>
                <a:gridCol w="583027">
                  <a:extLst>
                    <a:ext uri="{9D8B030D-6E8A-4147-A177-3AD203B41FA5}">
                      <a16:colId xmlns:a16="http://schemas.microsoft.com/office/drawing/2014/main" val="1586114457"/>
                    </a:ext>
                  </a:extLst>
                </a:gridCol>
                <a:gridCol w="2231093">
                  <a:extLst>
                    <a:ext uri="{9D8B030D-6E8A-4147-A177-3AD203B41FA5}">
                      <a16:colId xmlns:a16="http://schemas.microsoft.com/office/drawing/2014/main" val="660603095"/>
                    </a:ext>
                  </a:extLst>
                </a:gridCol>
              </a:tblGrid>
              <a:tr h="850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기업경영</a:t>
                      </a:r>
                      <a:endParaRPr lang="en-US" altLang="ko-KR" sz="9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컨설팅</a:t>
                      </a:r>
                      <a:endParaRPr lang="en-US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경영전략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조직진단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산업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기술 분석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구조혁신 컨설팅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업의 전환 진단</a:t>
                      </a:r>
                    </a:p>
                    <a:p>
                      <a:pPr algn="ctr" latinLnBrk="0">
                        <a:buNone/>
                      </a:pP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ESG·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디지털전환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스마트화 지원</a:t>
                      </a:r>
                      <a:endParaRPr lang="en-US" altLang="ko-KR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→ 중소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중견기업의 현재를 진단하고 </a:t>
                      </a:r>
                      <a:b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미래 전략을 제시하는 기초 역할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189120"/>
                  </a:ext>
                </a:extLst>
              </a:tr>
              <a:tr h="850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근로자 </a:t>
                      </a:r>
                      <a:endParaRPr lang="en-US" altLang="ko-KR" sz="9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역량 강화</a:t>
                      </a:r>
                      <a:endParaRPr lang="ko-KR" altLang="en-US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저탄소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디지털 직무 교육 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직무심화 교육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직무전환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적응 교육훈련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유연근무</a:t>
                      </a:r>
                    </a:p>
                    <a:p>
                      <a:pPr algn="ctr" latinLnBrk="0">
                        <a:buNone/>
                      </a:pP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NCS 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기업활용 컨설팅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(3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년 연속 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S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등급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→ 근로자의 역량 강화를 통해 </a:t>
                      </a:r>
                      <a:b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산업전환의 성공을 지원</a:t>
                      </a:r>
                      <a:endParaRPr lang="ko-KR" altLang="en-US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11798"/>
                  </a:ext>
                </a:extLst>
              </a:tr>
              <a:tr h="10146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 및</a:t>
                      </a:r>
                      <a:endParaRPr lang="en-US" altLang="ko-KR" sz="9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고용 지원</a:t>
                      </a:r>
                      <a:endParaRPr lang="ko-KR" altLang="en-US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재취업 지원서비스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(5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년 연속 우수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생애주기별 경력지원</a:t>
                      </a:r>
                      <a:endParaRPr lang="en-US" altLang="ko-KR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0">
                        <a:buNone/>
                      </a:pP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재직 → 전환 → 퇴직 → 재취업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직업상담 및 경력 로드맵 제시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일터혁신 컨설팅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(2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년 연속 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A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등급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→ 개인의 경력 안정과 사회적 고용 확보</a:t>
                      </a:r>
                      <a:endParaRPr lang="ko-KR" altLang="en-US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306161"/>
                  </a:ext>
                </a:extLst>
              </a:tr>
              <a:tr h="850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실질적</a:t>
                      </a:r>
                      <a:endParaRPr lang="en-US" altLang="ko-KR" sz="9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9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성과</a:t>
                      </a:r>
                      <a:endParaRPr lang="ko-KR" altLang="en-US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아이템 발굴 및 품질 고도화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판로 개척 및 수주 연계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장려금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지원금 연계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(60</a:t>
                      </a: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개 연계 실적</a:t>
                      </a:r>
                      <a:r>
                        <a:rPr lang="en-US" altLang="ko-KR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+mn-ea"/>
                        </a:rPr>
                        <a:t>산업 생태계 기반 로드맵 제시</a:t>
                      </a:r>
                      <a:endParaRPr lang="en-US" altLang="ko-KR" sz="90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0">
                        <a:buNone/>
                      </a:pPr>
                      <a:r>
                        <a:rPr lang="ko-KR" altLang="en-US" sz="9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→ 컨설팅을 넘어 실질적 사업 성과 도출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1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798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1BFED-5DEA-5A3B-8E01-BB3E4755E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오른쪽 화살표 141">
            <a:extLst>
              <a:ext uri="{FF2B5EF4-FFF2-40B4-BE49-F238E27FC236}">
                <a16:creationId xmlns:a16="http://schemas.microsoft.com/office/drawing/2014/main" id="{420B36F8-5CD7-81C1-3115-73C34226201A}"/>
              </a:ext>
            </a:extLst>
          </p:cNvPr>
          <p:cNvSpPr/>
          <p:nvPr/>
        </p:nvSpPr>
        <p:spPr>
          <a:xfrm>
            <a:off x="5115777" y="2828494"/>
            <a:ext cx="521926" cy="2503430"/>
          </a:xfrm>
          <a:prstGeom prst="rightArrow">
            <a:avLst>
              <a:gd name="adj1" fmla="val 83821"/>
              <a:gd name="adj2" fmla="val 50000"/>
            </a:avLst>
          </a:prstGeom>
          <a:gradFill flip="none" rotWithShape="1">
            <a:gsLst>
              <a:gs pos="0">
                <a:sysClr val="window" lastClr="FFFFFF">
                  <a:lumMod val="50000"/>
                </a:sysClr>
              </a:gs>
              <a:gs pos="100000">
                <a:srgbClr val="DDDDDD">
                  <a:lumMod val="30000"/>
                  <a:lumOff val="7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8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DCCBE6-AC92-EFA8-D722-63D48B6E0773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70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명의 전문 컨설턴트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확보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노동</a:t>
            </a:r>
            <a:r>
              <a:rPr lang="en-US" altLang="ko-KR" spc="-30" dirty="0">
                <a:solidFill>
                  <a:srgbClr val="E357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산업전환 분야의 전문가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그룹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554EF8-94FF-2F1A-95A2-883D8DABBE45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전문인력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AF9795-B04C-3744-895A-3F58DA018EBA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70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명의 노동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경영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 전문가를 확보하여 평균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10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년의 검증된 경력과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현장 경험으로 </a:t>
            </a:r>
            <a:endParaRPr lang="en-US" altLang="ko-KR" sz="12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기업과 근로자의 진정한 문제 해결을 위해 신뢰할 수 있는 사업 수행을 실현함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2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79BB13-EDE1-429E-55BB-A528155577D2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9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기업의 도전을 이해하고</a:t>
            </a:r>
            <a:r>
              <a:rPr lang="en-US" altLang="ko-KR" sz="1300" b="1" kern="0" spc="-9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9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근로자의 불안을 공감하고</a:t>
            </a:r>
            <a:r>
              <a:rPr lang="en-US" altLang="ko-KR" sz="1300" b="1" kern="0" spc="-9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9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정책 지원을 연계하는 </a:t>
            </a:r>
            <a:r>
              <a:rPr lang="en-US" altLang="ko-KR" sz="1300" b="1" kern="0" spc="-9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300" b="1" kern="0" spc="-9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동반자</a:t>
            </a:r>
            <a:r>
              <a:rPr lang="en-US" altLang="ko-KR" sz="1300" b="1" kern="0" spc="-9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300" b="1" kern="0" spc="-9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의 전문인력 확보하고 있습니다</a:t>
            </a:r>
            <a:r>
              <a:rPr lang="en-US" altLang="ko-KR" sz="1300" b="1" kern="0" spc="-9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 </a:t>
            </a:r>
            <a:endParaRPr lang="ko-KR" altLang="en-US" sz="1300" b="1" kern="0" spc="-9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DD15F-0233-8FBC-4AF0-1D895ACEB7FF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사업수행능력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컨설팅 전문인력 확보 정도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104AACA-60F4-04B6-B468-7F80EBDD3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58461"/>
              </p:ext>
            </p:extLst>
          </p:nvPr>
        </p:nvGraphicFramePr>
        <p:xfrm>
          <a:off x="444955" y="2356824"/>
          <a:ext cx="4703985" cy="3403163"/>
        </p:xfrm>
        <a:graphic>
          <a:graphicData uri="http://schemas.openxmlformats.org/drawingml/2006/table">
            <a:tbl>
              <a:tblPr/>
              <a:tblGrid>
                <a:gridCol w="1061587">
                  <a:extLst>
                    <a:ext uri="{9D8B030D-6E8A-4147-A177-3AD203B41FA5}">
                      <a16:colId xmlns:a16="http://schemas.microsoft.com/office/drawing/2014/main" val="581267311"/>
                    </a:ext>
                  </a:extLst>
                </a:gridCol>
                <a:gridCol w="1603054">
                  <a:extLst>
                    <a:ext uri="{9D8B030D-6E8A-4147-A177-3AD203B41FA5}">
                      <a16:colId xmlns:a16="http://schemas.microsoft.com/office/drawing/2014/main" val="2098363037"/>
                    </a:ext>
                  </a:extLst>
                </a:gridCol>
                <a:gridCol w="2039344">
                  <a:extLst>
                    <a:ext uri="{9D8B030D-6E8A-4147-A177-3AD203B41FA5}">
                      <a16:colId xmlns:a16="http://schemas.microsoft.com/office/drawing/2014/main" val="206434868"/>
                    </a:ext>
                  </a:extLst>
                </a:gridCol>
              </a:tblGrid>
              <a:tr h="313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강점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구체적 내용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경쟁력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148005"/>
                  </a:ext>
                </a:extLst>
              </a:tr>
              <a:tr h="50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노동 전문성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공인노무사 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72.9% (51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노사 이슈 정확한 진단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 신뢰도 제고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638816"/>
                  </a:ext>
                </a:extLst>
              </a:tr>
              <a:tr h="50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깊이 있는 경험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이상 경력 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67.1% (47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다양한 산업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 사례 축적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산업별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기업별 맞춤형 대응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22616"/>
                  </a:ext>
                </a:extLst>
              </a:tr>
              <a:tr h="542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산업전환 경험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실행 기반 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2.4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평균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최신 트렌드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사례 반영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기업 변화 경험 및 노하우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219604"/>
                  </a:ext>
                </a:extLst>
              </a:tr>
              <a:tr h="50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학력 기반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석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박사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50% (35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이론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실무 균형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고도화된 컨설팅 수행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22930"/>
                  </a:ext>
                </a:extLst>
              </a:tr>
              <a:tr h="50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 안정성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근무경력 </a:t>
                      </a:r>
                      <a:r>
                        <a:rPr lang="en-US" altLang="ko-KR" sz="1000" b="1" spc="-5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11.2</a:t>
                      </a:r>
                      <a:r>
                        <a:rPr lang="ko-KR" altLang="en-US" sz="1000" b="1" spc="-5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 지속성 보장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협업체계 구축의 신뢰성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80335"/>
                  </a:ext>
                </a:extLst>
              </a:tr>
              <a:tr h="50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나이대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다양성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spc="-5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30~60</a:t>
                      </a:r>
                      <a:r>
                        <a:rPr lang="ko-KR" altLang="en-US" sz="1000" b="1" spc="-5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고르게 분포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세대별 소통 능력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54802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4286C374-F208-053D-8523-68473F88F558}"/>
              </a:ext>
            </a:extLst>
          </p:cNvPr>
          <p:cNvGrpSpPr/>
          <p:nvPr/>
        </p:nvGrpSpPr>
        <p:grpSpPr>
          <a:xfrm>
            <a:off x="444954" y="1959442"/>
            <a:ext cx="2476026" cy="253317"/>
            <a:chOff x="444954" y="2154076"/>
            <a:chExt cx="2476026" cy="253317"/>
          </a:xfrm>
        </p:grpSpPr>
        <p:pic>
          <p:nvPicPr>
            <p:cNvPr id="3" name="그래픽 2" descr="배지 체크 표시1 단색으로 채워진">
              <a:extLst>
                <a:ext uri="{FF2B5EF4-FFF2-40B4-BE49-F238E27FC236}">
                  <a16:creationId xmlns:a16="http://schemas.microsoft.com/office/drawing/2014/main" id="{25A883E6-CA43-4CAC-0CF2-4ADCD2239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E08670-4856-1668-493D-008BACBEAB85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전문 컨설턴트 강점 및 경쟁력</a:t>
              </a:r>
              <a:endParaRPr lang="ko-KR" altLang="en-US" sz="1050" b="1" spc="-8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40C3"/>
                </a:solidFill>
              </a:endParaRPr>
            </a:p>
          </p:txBody>
        </p:sp>
      </p:grp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9528B195-A0E7-63BE-C3FD-E15156304890}"/>
              </a:ext>
            </a:extLst>
          </p:cNvPr>
          <p:cNvSpPr/>
          <p:nvPr/>
        </p:nvSpPr>
        <p:spPr bwMode="auto">
          <a:xfrm>
            <a:off x="5747656" y="2356824"/>
            <a:ext cx="3559629" cy="2152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전문성 강점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자격증 포트폴리오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442B6E08-601C-C80F-4E59-70376C5798C3}"/>
              </a:ext>
            </a:extLst>
          </p:cNvPr>
          <p:cNvSpPr/>
          <p:nvPr/>
        </p:nvSpPr>
        <p:spPr bwMode="auto">
          <a:xfrm>
            <a:off x="5747656" y="2572036"/>
            <a:ext cx="3559629" cy="73866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공인노무사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72.9% 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노동 분야 최강 전문성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50%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고학력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석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박사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 +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자격증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이론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실무 완벽 결합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다양한 전공 구성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업종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이슈별 맞춤형 대응 가능</a:t>
            </a:r>
          </a:p>
        </p:txBody>
      </p:sp>
      <p:sp>
        <p:nvSpPr>
          <p:cNvPr id="15" name="사각형: 둥근 위쪽 모서리 14">
            <a:extLst>
              <a:ext uri="{FF2B5EF4-FFF2-40B4-BE49-F238E27FC236}">
                <a16:creationId xmlns:a16="http://schemas.microsoft.com/office/drawing/2014/main" id="{12A1D22C-4818-D11F-F618-A528EC5A3715}"/>
              </a:ext>
            </a:extLst>
          </p:cNvPr>
          <p:cNvSpPr/>
          <p:nvPr/>
        </p:nvSpPr>
        <p:spPr bwMode="auto">
          <a:xfrm>
            <a:off x="5747656" y="3403556"/>
            <a:ext cx="3559629" cy="2152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경험 강점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깊이 있는 실무 경험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047E3B19-C6AB-E93E-BEDA-A1D58EE68957}"/>
              </a:ext>
            </a:extLst>
          </p:cNvPr>
          <p:cNvSpPr/>
          <p:nvPr/>
        </p:nvSpPr>
        <p:spPr bwMode="auto">
          <a:xfrm>
            <a:off x="5747656" y="3618768"/>
            <a:ext cx="3559629" cy="90024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평균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10.3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컨설팅 경력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검증된 실무 노하우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47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명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(67.1%)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의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이상 경력자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다양한 산업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 경험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산업전환 실행 기반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최신 트렌드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사례 반영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베테랑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신예 조합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세대 이음 가능</a:t>
            </a: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9B506689-E21A-BB88-EB5E-70B5F21E87CB}"/>
              </a:ext>
            </a:extLst>
          </p:cNvPr>
          <p:cNvSpPr/>
          <p:nvPr/>
        </p:nvSpPr>
        <p:spPr bwMode="auto">
          <a:xfrm>
            <a:off x="5747656" y="4644532"/>
            <a:ext cx="3559629" cy="2152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안정성 강점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조직 기반의 신뢰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E734EDC8-60AB-1293-1125-63CCB0D3D286}"/>
              </a:ext>
            </a:extLst>
          </p:cNvPr>
          <p:cNvSpPr/>
          <p:nvPr/>
        </p:nvSpPr>
        <p:spPr bwMode="auto">
          <a:xfrm>
            <a:off x="5747656" y="4859744"/>
            <a:ext cx="3559629" cy="90024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평균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11.2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근무 경력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조직 문화 내재화된 전문가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87.1%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가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이상 근무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변동성 낮은 안정적 팀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다세대 구성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(30~60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 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세대별 강점 결합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장기근무자 중심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사업 연속성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신뢰도 최고</a:t>
            </a:r>
          </a:p>
        </p:txBody>
      </p:sp>
    </p:spTree>
    <p:extLst>
      <p:ext uri="{BB962C8B-B14F-4D97-AF65-F5344CB8AC3E}">
        <p14:creationId xmlns:p14="http://schemas.microsoft.com/office/powerpoint/2010/main" val="2805335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E15EB-3305-D00B-43DD-C0FC5135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968A439-B9EE-B388-F147-482B9092DA2D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17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명 사업관리 전담 인력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경영</a:t>
            </a:r>
            <a:r>
              <a:rPr lang="en-US" altLang="ko-KR" spc="-30" dirty="0">
                <a:solidFill>
                  <a:srgbClr val="E357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전문성</a:t>
            </a:r>
            <a:r>
              <a:rPr lang="en-US" altLang="ko-KR" spc="-30" dirty="0">
                <a:solidFill>
                  <a:srgbClr val="E357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현장 경험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을 갖춘 사업 추진의 핵심 팀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37D56F-BB84-DCFC-7614-11E8E3BD72D4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전담인력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E71249-04E5-AAA5-6C44-5235FADA5494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ESG·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산업전환 전문성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조직 안정성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그리고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다층적 역할 체계를 갖춘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17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명 전담 인력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팀으로 </a:t>
            </a:r>
            <a:endParaRPr lang="en-US" altLang="ko-KR" sz="12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70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명 컨설턴트를 통합 관리하여 기업과 근로자가 함께 성장할 수 있도록 실질적 성과를 이끄는 컨설팅을 완성함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E5CA9B-7FFB-5CEA-3127-8BDAD131E043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300" b="1" kern="0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17</a:t>
            </a:r>
            <a:r>
              <a:rPr lang="ko-KR" altLang="en-US" sz="1300" b="1" kern="0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명의 사업관리 전담 인력이 컨설턴트를 이끌고</a:t>
            </a:r>
            <a:r>
              <a:rPr lang="en-US" altLang="ko-KR" sz="1300" b="1" kern="0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기업과 근로자를 위한 신뢰할 수 있는 사업 수행을 약속합니다</a:t>
            </a:r>
            <a:r>
              <a:rPr lang="en-US" altLang="ko-KR" sz="1300" b="1" kern="0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55F89-C3D4-205B-8996-1D7CC8C5CDBA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사업수행능력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사업관리 전담 인력 확보 정도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sp>
        <p:nvSpPr>
          <p:cNvPr id="3" name="오른쪽 화살표 141">
            <a:extLst>
              <a:ext uri="{FF2B5EF4-FFF2-40B4-BE49-F238E27FC236}">
                <a16:creationId xmlns:a16="http://schemas.microsoft.com/office/drawing/2014/main" id="{7B9D88D9-0259-874F-DC76-6FC17F0E23DA}"/>
              </a:ext>
            </a:extLst>
          </p:cNvPr>
          <p:cNvSpPr/>
          <p:nvPr/>
        </p:nvSpPr>
        <p:spPr>
          <a:xfrm>
            <a:off x="4784858" y="2828494"/>
            <a:ext cx="521926" cy="2503430"/>
          </a:xfrm>
          <a:prstGeom prst="rightArrow">
            <a:avLst>
              <a:gd name="adj1" fmla="val 83821"/>
              <a:gd name="adj2" fmla="val 50000"/>
            </a:avLst>
          </a:prstGeom>
          <a:gradFill flip="none" rotWithShape="1">
            <a:gsLst>
              <a:gs pos="0">
                <a:sysClr val="window" lastClr="FFFFFF">
                  <a:lumMod val="50000"/>
                </a:sysClr>
              </a:gs>
              <a:gs pos="100000">
                <a:srgbClr val="DDDDDD">
                  <a:lumMod val="30000"/>
                  <a:lumOff val="7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800" kern="0">
              <a:solidFill>
                <a:prstClr val="white"/>
              </a:solidFill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BAA2E6C-1164-C757-4B40-DB36503DA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912094"/>
              </p:ext>
            </p:extLst>
          </p:nvPr>
        </p:nvGraphicFramePr>
        <p:xfrm>
          <a:off x="444955" y="2356823"/>
          <a:ext cx="4383447" cy="3380417"/>
        </p:xfrm>
        <a:graphic>
          <a:graphicData uri="http://schemas.openxmlformats.org/drawingml/2006/table">
            <a:tbl>
              <a:tblPr/>
              <a:tblGrid>
                <a:gridCol w="989249">
                  <a:extLst>
                    <a:ext uri="{9D8B030D-6E8A-4147-A177-3AD203B41FA5}">
                      <a16:colId xmlns:a16="http://schemas.microsoft.com/office/drawing/2014/main" val="581267311"/>
                    </a:ext>
                  </a:extLst>
                </a:gridCol>
                <a:gridCol w="1639298">
                  <a:extLst>
                    <a:ext uri="{9D8B030D-6E8A-4147-A177-3AD203B41FA5}">
                      <a16:colId xmlns:a16="http://schemas.microsoft.com/office/drawing/2014/main" val="2098363037"/>
                    </a:ext>
                  </a:extLst>
                </a:gridCol>
                <a:gridCol w="1754900">
                  <a:extLst>
                    <a:ext uri="{9D8B030D-6E8A-4147-A177-3AD203B41FA5}">
                      <a16:colId xmlns:a16="http://schemas.microsoft.com/office/drawing/2014/main" val="206434868"/>
                    </a:ext>
                  </a:extLst>
                </a:gridCol>
              </a:tblGrid>
              <a:tr h="302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강점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구체적 내용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경쟁력</a:t>
                      </a:r>
                    </a:p>
                  </a:txBody>
                  <a:tcPr marL="24749" marR="24749" marT="11423" marB="114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148005"/>
                  </a:ext>
                </a:extLst>
              </a:tr>
              <a:tr h="552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경영진 역량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센터장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박사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23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경력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(32~34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전략적 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의사결정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 방향 설정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638816"/>
                  </a:ext>
                </a:extLst>
              </a:tr>
              <a:tr h="552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ESG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전문성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ESG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경영전문가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박사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탄소중립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산업전환의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최신 트렌드 대응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003548"/>
                  </a:ext>
                </a:extLst>
              </a:tr>
              <a:tr h="289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산업전환 경험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spc="-5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64.7%</a:t>
                      </a:r>
                      <a:r>
                        <a:rPr lang="ko-KR" altLang="en-US" sz="1000" b="1" spc="-50" baseline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산업전환 경험자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현장 사례 기반 컨설팅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22616"/>
                  </a:ext>
                </a:extLst>
              </a:tr>
              <a:tr h="552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 안정성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21.1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근무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70.6%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이상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 연속성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 문화 내재화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219604"/>
                  </a:ext>
                </a:extLst>
              </a:tr>
              <a:tr h="289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석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박사 비중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70.6%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고학력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이론적 근거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실무 결합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22930"/>
                  </a:ext>
                </a:extLst>
              </a:tr>
              <a:tr h="289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 다층화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총괄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사업의 모든 단계 체계적 관리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80335"/>
                  </a:ext>
                </a:extLst>
              </a:tr>
              <a:tr h="552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세대 조합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(47.1%) + 40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(35.3%) + 30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(17.6%)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경험과 활동력의 최적 조합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548024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2B1948A8-8ECB-A232-F1D1-599BBD30E556}"/>
              </a:ext>
            </a:extLst>
          </p:cNvPr>
          <p:cNvGrpSpPr/>
          <p:nvPr/>
        </p:nvGrpSpPr>
        <p:grpSpPr>
          <a:xfrm>
            <a:off x="444954" y="1959442"/>
            <a:ext cx="2476026" cy="253916"/>
            <a:chOff x="444954" y="2154076"/>
            <a:chExt cx="2476026" cy="253916"/>
          </a:xfrm>
        </p:grpSpPr>
        <p:pic>
          <p:nvPicPr>
            <p:cNvPr id="13" name="그래픽 12" descr="배지 체크 표시1 단색으로 채워진">
              <a:extLst>
                <a:ext uri="{FF2B5EF4-FFF2-40B4-BE49-F238E27FC236}">
                  <a16:creationId xmlns:a16="http://schemas.microsoft.com/office/drawing/2014/main" id="{632DABA5-8CBB-8893-0A2A-491EC99B7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060BAA-BF9A-858A-6FC1-FA09E9C10501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사업관리 전담인력 강점 및 경쟁력</a:t>
              </a:r>
              <a:endParaRPr lang="ko-KR" altLang="en-US" sz="1050" b="1" spc="-8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40C3"/>
                </a:solidFill>
              </a:endParaRPr>
            </a:p>
          </p:txBody>
        </p:sp>
      </p:grpSp>
      <p:sp>
        <p:nvSpPr>
          <p:cNvPr id="15" name="사각형: 둥근 위쪽 모서리 14">
            <a:extLst>
              <a:ext uri="{FF2B5EF4-FFF2-40B4-BE49-F238E27FC236}">
                <a16:creationId xmlns:a16="http://schemas.microsoft.com/office/drawing/2014/main" id="{4DE897C8-FEDB-93C6-F8E5-791354CE47E1}"/>
              </a:ext>
            </a:extLst>
          </p:cNvPr>
          <p:cNvSpPr/>
          <p:nvPr/>
        </p:nvSpPr>
        <p:spPr bwMode="auto">
          <a:xfrm>
            <a:off x="5350328" y="2356824"/>
            <a:ext cx="3956957" cy="2152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ESG·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산업전환 전문성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9BA46085-748C-1606-4482-5A5BF56D879E}"/>
              </a:ext>
            </a:extLst>
          </p:cNvPr>
          <p:cNvSpPr/>
          <p:nvPr/>
        </p:nvSpPr>
        <p:spPr bwMode="auto">
          <a:xfrm>
            <a:off x="5350328" y="2572036"/>
            <a:ext cx="3956957" cy="87749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ESG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전문가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명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관리자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명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ESG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분야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명 </a:t>
            </a:r>
            <a:r>
              <a:rPr lang="ko-KR" altLang="en-US" sz="10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전문팀</a:t>
            </a:r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산업전환 경험자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64.7% 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현장 경험 기반 컨설팅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평균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32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경력의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ESG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전문가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업계 최고 권위자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다분야 산업전환 경험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업종별 맞춤형 대응 가능</a:t>
            </a: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C8F932B4-4111-7EF8-F6DF-81D66F3F7C2E}"/>
              </a:ext>
            </a:extLst>
          </p:cNvPr>
          <p:cNvSpPr/>
          <p:nvPr/>
        </p:nvSpPr>
        <p:spPr bwMode="auto">
          <a:xfrm>
            <a:off x="5350328" y="3490776"/>
            <a:ext cx="3956957" cy="2152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조직 안정성 및 신뢰도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124D16AF-F6D1-139F-CA64-2464E555F95C}"/>
              </a:ext>
            </a:extLst>
          </p:cNvPr>
          <p:cNvSpPr/>
          <p:nvPr/>
        </p:nvSpPr>
        <p:spPr bwMode="auto">
          <a:xfrm>
            <a:off x="5350328" y="3705988"/>
            <a:ext cx="3956957" cy="87749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평균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21.1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근무경력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조직과 사업을 깊이 있게 이해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70.6%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가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년 이상 근무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변동성 거의 없는 </a:t>
            </a:r>
            <a:r>
              <a:rPr lang="ko-KR" altLang="en-US" sz="10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안정팀</a:t>
            </a:r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50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 중심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+ 40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·30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 결합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세대별 강점 극대화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전담 인력으로 장기 운영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사업 연속성 완벽 확보</a:t>
            </a: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3C7640C0-0E45-F35D-35FE-BCF4F6AD3A0A}"/>
              </a:ext>
            </a:extLst>
          </p:cNvPr>
          <p:cNvSpPr/>
          <p:nvPr/>
        </p:nvSpPr>
        <p:spPr bwMode="auto">
          <a:xfrm>
            <a:off x="5350328" y="4644532"/>
            <a:ext cx="3956957" cy="2152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다층적 역할 체계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87DB806D-70E5-A0A7-6BE0-2DC292BDE1EC}"/>
              </a:ext>
            </a:extLst>
          </p:cNvPr>
          <p:cNvSpPr/>
          <p:nvPr/>
        </p:nvSpPr>
        <p:spPr bwMode="auto">
          <a:xfrm>
            <a:off x="5350328" y="4859744"/>
            <a:ext cx="3956957" cy="87749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총괄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 →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수행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7 →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운영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5 →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네트워크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 →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협력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 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계층적 구조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각 분야별 전문가로 구성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기능별 최적화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컨설팅 수행부터 네트워크까지 일원화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사업 효율성 극대화</a:t>
            </a:r>
          </a:p>
          <a:p>
            <a:pPr defTabSz="914400">
              <a:spcAft>
                <a:spcPts val="4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전담 인력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17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명으로 통합 관리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사업 품질 보증</a:t>
            </a:r>
          </a:p>
        </p:txBody>
      </p:sp>
    </p:spTree>
    <p:extLst>
      <p:ext uri="{BB962C8B-B14F-4D97-AF65-F5344CB8AC3E}">
        <p14:creationId xmlns:p14="http://schemas.microsoft.com/office/powerpoint/2010/main" val="1342629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FB59A-58C0-4FF8-91A0-4B8864257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다리꼴 48">
            <a:extLst>
              <a:ext uri="{FF2B5EF4-FFF2-40B4-BE49-F238E27FC236}">
                <a16:creationId xmlns:a16="http://schemas.microsoft.com/office/drawing/2014/main" id="{B915C545-97A2-03EC-C4DD-368BCC52FCE1}"/>
              </a:ext>
            </a:extLst>
          </p:cNvPr>
          <p:cNvSpPr/>
          <p:nvPr/>
        </p:nvSpPr>
        <p:spPr bwMode="auto">
          <a:xfrm rot="16200000">
            <a:off x="5704957" y="3712248"/>
            <a:ext cx="3515086" cy="671566"/>
          </a:xfrm>
          <a:prstGeom prst="trapezoid">
            <a:avLst>
              <a:gd name="adj" fmla="val 119286"/>
            </a:avLst>
          </a:prstGeom>
          <a:gradFill flip="none" rotWithShape="1">
            <a:gsLst>
              <a:gs pos="0">
                <a:sysClr val="window" lastClr="FFFFFF"/>
              </a:gs>
              <a:gs pos="78000">
                <a:schemeClr val="bg1">
                  <a:lumMod val="85000"/>
                </a:schemeClr>
              </a:gs>
            </a:gsLst>
            <a:lin ang="5400000" scaled="1"/>
            <a:tileRect/>
          </a:gra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88900" marR="0" indent="-88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5" name="오른쪽 화살표 141">
            <a:extLst>
              <a:ext uri="{FF2B5EF4-FFF2-40B4-BE49-F238E27FC236}">
                <a16:creationId xmlns:a16="http://schemas.microsoft.com/office/drawing/2014/main" id="{063DED92-1FA3-8885-6ED4-C2666D5529B1}"/>
              </a:ext>
            </a:extLst>
          </p:cNvPr>
          <p:cNvSpPr/>
          <p:nvPr/>
        </p:nvSpPr>
        <p:spPr>
          <a:xfrm rot="5400000">
            <a:off x="1978016" y="2721565"/>
            <a:ext cx="261675" cy="1036820"/>
          </a:xfrm>
          <a:prstGeom prst="rightArrow">
            <a:avLst>
              <a:gd name="adj1" fmla="val 83821"/>
              <a:gd name="adj2" fmla="val 50000"/>
            </a:avLst>
          </a:prstGeom>
          <a:gradFill flip="none" rotWithShape="1">
            <a:gsLst>
              <a:gs pos="0">
                <a:sysClr val="window" lastClr="FFFFFF">
                  <a:lumMod val="50000"/>
                </a:sysClr>
              </a:gs>
              <a:gs pos="100000">
                <a:srgbClr val="DDDDDD">
                  <a:lumMod val="30000"/>
                  <a:lumOff val="7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8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3FDECC07-E4F7-B443-8C17-3876FF83F92C}"/>
              </a:ext>
            </a:extLst>
          </p:cNvPr>
          <p:cNvSpPr/>
          <p:nvPr/>
        </p:nvSpPr>
        <p:spPr bwMode="auto">
          <a:xfrm>
            <a:off x="440539" y="3670047"/>
            <a:ext cx="3336630" cy="220916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E1218C-EC90-6622-9F52-299DFF735408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G-DAX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진단 기반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정책 </a:t>
            </a:r>
            <a:r>
              <a:rPr lang="ko-KR" altLang="en-US" spc="-30" dirty="0" err="1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브릿지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강화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표준화</a:t>
            </a:r>
            <a:r>
              <a:rPr lang="en-US" altLang="ko-KR" spc="-30" dirty="0">
                <a:solidFill>
                  <a:srgbClr val="E357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맞춤</a:t>
            </a:r>
            <a:r>
              <a:rPr lang="en-US" altLang="ko-KR" spc="-30" dirty="0">
                <a:solidFill>
                  <a:srgbClr val="E357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통합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의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단계 매칭 솔루션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78B9D9-9449-D537-8047-1074FCA867D2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컨설팅 성과가 실제 기업 변화로 이어지도록 정책 </a:t>
            </a:r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브릿지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역할을 강화하고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표준 진단과 데이터 기반 매칭으로 </a:t>
            </a:r>
            <a:endParaRPr lang="en-US" altLang="ko-KR" sz="12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범부처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지원사업을 통합해 기업 상황과 컨설팅 단계에 맞춰 체계적으로 연계 지원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FD9C8F-3A4A-9FA4-F433-DEDDF453D08B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진단을 통해 기업의 잠재 수요를 도출하고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</a:t>
            </a:r>
          </a:p>
          <a:p>
            <a:pPr algn="ctr" defTabSz="914400"/>
            <a:r>
              <a:rPr lang="ko-KR" altLang="en-US" sz="1300" b="1" kern="0" spc="-5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범부처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 지원사업을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6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대 핵심 영역으로 </a:t>
            </a:r>
            <a:r>
              <a:rPr lang="ko-KR" altLang="en-US" sz="1300" b="1" kern="0" spc="-5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재구조화하여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 기업의 상황에 최적으로 조합한 패키지형 지원을 제공합니다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9A4CD-7537-B4B5-0AA0-BDCC0C26591D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고용안정지원 연계</a:t>
            </a:r>
            <a:r>
              <a:rPr lang="en-US" altLang="ko-KR" sz="120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신청 지원계획</a:t>
            </a:r>
            <a:endParaRPr lang="ko-KR" altLang="en-US" sz="1200" dirty="0">
              <a:solidFill>
                <a:srgbClr val="004A99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45689B-FA44-FD25-6EB4-BF16F3252438}"/>
              </a:ext>
            </a:extLst>
          </p:cNvPr>
          <p:cNvSpPr/>
          <p:nvPr/>
        </p:nvSpPr>
        <p:spPr bwMode="auto">
          <a:xfrm>
            <a:off x="214072" y="1318436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고용안정지원</a:t>
            </a:r>
            <a:endParaRPr lang="en-US" altLang="ko-KR" sz="1600" kern="0" spc="-15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altLang="ko-KR" sz="1200" i="0" u="none" strike="noStrike" kern="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1200" i="0" u="none" strike="noStrike" kern="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이행 고도화</a:t>
            </a:r>
            <a:r>
              <a:rPr kumimoji="0" lang="en-US" altLang="ko-KR" sz="1200" i="0" u="none" strike="noStrike" kern="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kumimoji="0" lang="ko-KR" altLang="en-US" sz="12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9B7291-29B7-2411-6BDC-E1BD4D40AEFC}"/>
              </a:ext>
            </a:extLst>
          </p:cNvPr>
          <p:cNvGrpSpPr/>
          <p:nvPr/>
        </p:nvGrpSpPr>
        <p:grpSpPr>
          <a:xfrm>
            <a:off x="444954" y="1959442"/>
            <a:ext cx="2476026" cy="253317"/>
            <a:chOff x="444954" y="2154076"/>
            <a:chExt cx="2476026" cy="253317"/>
          </a:xfrm>
        </p:grpSpPr>
        <p:pic>
          <p:nvPicPr>
            <p:cNvPr id="6" name="그래픽 5" descr="배지 체크 표시1 단색으로 채워진">
              <a:extLst>
                <a:ext uri="{FF2B5EF4-FFF2-40B4-BE49-F238E27FC236}">
                  <a16:creationId xmlns:a16="http://schemas.microsoft.com/office/drawing/2014/main" id="{20FF43E3-957D-5805-0E16-BF8234900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46DE53-8499-69C6-8159-B680803632AC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이행 고도화 전략</a:t>
              </a:r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: 3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단계 솔루션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FA271C1-08DA-C4DE-A1FD-2BE17E75DBBC}"/>
              </a:ext>
            </a:extLst>
          </p:cNvPr>
          <p:cNvGrpSpPr/>
          <p:nvPr/>
        </p:nvGrpSpPr>
        <p:grpSpPr>
          <a:xfrm>
            <a:off x="3961384" y="1953873"/>
            <a:ext cx="3614452" cy="253916"/>
            <a:chOff x="444954" y="2154076"/>
            <a:chExt cx="3614452" cy="253916"/>
          </a:xfrm>
        </p:grpSpPr>
        <p:pic>
          <p:nvPicPr>
            <p:cNvPr id="13" name="그래픽 12" descr="배지 체크 표시1 단색으로 채워진">
              <a:extLst>
                <a:ext uri="{FF2B5EF4-FFF2-40B4-BE49-F238E27FC236}">
                  <a16:creationId xmlns:a16="http://schemas.microsoft.com/office/drawing/2014/main" id="{A8C4D5DA-AAC2-DBA4-AC5B-13D7111F5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6AD3612-FA2F-81DB-5C61-7497D41C4A2C}"/>
                </a:ext>
              </a:extLst>
            </p:cNvPr>
            <p:cNvSpPr txBox="1"/>
            <p:nvPr/>
          </p:nvSpPr>
          <p:spPr>
            <a:xfrm>
              <a:off x="540852" y="2154076"/>
              <a:ext cx="351855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6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대 핵심 영역 통합 매칭 및 기업 유형별 최적 조합 사례</a:t>
              </a:r>
            </a:p>
          </p:txBody>
        </p:sp>
      </p:grpSp>
      <p:sp>
        <p:nvSpPr>
          <p:cNvPr id="15" name="사각형: 둥근 위쪽 모서리 14">
            <a:extLst>
              <a:ext uri="{FF2B5EF4-FFF2-40B4-BE49-F238E27FC236}">
                <a16:creationId xmlns:a16="http://schemas.microsoft.com/office/drawing/2014/main" id="{24C8DB7E-B1DB-5556-DAB0-E22B55D9E149}"/>
              </a:ext>
            </a:extLst>
          </p:cNvPr>
          <p:cNvSpPr/>
          <p:nvPr/>
        </p:nvSpPr>
        <p:spPr bwMode="auto">
          <a:xfrm>
            <a:off x="444956" y="2290489"/>
            <a:ext cx="3336630" cy="20644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현재의 문제점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DE0CA752-8F5B-BEFD-4A5F-C9E525934592}"/>
              </a:ext>
            </a:extLst>
          </p:cNvPr>
          <p:cNvSpPr/>
          <p:nvPr/>
        </p:nvSpPr>
        <p:spPr bwMode="auto">
          <a:xfrm>
            <a:off x="444954" y="2496931"/>
            <a:ext cx="3336632" cy="62727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① 정보 파편화 → 기업 정부 탐색 시간 ↑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행정비용 ↑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② 현장 니즈 미스매치 → 지원내용 불일치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성과 편차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③ 성과관리 한계 → 통합 분석 어려움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 효과성 평가</a:t>
            </a: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9B85645F-6F22-6A85-2149-CF8325835013}"/>
              </a:ext>
            </a:extLst>
          </p:cNvPr>
          <p:cNvSpPr/>
          <p:nvPr/>
        </p:nvSpPr>
        <p:spPr bwMode="auto">
          <a:xfrm>
            <a:off x="444954" y="3408373"/>
            <a:ext cx="3336632" cy="26167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고용안정지원 연계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신청 지원계획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이행 고도화 전략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96D038F-4DBA-9C1B-916E-F73BB2845E1E}"/>
              </a:ext>
            </a:extLst>
          </p:cNvPr>
          <p:cNvGrpSpPr/>
          <p:nvPr/>
        </p:nvGrpSpPr>
        <p:grpSpPr>
          <a:xfrm>
            <a:off x="612786" y="3830624"/>
            <a:ext cx="3057693" cy="527725"/>
            <a:chOff x="655011" y="3860980"/>
            <a:chExt cx="2940596" cy="849901"/>
          </a:xfrm>
        </p:grpSpPr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DE19D37B-C951-274F-B4F5-6FC1C52380D2}"/>
                </a:ext>
              </a:extLst>
            </p:cNvPr>
            <p:cNvSpPr/>
            <p:nvPr/>
          </p:nvSpPr>
          <p:spPr bwMode="auto">
            <a:xfrm>
              <a:off x="655011" y="3860980"/>
              <a:ext cx="1014763" cy="84990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[1</a:t>
              </a:r>
              <a:r>
                <a:rPr lang="ko-KR" altLang="en-US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] </a:t>
              </a:r>
            </a:p>
            <a:p>
              <a:pPr algn="ctr" defTabSz="914400"/>
              <a:r>
                <a:rPr lang="ko-KR" altLang="en-US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표준화된 진단 프레임워크</a:t>
              </a: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" name="사각형: 둥근 위쪽 모서리 19">
              <a:extLst>
                <a:ext uri="{FF2B5EF4-FFF2-40B4-BE49-F238E27FC236}">
                  <a16:creationId xmlns:a16="http://schemas.microsoft.com/office/drawing/2014/main" id="{30F1492F-876A-3FB7-9EA0-1BC9C65AEF5E}"/>
                </a:ext>
              </a:extLst>
            </p:cNvPr>
            <p:cNvSpPr/>
            <p:nvPr/>
          </p:nvSpPr>
          <p:spPr bwMode="auto">
            <a:xfrm>
              <a:off x="1669774" y="3860980"/>
              <a:ext cx="1925833" cy="84990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G-DAX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기반 객관적 분석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재무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인력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기술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전환준비도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잠재 수요 도출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3198C26-1307-0F9F-2BCE-B7FD11C2C52E}"/>
              </a:ext>
            </a:extLst>
          </p:cNvPr>
          <p:cNvGrpSpPr/>
          <p:nvPr/>
        </p:nvGrpSpPr>
        <p:grpSpPr>
          <a:xfrm>
            <a:off x="616492" y="4478992"/>
            <a:ext cx="3057693" cy="527725"/>
            <a:chOff x="655011" y="3860980"/>
            <a:chExt cx="2940596" cy="849901"/>
          </a:xfrm>
        </p:grpSpPr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id="{B489B7AA-F81E-AA08-CA8C-1ADE5EE3EBEF}"/>
                </a:ext>
              </a:extLst>
            </p:cNvPr>
            <p:cNvSpPr/>
            <p:nvPr/>
          </p:nvSpPr>
          <p:spPr bwMode="auto">
            <a:xfrm>
              <a:off x="655011" y="3860980"/>
              <a:ext cx="1014763" cy="84990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[2</a:t>
              </a:r>
              <a:r>
                <a:rPr lang="ko-KR" altLang="en-US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] </a:t>
              </a:r>
            </a:p>
            <a:p>
              <a:pPr algn="ctr" defTabSz="914400"/>
              <a:r>
                <a:rPr lang="ko-KR" altLang="en-US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데이터 기반 </a:t>
              </a:r>
              <a:endParaRPr lang="en-US" altLang="ko-KR" sz="1000" b="1" kern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  <a:p>
              <a:pPr algn="ctr" defTabSz="914400"/>
              <a:r>
                <a:rPr lang="ko-KR" altLang="en-US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맞춤 매칭</a:t>
              </a: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id="{4A653C05-808D-60F2-CA8A-03C4F18FC562}"/>
                </a:ext>
              </a:extLst>
            </p:cNvPr>
            <p:cNvSpPr/>
            <p:nvPr/>
          </p:nvSpPr>
          <p:spPr bwMode="auto">
            <a:xfrm>
              <a:off x="1669774" y="3860980"/>
              <a:ext cx="1925833" cy="84990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진단 결과 정량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정성 데이터화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최적화된 지원사업 조합 패키지 제시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89FDECD-8A52-7113-13E8-78F75B792EF4}"/>
              </a:ext>
            </a:extLst>
          </p:cNvPr>
          <p:cNvGrpSpPr/>
          <p:nvPr/>
        </p:nvGrpSpPr>
        <p:grpSpPr>
          <a:xfrm>
            <a:off x="612786" y="5149862"/>
            <a:ext cx="3057693" cy="527725"/>
            <a:chOff x="655011" y="3860980"/>
            <a:chExt cx="2940596" cy="849901"/>
          </a:xfrm>
        </p:grpSpPr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D4799866-EC31-A289-6901-2762FAE8BD6D}"/>
                </a:ext>
              </a:extLst>
            </p:cNvPr>
            <p:cNvSpPr/>
            <p:nvPr/>
          </p:nvSpPr>
          <p:spPr bwMode="auto">
            <a:xfrm>
              <a:off x="655011" y="3860980"/>
              <a:ext cx="1014763" cy="84990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[3</a:t>
              </a:r>
              <a:r>
                <a:rPr lang="ko-KR" altLang="en-US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</a:t>
              </a:r>
              <a:r>
                <a:rPr lang="en-US" altLang="ko-KR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] </a:t>
              </a:r>
            </a:p>
            <a:p>
              <a:pPr algn="ctr" defTabSz="914400"/>
              <a:r>
                <a:rPr lang="ko-KR" altLang="en-US" sz="1000" b="1" kern="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범부처</a:t>
              </a:r>
              <a:r>
                <a:rPr lang="ko-KR" altLang="en-US" sz="1000" b="1" kern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 통합 운영체계</a:t>
              </a: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3" name="사각형: 둥근 위쪽 모서리 32">
              <a:extLst>
                <a:ext uri="{FF2B5EF4-FFF2-40B4-BE49-F238E27FC236}">
                  <a16:creationId xmlns:a16="http://schemas.microsoft.com/office/drawing/2014/main" id="{0AA51972-FCE7-82E2-253B-A0E7553B5062}"/>
                </a:ext>
              </a:extLst>
            </p:cNvPr>
            <p:cNvSpPr/>
            <p:nvPr/>
          </p:nvSpPr>
          <p:spPr bwMode="auto">
            <a:xfrm>
              <a:off x="1669774" y="3860980"/>
              <a:ext cx="1925833" cy="84990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안내→신청→수행→사후관리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전 과정 원스톱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성과 선순환 구조 확립</a:t>
              </a:r>
            </a:p>
          </p:txBody>
        </p:sp>
      </p:grp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9DACDD3-3665-3C73-0F10-828EE32FED99}"/>
              </a:ext>
            </a:extLst>
          </p:cNvPr>
          <p:cNvCxnSpPr/>
          <p:nvPr/>
        </p:nvCxnSpPr>
        <p:spPr bwMode="auto">
          <a:xfrm>
            <a:off x="3902403" y="1993242"/>
            <a:ext cx="0" cy="3885965"/>
          </a:xfrm>
          <a:prstGeom prst="line">
            <a:avLst/>
          </a:prstGeom>
          <a:solidFill>
            <a:srgbClr val="970F43"/>
          </a:solidFill>
          <a:ln w="6350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6171E459-70EA-CCE7-C511-3B6F637F7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450373"/>
              </p:ext>
            </p:extLst>
          </p:nvPr>
        </p:nvGraphicFramePr>
        <p:xfrm>
          <a:off x="4063043" y="2290489"/>
          <a:ext cx="3310146" cy="3515086"/>
        </p:xfrm>
        <a:graphic>
          <a:graphicData uri="http://schemas.openxmlformats.org/drawingml/2006/table">
            <a:tbl>
              <a:tblPr/>
              <a:tblGrid>
                <a:gridCol w="383633">
                  <a:extLst>
                    <a:ext uri="{9D8B030D-6E8A-4147-A177-3AD203B41FA5}">
                      <a16:colId xmlns:a16="http://schemas.microsoft.com/office/drawing/2014/main" val="4276685143"/>
                    </a:ext>
                  </a:extLst>
                </a:gridCol>
                <a:gridCol w="2926513">
                  <a:extLst>
                    <a:ext uri="{9D8B030D-6E8A-4147-A177-3AD203B41FA5}">
                      <a16:colId xmlns:a16="http://schemas.microsoft.com/office/drawing/2014/main" val="3588127402"/>
                    </a:ext>
                  </a:extLst>
                </a:gridCol>
              </a:tblGrid>
              <a:tr h="5243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인력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채용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 고용촉진금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청년도약금 등</a:t>
                      </a:r>
                    </a:p>
                    <a:p>
                      <a:pPr algn="l">
                        <a:buNone/>
                      </a:pP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통합매칭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여러 대상을 동시 채용 지원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661678"/>
                  </a:ext>
                </a:extLst>
              </a:tr>
              <a:tr h="598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직업훈련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전환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 산업전환금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인재키움프리미엄</a:t>
                      </a:r>
                      <a:endParaRPr lang="ko-KR" altLang="en-US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통합매칭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디지털 전환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직업능력 개발</a:t>
                      </a:r>
                    </a:p>
                  </a:txBody>
                  <a:tcPr marL="36000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243999"/>
                  </a:ext>
                </a:extLst>
              </a:tr>
              <a:tr h="598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일경험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인턴십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 </a:t>
                      </a: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미래내일일경험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일학습병행제</a:t>
                      </a:r>
                      <a:endParaRPr lang="ko-KR" altLang="en-US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통합매칭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업종별 특화 프로그램 분류</a:t>
                      </a:r>
                      <a:endParaRPr lang="ko-KR" altLang="en-US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367300"/>
                  </a:ext>
                </a:extLst>
              </a:tr>
              <a:tr h="598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생산성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근무환경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 스마트공장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클린사업장</a:t>
                      </a:r>
                      <a:endParaRPr lang="ko-KR" altLang="en-US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통합매칭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제조혁신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안전보건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환경 패키지</a:t>
                      </a:r>
                      <a:endParaRPr lang="ko-KR" altLang="en-US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7086"/>
                  </a:ext>
                </a:extLst>
              </a:tr>
              <a:tr h="598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지역산업맞춤형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 인력양성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산단지원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지역육성</a:t>
                      </a:r>
                    </a:p>
                    <a:p>
                      <a:pPr algn="l">
                        <a:buNone/>
                      </a:pP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통합매칭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지역산업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지역일자리 시너지</a:t>
                      </a:r>
                    </a:p>
                  </a:txBody>
                  <a:tcPr marL="36000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75326"/>
                  </a:ext>
                </a:extLst>
              </a:tr>
              <a:tr h="598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기타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금융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기술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E3574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사업재편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사업전환자금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재기</a:t>
                      </a:r>
                    </a:p>
                    <a:p>
                      <a:pPr algn="l">
                        <a:buNone/>
                      </a:pP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통합매칭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고용유지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사업재편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spc="-50" baseline="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재창업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단계별 연결</a:t>
                      </a:r>
                      <a:endParaRPr lang="ko-KR" altLang="en-US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754053"/>
                  </a:ext>
                </a:extLst>
              </a:tr>
            </a:tbl>
          </a:graphicData>
        </a:graphic>
      </p:graphicFrame>
      <p:grpSp>
        <p:nvGrpSpPr>
          <p:cNvPr id="48" name="그룹 47">
            <a:extLst>
              <a:ext uri="{FF2B5EF4-FFF2-40B4-BE49-F238E27FC236}">
                <a16:creationId xmlns:a16="http://schemas.microsoft.com/office/drawing/2014/main" id="{FDB45252-BAF3-FCEF-807A-0E06939C0B6C}"/>
              </a:ext>
            </a:extLst>
          </p:cNvPr>
          <p:cNvGrpSpPr/>
          <p:nvPr/>
        </p:nvGrpSpPr>
        <p:grpSpPr>
          <a:xfrm>
            <a:off x="7729276" y="2290488"/>
            <a:ext cx="1662956" cy="3515086"/>
            <a:chOff x="7595184" y="2282984"/>
            <a:chExt cx="1796644" cy="3818396"/>
          </a:xfrm>
        </p:grpSpPr>
        <p:sp>
          <p:nvSpPr>
            <p:cNvPr id="40" name="사각형: 둥근 위쪽 모서리 39">
              <a:extLst>
                <a:ext uri="{FF2B5EF4-FFF2-40B4-BE49-F238E27FC236}">
                  <a16:creationId xmlns:a16="http://schemas.microsoft.com/office/drawing/2014/main" id="{49BF1E7D-43F1-8FD5-18A4-09D364D3E38E}"/>
                </a:ext>
              </a:extLst>
            </p:cNvPr>
            <p:cNvSpPr/>
            <p:nvPr/>
          </p:nvSpPr>
          <p:spPr bwMode="auto">
            <a:xfrm>
              <a:off x="7595184" y="2282984"/>
              <a:ext cx="1796644" cy="21521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8A7A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Case 1: </a:t>
              </a:r>
              <a:r>
                <a:rPr lang="ko-KR" altLang="en-US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청년 채용 </a:t>
              </a:r>
              <a:r>
                <a:rPr lang="en-US" altLang="ko-KR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+ </a:t>
              </a:r>
              <a:r>
                <a:rPr lang="ko-KR" altLang="en-US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교육</a:t>
              </a:r>
              <a:endParaRPr kumimoji="0" lang="ko-KR" altLang="en-US" sz="9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1" name="사각형: 둥근 위쪽 모서리 40">
              <a:extLst>
                <a:ext uri="{FF2B5EF4-FFF2-40B4-BE49-F238E27FC236}">
                  <a16:creationId xmlns:a16="http://schemas.microsoft.com/office/drawing/2014/main" id="{E1946085-D59D-0E04-E0A1-7A145DDF7849}"/>
                </a:ext>
              </a:extLst>
            </p:cNvPr>
            <p:cNvSpPr/>
            <p:nvPr/>
          </p:nvSpPr>
          <p:spPr bwMode="auto">
            <a:xfrm>
              <a:off x="7595184" y="2498196"/>
              <a:ext cx="1796644" cy="65578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>
                <a:spcAft>
                  <a:spcPts val="200"/>
                </a:spcAft>
              </a:pPr>
              <a:r>
                <a:rPr lang="ko-KR" altLang="en-US" sz="900" b="1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고용부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청년도약금 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</a:p>
            <a:p>
              <a:pPr algn="ctr" defTabSz="914400">
                <a:spcAft>
                  <a:spcPts val="200"/>
                </a:spcAft>
              </a:pPr>
              <a:r>
                <a:rPr lang="ko-KR" altLang="en-US" sz="900" b="1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인재키움프리미엄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endPara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>
                <a:spcAft>
                  <a:spcPts val="200"/>
                </a:spcAft>
              </a:pP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=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채용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교육 동시</a:t>
              </a:r>
            </a:p>
          </p:txBody>
        </p:sp>
        <p:sp>
          <p:nvSpPr>
            <p:cNvPr id="42" name="사각형: 둥근 위쪽 모서리 41">
              <a:extLst>
                <a:ext uri="{FF2B5EF4-FFF2-40B4-BE49-F238E27FC236}">
                  <a16:creationId xmlns:a16="http://schemas.microsoft.com/office/drawing/2014/main" id="{0F407DD6-45DD-D82D-CF98-324F3606AFA8}"/>
                </a:ext>
              </a:extLst>
            </p:cNvPr>
            <p:cNvSpPr/>
            <p:nvPr/>
          </p:nvSpPr>
          <p:spPr bwMode="auto">
            <a:xfrm>
              <a:off x="7595184" y="3261365"/>
              <a:ext cx="1796644" cy="21521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8A7A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Case 2: </a:t>
              </a:r>
              <a:r>
                <a:rPr lang="ko-KR" altLang="en-US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디지털 전환 </a:t>
              </a:r>
              <a:r>
                <a:rPr lang="en-US" altLang="ko-KR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+ </a:t>
              </a:r>
              <a:r>
                <a:rPr lang="ko-KR" altLang="en-US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설비투자</a:t>
              </a:r>
              <a:endParaRPr kumimoji="0" lang="ko-KR" altLang="en-US" sz="9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3" name="사각형: 둥근 위쪽 모서리 42">
              <a:extLst>
                <a:ext uri="{FF2B5EF4-FFF2-40B4-BE49-F238E27FC236}">
                  <a16:creationId xmlns:a16="http://schemas.microsoft.com/office/drawing/2014/main" id="{8DF9412C-15FA-EBB3-C8DC-F04C88DDBAC0}"/>
                </a:ext>
              </a:extLst>
            </p:cNvPr>
            <p:cNvSpPr/>
            <p:nvPr/>
          </p:nvSpPr>
          <p:spPr bwMode="auto">
            <a:xfrm>
              <a:off x="7595184" y="3476577"/>
              <a:ext cx="1796644" cy="65578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>
                <a:spcAft>
                  <a:spcPts val="200"/>
                </a:spcAft>
              </a:pPr>
              <a:r>
                <a:rPr lang="ko-KR" altLang="en-US" sz="900" b="1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고용부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K-Digital </a:t>
              </a:r>
            </a:p>
            <a:p>
              <a:pPr algn="ctr" defTabSz="914400">
                <a:spcAft>
                  <a:spcPts val="200"/>
                </a:spcAft>
              </a:pP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900" b="1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산업부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스마트공장 </a:t>
              </a:r>
              <a:endPara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>
                <a:spcAft>
                  <a:spcPts val="200"/>
                </a:spcAft>
              </a:pP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=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인력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설비 통합</a:t>
              </a:r>
            </a:p>
          </p:txBody>
        </p:sp>
        <p:sp>
          <p:nvSpPr>
            <p:cNvPr id="44" name="사각형: 둥근 위쪽 모서리 43">
              <a:extLst>
                <a:ext uri="{FF2B5EF4-FFF2-40B4-BE49-F238E27FC236}">
                  <a16:creationId xmlns:a16="http://schemas.microsoft.com/office/drawing/2014/main" id="{009F04F6-D65D-F50E-E633-0B8A140D5538}"/>
                </a:ext>
              </a:extLst>
            </p:cNvPr>
            <p:cNvSpPr/>
            <p:nvPr/>
          </p:nvSpPr>
          <p:spPr bwMode="auto">
            <a:xfrm>
              <a:off x="7595184" y="4248053"/>
              <a:ext cx="1796644" cy="21521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8A7A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Case 3: </a:t>
              </a:r>
              <a:r>
                <a:rPr lang="ko-KR" altLang="en-US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지역산업 </a:t>
              </a:r>
              <a:r>
                <a:rPr lang="en-US" altLang="ko-KR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+ </a:t>
              </a:r>
              <a:r>
                <a:rPr lang="ko-KR" altLang="en-US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일자리</a:t>
              </a:r>
              <a:endParaRPr kumimoji="0" lang="ko-KR" altLang="en-US" sz="9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5" name="사각형: 둥근 위쪽 모서리 44">
              <a:extLst>
                <a:ext uri="{FF2B5EF4-FFF2-40B4-BE49-F238E27FC236}">
                  <a16:creationId xmlns:a16="http://schemas.microsoft.com/office/drawing/2014/main" id="{E1C3AC64-DFC0-96A3-F677-A46A305D1901}"/>
                </a:ext>
              </a:extLst>
            </p:cNvPr>
            <p:cNvSpPr/>
            <p:nvPr/>
          </p:nvSpPr>
          <p:spPr bwMode="auto">
            <a:xfrm>
              <a:off x="7595184" y="4463265"/>
              <a:ext cx="1796644" cy="65578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>
                <a:spcAft>
                  <a:spcPts val="200"/>
                </a:spcAft>
              </a:pPr>
              <a:r>
                <a:rPr lang="ko-KR" altLang="en-US" sz="900" b="1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중기부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지역특화 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R&amp;D </a:t>
              </a:r>
            </a:p>
            <a:p>
              <a:pPr algn="ctr" defTabSz="914400">
                <a:spcAft>
                  <a:spcPts val="200"/>
                </a:spcAft>
              </a:pP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900" b="1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고용부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지역일자리 </a:t>
              </a:r>
              <a:endPara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>
                <a:spcAft>
                  <a:spcPts val="200"/>
                </a:spcAft>
              </a:pP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=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산업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고용 연계</a:t>
              </a:r>
            </a:p>
          </p:txBody>
        </p:sp>
        <p:sp>
          <p:nvSpPr>
            <p:cNvPr id="46" name="사각형: 둥근 위쪽 모서리 45">
              <a:extLst>
                <a:ext uri="{FF2B5EF4-FFF2-40B4-BE49-F238E27FC236}">
                  <a16:creationId xmlns:a16="http://schemas.microsoft.com/office/drawing/2014/main" id="{464FD8B7-6941-6F3D-2886-109167AA0539}"/>
                </a:ext>
              </a:extLst>
            </p:cNvPr>
            <p:cNvSpPr/>
            <p:nvPr/>
          </p:nvSpPr>
          <p:spPr bwMode="auto">
            <a:xfrm>
              <a:off x="7595184" y="5230387"/>
              <a:ext cx="1796644" cy="21521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8A7A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Case 4: </a:t>
              </a:r>
              <a:r>
                <a:rPr lang="ko-KR" altLang="en-US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구조조정 </a:t>
              </a:r>
              <a:r>
                <a:rPr lang="en-US" altLang="ko-KR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+ </a:t>
              </a:r>
              <a:r>
                <a:rPr lang="ko-KR" altLang="en-US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유지 </a:t>
              </a:r>
              <a:r>
                <a:rPr lang="en-US" altLang="ko-KR" sz="9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+ </a:t>
              </a:r>
              <a:r>
                <a:rPr lang="ko-KR" altLang="en-US" sz="900" b="1" kern="0" spc="-10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재창업</a:t>
              </a:r>
              <a:endParaRPr kumimoji="0" lang="ko-KR" altLang="en-US" sz="9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94E87AB4-2CB2-0579-1292-629712BEAA0B}"/>
                </a:ext>
              </a:extLst>
            </p:cNvPr>
            <p:cNvSpPr/>
            <p:nvPr/>
          </p:nvSpPr>
          <p:spPr bwMode="auto">
            <a:xfrm>
              <a:off x="7595184" y="5445599"/>
              <a:ext cx="1796644" cy="65578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>
                <a:spcAft>
                  <a:spcPts val="200"/>
                </a:spcAft>
              </a:pP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고용유지금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(1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년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 +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사업재편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(2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년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 </a:t>
              </a:r>
            </a:p>
            <a:p>
              <a:pPr algn="ctr" defTabSz="914400">
                <a:spcAft>
                  <a:spcPts val="200"/>
                </a:spcAft>
              </a:pP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재기지원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(3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년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algn="ctr" defTabSz="914400">
                <a:spcAft>
                  <a:spcPts val="200"/>
                </a:spcAft>
              </a:pP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=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단계별 연착륙 지원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1762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8BFF-0440-3DCB-376E-1BE3298F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C016D47-1D3D-8BEE-4DEA-965074EE9FC2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신청부터 이행까지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원스톱 책임 관리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고용안정 성과 창출의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실질적 보장</a:t>
            </a:r>
            <a:endParaRPr lang="en-US" altLang="ko-KR" spc="-30" dirty="0">
              <a:solidFill>
                <a:srgbClr val="E3574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1D66EE-0632-42A4-EF68-BB6EBDB4E73B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고용안정지원</a:t>
            </a:r>
            <a:endParaRPr lang="en-US" altLang="ko-KR" sz="1600" kern="0" spc="-15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altLang="ko-KR" sz="1200" i="0" u="none" strike="noStrike" kern="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1200" i="0" u="none" strike="noStrike" kern="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이행 고도화</a:t>
            </a:r>
            <a:r>
              <a:rPr kumimoji="0" lang="en-US" altLang="ko-KR" sz="1200" i="0" u="none" strike="noStrike" kern="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kumimoji="0" lang="ko-KR" altLang="en-US" sz="12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7028B7-58D8-98F5-AAF1-DE1347170CE4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컨설팅 종료 이후에도 고용안정 성과가 실현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유지되도록 사업 신청부터 선정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이행 점검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후속 연계까지 </a:t>
            </a:r>
            <a:endParaRPr lang="en-US" altLang="ko-KR" sz="12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 과정을 원스톱으로 지원하고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사후 단계의 실행 리스크를 최소화하는 책임 관리 체계를 구축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A9C2D8-BE5E-8E06-1672-52A8406D8CC2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진단 → 매칭 → 신청 코칭 → 이행 관리 → 후속 연계</a:t>
            </a: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컨설팅에서 성과까지 모든 과정을 우리가 책임지는 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완전 통합형 정책 </a:t>
            </a:r>
            <a:r>
              <a:rPr lang="ko-KR" altLang="en-US" sz="1300" b="1" kern="0" spc="-5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브릿지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입니다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278C9C-539E-BC42-4CE7-77AB068E3ADA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고용안정지원 연계</a:t>
            </a:r>
            <a:r>
              <a:rPr lang="en-US" altLang="ko-KR" sz="120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신청 지원계획</a:t>
            </a:r>
            <a:endParaRPr lang="ko-KR" altLang="en-US" sz="1200" dirty="0">
              <a:solidFill>
                <a:srgbClr val="004A99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9D6FCC5-7E7C-4A52-826B-8850848B5988}"/>
              </a:ext>
            </a:extLst>
          </p:cNvPr>
          <p:cNvGrpSpPr/>
          <p:nvPr/>
        </p:nvGrpSpPr>
        <p:grpSpPr>
          <a:xfrm>
            <a:off x="444954" y="1959442"/>
            <a:ext cx="2476026" cy="253317"/>
            <a:chOff x="444954" y="2154076"/>
            <a:chExt cx="2476026" cy="253317"/>
          </a:xfrm>
        </p:grpSpPr>
        <p:pic>
          <p:nvPicPr>
            <p:cNvPr id="4" name="그래픽 3" descr="배지 체크 표시1 단색으로 채워진">
              <a:extLst>
                <a:ext uri="{FF2B5EF4-FFF2-40B4-BE49-F238E27FC236}">
                  <a16:creationId xmlns:a16="http://schemas.microsoft.com/office/drawing/2014/main" id="{302A71E6-041B-6816-BEF4-C906A8BB4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B0C005-B31B-5E68-D905-D07A364C92C6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전환</a:t>
              </a:r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: 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프로젝트 완료→ 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040C3"/>
                  </a:solidFill>
                </a:rPr>
                <a:t>지속 책임 관리</a:t>
              </a:r>
            </a:p>
          </p:txBody>
        </p:sp>
      </p:grp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F75D9422-B67A-27FB-62FE-DFC1C714BA8D}"/>
              </a:ext>
            </a:extLst>
          </p:cNvPr>
          <p:cNvSpPr/>
          <p:nvPr/>
        </p:nvSpPr>
        <p:spPr bwMode="auto">
          <a:xfrm>
            <a:off x="444956" y="2316766"/>
            <a:ext cx="507546" cy="34834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9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기존</a:t>
            </a:r>
            <a:endParaRPr lang="en-US" altLang="ko-KR" sz="900" b="1" kern="0" spc="-1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algn="ctr" defTabSz="914400"/>
            <a:r>
              <a:rPr lang="ko-KR" altLang="en-US" sz="9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인</a:t>
            </a:r>
            <a:r>
              <a:rPr kumimoji="0" lang="ko-KR" altLang="en-US" sz="900" b="1" i="0" u="none" strike="noStrike" kern="0" cap="none" spc="-10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식</a:t>
            </a:r>
            <a:endParaRPr kumimoji="0" lang="ko-KR" altLang="en-US" sz="9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73E1D25E-18DF-A767-4C98-1421300FDFDA}"/>
              </a:ext>
            </a:extLst>
          </p:cNvPr>
          <p:cNvSpPr/>
          <p:nvPr/>
        </p:nvSpPr>
        <p:spPr bwMode="auto">
          <a:xfrm>
            <a:off x="952500" y="2316766"/>
            <a:ext cx="2785860" cy="34834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컨설팅 종료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프로젝트 완료</a:t>
            </a: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834236A0-AC11-1017-1BE6-7AD0E23B9FCC}"/>
              </a:ext>
            </a:extLst>
          </p:cNvPr>
          <p:cNvSpPr/>
          <p:nvPr/>
        </p:nvSpPr>
        <p:spPr bwMode="auto">
          <a:xfrm>
            <a:off x="444954" y="2866347"/>
            <a:ext cx="507546" cy="34834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9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새로운</a:t>
            </a:r>
            <a:endParaRPr lang="en-US" altLang="ko-KR" sz="900" b="1" kern="0" spc="-1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algn="ctr" defTabSz="914400"/>
            <a:r>
              <a:rPr kumimoji="0" lang="ko-KR" altLang="en-US" sz="900" b="1" i="0" u="none" strike="noStrike" kern="0" cap="none" spc="-10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인식</a:t>
            </a:r>
            <a:endParaRPr kumimoji="0" lang="ko-KR" altLang="en-US" sz="9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291F83B2-E38F-D9AB-BDC2-420729157E31}"/>
              </a:ext>
            </a:extLst>
          </p:cNvPr>
          <p:cNvSpPr/>
          <p:nvPr/>
        </p:nvSpPr>
        <p:spPr bwMode="auto">
          <a:xfrm>
            <a:off x="952498" y="2866347"/>
            <a:ext cx="2785862" cy="34834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컨설팅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성과 창출의 출발점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지속 책임 관리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)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08B4031-2C26-B742-1F50-81561EA9D909}"/>
              </a:ext>
            </a:extLst>
          </p:cNvPr>
          <p:cNvSpPr>
            <a:spLocks noEditPoints="1"/>
          </p:cNvSpPr>
          <p:nvPr/>
        </p:nvSpPr>
        <p:spPr bwMode="auto">
          <a:xfrm rot="5400000" flipH="1">
            <a:off x="640953" y="2714588"/>
            <a:ext cx="115546" cy="116407"/>
          </a:xfrm>
          <a:custGeom>
            <a:avLst/>
            <a:gdLst>
              <a:gd name="T0" fmla="*/ 159 w 317"/>
              <a:gd name="T1" fmla="*/ 0 h 317"/>
              <a:gd name="T2" fmla="*/ 317 w 317"/>
              <a:gd name="T3" fmla="*/ 158 h 317"/>
              <a:gd name="T4" fmla="*/ 159 w 317"/>
              <a:gd name="T5" fmla="*/ 317 h 317"/>
              <a:gd name="T6" fmla="*/ 0 w 317"/>
              <a:gd name="T7" fmla="*/ 158 h 317"/>
              <a:gd name="T8" fmla="*/ 159 w 317"/>
              <a:gd name="T9" fmla="*/ 0 h 317"/>
              <a:gd name="T10" fmla="*/ 135 w 317"/>
              <a:gd name="T11" fmla="*/ 183 h 317"/>
              <a:gd name="T12" fmla="*/ 239 w 317"/>
              <a:gd name="T13" fmla="*/ 183 h 317"/>
              <a:gd name="T14" fmla="*/ 240 w 317"/>
              <a:gd name="T15" fmla="*/ 133 h 317"/>
              <a:gd name="T16" fmla="*/ 135 w 317"/>
              <a:gd name="T17" fmla="*/ 134 h 317"/>
              <a:gd name="T18" fmla="*/ 154 w 317"/>
              <a:gd name="T19" fmla="*/ 117 h 317"/>
              <a:gd name="T20" fmla="*/ 118 w 317"/>
              <a:gd name="T21" fmla="*/ 82 h 317"/>
              <a:gd name="T22" fmla="*/ 49 w 317"/>
              <a:gd name="T23" fmla="*/ 159 h 317"/>
              <a:gd name="T24" fmla="*/ 118 w 317"/>
              <a:gd name="T25" fmla="*/ 235 h 317"/>
              <a:gd name="T26" fmla="*/ 154 w 317"/>
              <a:gd name="T27" fmla="*/ 201 h 317"/>
              <a:gd name="T28" fmla="*/ 135 w 317"/>
              <a:gd name="T29" fmla="*/ 183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7" h="317">
                <a:moveTo>
                  <a:pt x="159" y="0"/>
                </a:moveTo>
                <a:cubicBezTo>
                  <a:pt x="246" y="0"/>
                  <a:pt x="317" y="71"/>
                  <a:pt x="317" y="158"/>
                </a:cubicBezTo>
                <a:cubicBezTo>
                  <a:pt x="317" y="246"/>
                  <a:pt x="246" y="317"/>
                  <a:pt x="159" y="317"/>
                </a:cubicBezTo>
                <a:cubicBezTo>
                  <a:pt x="71" y="317"/>
                  <a:pt x="0" y="246"/>
                  <a:pt x="0" y="158"/>
                </a:cubicBezTo>
                <a:cubicBezTo>
                  <a:pt x="0" y="71"/>
                  <a:pt x="71" y="0"/>
                  <a:pt x="159" y="0"/>
                </a:cubicBezTo>
                <a:close/>
                <a:moveTo>
                  <a:pt x="135" y="183"/>
                </a:moveTo>
                <a:cubicBezTo>
                  <a:pt x="239" y="183"/>
                  <a:pt x="239" y="183"/>
                  <a:pt x="239" y="183"/>
                </a:cubicBezTo>
                <a:cubicBezTo>
                  <a:pt x="277" y="183"/>
                  <a:pt x="277" y="133"/>
                  <a:pt x="240" y="133"/>
                </a:cubicBezTo>
                <a:cubicBezTo>
                  <a:pt x="135" y="134"/>
                  <a:pt x="135" y="134"/>
                  <a:pt x="135" y="134"/>
                </a:cubicBezTo>
                <a:cubicBezTo>
                  <a:pt x="142" y="128"/>
                  <a:pt x="148" y="122"/>
                  <a:pt x="154" y="117"/>
                </a:cubicBezTo>
                <a:cubicBezTo>
                  <a:pt x="181" y="88"/>
                  <a:pt x="143" y="52"/>
                  <a:pt x="118" y="82"/>
                </a:cubicBezTo>
                <a:cubicBezTo>
                  <a:pt x="49" y="159"/>
                  <a:pt x="49" y="159"/>
                  <a:pt x="49" y="159"/>
                </a:cubicBezTo>
                <a:cubicBezTo>
                  <a:pt x="118" y="235"/>
                  <a:pt x="118" y="235"/>
                  <a:pt x="118" y="235"/>
                </a:cubicBezTo>
                <a:cubicBezTo>
                  <a:pt x="143" y="266"/>
                  <a:pt x="182" y="227"/>
                  <a:pt x="154" y="201"/>
                </a:cubicBezTo>
                <a:cubicBezTo>
                  <a:pt x="135" y="183"/>
                  <a:pt x="135" y="183"/>
                  <a:pt x="135" y="183"/>
                </a:cubicBezTo>
                <a:close/>
              </a:path>
            </a:pathLst>
          </a:custGeom>
          <a:solidFill>
            <a:srgbClr val="5D6DB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0CF5F3F0-953E-6B1F-B82D-258CE1A5A89D}"/>
              </a:ext>
            </a:extLst>
          </p:cNvPr>
          <p:cNvSpPr/>
          <p:nvPr/>
        </p:nvSpPr>
        <p:spPr bwMode="auto">
          <a:xfrm>
            <a:off x="435361" y="3530269"/>
            <a:ext cx="3302999" cy="231331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E8088445-5B53-2F41-EEAC-2CCE1D3F4AB3}"/>
              </a:ext>
            </a:extLst>
          </p:cNvPr>
          <p:cNvSpPr/>
          <p:nvPr/>
        </p:nvSpPr>
        <p:spPr bwMode="auto">
          <a:xfrm>
            <a:off x="444954" y="3315308"/>
            <a:ext cx="3293532" cy="22075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단계 연계 지원 프로세스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9764D149-4639-0EC9-778A-AA68777CA609}"/>
              </a:ext>
            </a:extLst>
          </p:cNvPr>
          <p:cNvSpPr/>
          <p:nvPr/>
        </p:nvSpPr>
        <p:spPr bwMode="auto">
          <a:xfrm>
            <a:off x="617203" y="3698376"/>
            <a:ext cx="2915478" cy="49691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[1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단계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]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진단 및 매칭</a:t>
            </a:r>
          </a:p>
          <a:p>
            <a:pPr defTabSz="914400">
              <a:spcAft>
                <a:spcPts val="200"/>
              </a:spcAft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기반 지원 포트폴리오 구성</a:t>
            </a:r>
          </a:p>
          <a:p>
            <a:pPr defTabSz="914400">
              <a:spcAft>
                <a:spcPts val="200"/>
              </a:spcAft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통합 로드맵 설계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단기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중장기 모든 사업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0530F74E-9AEE-DF8A-AB93-E4CBE3D08A6F}"/>
              </a:ext>
            </a:extLst>
          </p:cNvPr>
          <p:cNvSpPr/>
          <p:nvPr/>
        </p:nvSpPr>
        <p:spPr bwMode="auto">
          <a:xfrm>
            <a:off x="612786" y="4246837"/>
            <a:ext cx="2915478" cy="7235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[2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단계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]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신청 및 코칭</a:t>
            </a:r>
          </a:p>
          <a:p>
            <a:pPr defTabSz="914400">
              <a:spcAft>
                <a:spcPts val="200"/>
              </a:spcAft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사업계획서 작성 지원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+ 1:1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멘토링</a:t>
            </a:r>
          </a:p>
          <a:p>
            <a:pPr defTabSz="914400">
              <a:spcAft>
                <a:spcPts val="200"/>
              </a:spcAft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발표평가 클리닉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모의 발표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선정 극대화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행정절차 원스톱 지원</a:t>
            </a:r>
          </a:p>
        </p:txBody>
      </p:sp>
      <p:sp>
        <p:nvSpPr>
          <p:cNvPr id="26" name="사각형: 둥근 위쪽 모서리 25">
            <a:extLst>
              <a:ext uri="{FF2B5EF4-FFF2-40B4-BE49-F238E27FC236}">
                <a16:creationId xmlns:a16="http://schemas.microsoft.com/office/drawing/2014/main" id="{5CB952BF-3D5F-C51A-20F4-DAE61A19DA85}"/>
              </a:ext>
            </a:extLst>
          </p:cNvPr>
          <p:cNvSpPr/>
          <p:nvPr/>
        </p:nvSpPr>
        <p:spPr bwMode="auto">
          <a:xfrm>
            <a:off x="612786" y="5021927"/>
            <a:ext cx="2915478" cy="7235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[3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단계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] </a:t>
            </a: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사후관리 및 성과확산</a:t>
            </a:r>
          </a:p>
          <a:p>
            <a:pPr defTabSz="914400">
              <a:spcAft>
                <a:spcPts val="200"/>
              </a:spcAft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이행점검 및 컨설팅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정기 모니터링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후속 사업 연계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고도화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스케일업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성과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DB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구축 및 정책 환류</a:t>
            </a:r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3F193D6F-7FFB-DB3E-A3BC-FD8D640C900B}"/>
              </a:ext>
            </a:extLst>
          </p:cNvPr>
          <p:cNvSpPr/>
          <p:nvPr/>
        </p:nvSpPr>
        <p:spPr bwMode="auto">
          <a:xfrm>
            <a:off x="3905833" y="2308224"/>
            <a:ext cx="3122135" cy="282431"/>
          </a:xfrm>
          <a:prstGeom prst="round2SameRect">
            <a:avLst>
              <a:gd name="adj1" fmla="val 26931"/>
              <a:gd name="adj2" fmla="val 0"/>
            </a:avLst>
          </a:prstGeom>
          <a:solidFill>
            <a:srgbClr val="58A7AE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사후관리 집중 추적</a:t>
            </a:r>
            <a:endParaRPr kumimoji="0" lang="ko-KR" altLang="en-US" sz="100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1" name="사각형: 둥근 위쪽 모서리 30">
            <a:extLst>
              <a:ext uri="{FF2B5EF4-FFF2-40B4-BE49-F238E27FC236}">
                <a16:creationId xmlns:a16="http://schemas.microsoft.com/office/drawing/2014/main" id="{F3B8E779-D846-A2B0-FB20-7549AD50A0EA}"/>
              </a:ext>
            </a:extLst>
          </p:cNvPr>
          <p:cNvSpPr/>
          <p:nvPr/>
        </p:nvSpPr>
        <p:spPr bwMode="auto">
          <a:xfrm>
            <a:off x="3894602" y="2597267"/>
            <a:ext cx="3122135" cy="324632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fontAlgn="base"/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7A80FD2-FF17-0105-9E18-D734C473A6A4}"/>
              </a:ext>
            </a:extLst>
          </p:cNvPr>
          <p:cNvGrpSpPr/>
          <p:nvPr/>
        </p:nvGrpSpPr>
        <p:grpSpPr>
          <a:xfrm>
            <a:off x="4001531" y="2756458"/>
            <a:ext cx="2885168" cy="2935506"/>
            <a:chOff x="4115831" y="2770746"/>
            <a:chExt cx="2885168" cy="293550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7E81B53-1F6B-C4C3-7034-54DCD1A1823A}"/>
                </a:ext>
              </a:extLst>
            </p:cNvPr>
            <p:cNvSpPr txBox="1"/>
            <p:nvPr/>
          </p:nvSpPr>
          <p:spPr>
            <a:xfrm>
              <a:off x="4115831" y="2770746"/>
              <a:ext cx="28099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컨설팅 종료 후 주요 관리 항목</a:t>
              </a:r>
              <a:endPara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5D0F4C8F-2EDC-2F49-7786-8B0DE42B6436}"/>
                </a:ext>
              </a:extLst>
            </p:cNvPr>
            <p:cNvGrpSpPr/>
            <p:nvPr/>
          </p:nvGrpSpPr>
          <p:grpSpPr>
            <a:xfrm>
              <a:off x="4135081" y="3148778"/>
              <a:ext cx="2865918" cy="2557474"/>
              <a:chOff x="4170801" y="3148778"/>
              <a:chExt cx="2865918" cy="2557474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8318737C-0D09-1170-1982-299B231F467D}"/>
                  </a:ext>
                </a:extLst>
              </p:cNvPr>
              <p:cNvSpPr/>
              <p:nvPr/>
            </p:nvSpPr>
            <p:spPr bwMode="auto">
              <a:xfrm>
                <a:off x="4172722" y="3148778"/>
                <a:ext cx="2863997" cy="3856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defTabSz="914400">
                  <a:spcAft>
                    <a:spcPts val="200"/>
                  </a:spcAft>
                </a:pP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solidFill>
                      <a:srgbClr val="1040C3"/>
                    </a:solidFill>
                    <a:latin typeface="+mn-ea"/>
                  </a:rPr>
                  <a:t>신청 전 → 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정책안내 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+ 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서류 준비 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(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신청 누락 방지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)</a:t>
                </a:r>
                <a:endPara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41865BC5-062E-7899-DA79-1D83CF283522}"/>
                  </a:ext>
                </a:extLst>
              </p:cNvPr>
              <p:cNvSpPr/>
              <p:nvPr/>
            </p:nvSpPr>
            <p:spPr bwMode="auto">
              <a:xfrm>
                <a:off x="4172722" y="3691742"/>
                <a:ext cx="2863997" cy="3856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defTabSz="914400">
                  <a:spcAft>
                    <a:spcPts val="200"/>
                  </a:spcAft>
                </a:pP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solidFill>
                      <a:srgbClr val="1040C3"/>
                    </a:solidFill>
                    <a:latin typeface="+mn-ea"/>
                  </a:rPr>
                  <a:t>신청 중 → 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진행 상황 모니터링 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(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진행 지연 추적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)</a:t>
                </a:r>
                <a:endPara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E5979E4B-9569-E433-D8D2-18B9383A8EE4}"/>
                  </a:ext>
                </a:extLst>
              </p:cNvPr>
              <p:cNvSpPr/>
              <p:nvPr/>
            </p:nvSpPr>
            <p:spPr bwMode="auto">
              <a:xfrm>
                <a:off x="4172722" y="4234706"/>
                <a:ext cx="2863997" cy="3856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defTabSz="914400">
                  <a:spcAft>
                    <a:spcPts val="200"/>
                  </a:spcAft>
                </a:pP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solidFill>
                      <a:srgbClr val="1040C3"/>
                    </a:solidFill>
                    <a:latin typeface="+mn-ea"/>
                  </a:rPr>
                  <a:t>신청 후 → 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선정 여부 확인 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(</a:t>
                </a:r>
                <a:r>
                  <a:rPr lang="ko-KR" altLang="en-US" sz="1000" b="1" kern="0" spc="-50" dirty="0" err="1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부선정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 시 재신청 지원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)</a:t>
                </a:r>
                <a:endPara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37" name="사각형: 둥근 위쪽 모서리 36">
                <a:extLst>
                  <a:ext uri="{FF2B5EF4-FFF2-40B4-BE49-F238E27FC236}">
                    <a16:creationId xmlns:a16="http://schemas.microsoft.com/office/drawing/2014/main" id="{F71E17F7-5FB2-4C23-7B23-D99A198DDE1E}"/>
                  </a:ext>
                </a:extLst>
              </p:cNvPr>
              <p:cNvSpPr/>
              <p:nvPr/>
            </p:nvSpPr>
            <p:spPr bwMode="auto">
              <a:xfrm>
                <a:off x="4172722" y="4777670"/>
                <a:ext cx="2863997" cy="3856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defTabSz="914400">
                  <a:spcAft>
                    <a:spcPts val="200"/>
                  </a:spcAft>
                </a:pP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solidFill>
                      <a:srgbClr val="1040C3"/>
                    </a:solidFill>
                    <a:latin typeface="+mn-ea"/>
                  </a:rPr>
                  <a:t>이행 중 → 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정기 모니터링 </a:t>
                </a:r>
                <a:r>
                  <a:rPr lang="en-US" altLang="ko-KR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(</a:t>
                </a:r>
                <a:r>
                  <a:rPr lang="ko-KR" altLang="en-US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문제 발생 시 추가 컨설팅</a:t>
                </a:r>
                <a:r>
                  <a:rPr lang="en-US" altLang="ko-KR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)</a:t>
                </a:r>
                <a:endPara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38" name="사각형: 둥근 위쪽 모서리 37">
                <a:extLst>
                  <a:ext uri="{FF2B5EF4-FFF2-40B4-BE49-F238E27FC236}">
                    <a16:creationId xmlns:a16="http://schemas.microsoft.com/office/drawing/2014/main" id="{49891517-EE71-EAAB-5526-7E2B83EB768A}"/>
                  </a:ext>
                </a:extLst>
              </p:cNvPr>
              <p:cNvSpPr/>
              <p:nvPr/>
            </p:nvSpPr>
            <p:spPr bwMode="auto">
              <a:xfrm>
                <a:off x="4170801" y="5320634"/>
                <a:ext cx="2863997" cy="3856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defTabSz="914400">
                  <a:spcAft>
                    <a:spcPts val="200"/>
                  </a:spcAft>
                </a:pP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solidFill>
                      <a:srgbClr val="1040C3"/>
                    </a:solidFill>
                    <a:latin typeface="+mn-ea"/>
                  </a:rPr>
                  <a:t>완료 후 → 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후속 사업 연계 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(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지속적 성장 기회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)</a:t>
                </a:r>
                <a:endPara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A1A1CB9A-E5E6-E5AE-F2B0-1151FBCBCA00}"/>
                  </a:ext>
                </a:extLst>
              </p:cNvPr>
              <p:cNvCxnSpPr>
                <a:stCxn id="32" idx="1"/>
                <a:endCxn id="35" idx="3"/>
              </p:cNvCxnSpPr>
              <p:nvPr/>
            </p:nvCxnSpPr>
            <p:spPr bwMode="auto">
              <a:xfrm>
                <a:off x="5604721" y="3534396"/>
                <a:ext cx="0" cy="157346"/>
              </a:xfrm>
              <a:prstGeom prst="straightConnector1">
                <a:avLst/>
              </a:prstGeom>
              <a:solidFill>
                <a:srgbClr val="970F43"/>
              </a:solidFill>
              <a:ln w="6350" cap="flat" cmpd="sng" algn="ctr">
                <a:solidFill>
                  <a:srgbClr val="1040C3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0941FE50-AE69-443C-3F4A-C8F349881596}"/>
                  </a:ext>
                </a:extLst>
              </p:cNvPr>
              <p:cNvCxnSpPr>
                <a:cxnSpLocks/>
                <a:stCxn id="35" idx="1"/>
                <a:endCxn id="36" idx="3"/>
              </p:cNvCxnSpPr>
              <p:nvPr/>
            </p:nvCxnSpPr>
            <p:spPr bwMode="auto">
              <a:xfrm>
                <a:off x="5604721" y="4077360"/>
                <a:ext cx="0" cy="157346"/>
              </a:xfrm>
              <a:prstGeom prst="straightConnector1">
                <a:avLst/>
              </a:prstGeom>
              <a:solidFill>
                <a:srgbClr val="970F43"/>
              </a:solidFill>
              <a:ln w="6350" cap="flat" cmpd="sng" algn="ctr">
                <a:solidFill>
                  <a:srgbClr val="1040C3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35CE72CB-AB93-8C34-5D12-E4CEB2CE3680}"/>
                  </a:ext>
                </a:extLst>
              </p:cNvPr>
              <p:cNvCxnSpPr>
                <a:cxnSpLocks/>
                <a:stCxn id="36" idx="1"/>
                <a:endCxn id="37" idx="3"/>
              </p:cNvCxnSpPr>
              <p:nvPr/>
            </p:nvCxnSpPr>
            <p:spPr bwMode="auto">
              <a:xfrm>
                <a:off x="5604721" y="4620324"/>
                <a:ext cx="0" cy="157346"/>
              </a:xfrm>
              <a:prstGeom prst="straightConnector1">
                <a:avLst/>
              </a:prstGeom>
              <a:solidFill>
                <a:srgbClr val="970F43"/>
              </a:solidFill>
              <a:ln w="6350" cap="flat" cmpd="sng" algn="ctr">
                <a:solidFill>
                  <a:srgbClr val="1040C3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04B1D8EE-C514-3BAB-DF29-C0F867A25B67}"/>
                  </a:ext>
                </a:extLst>
              </p:cNvPr>
              <p:cNvCxnSpPr>
                <a:cxnSpLocks/>
                <a:stCxn id="37" idx="1"/>
                <a:endCxn id="38" idx="3"/>
              </p:cNvCxnSpPr>
              <p:nvPr/>
            </p:nvCxnSpPr>
            <p:spPr bwMode="auto">
              <a:xfrm flipH="1">
                <a:off x="5602800" y="5163288"/>
                <a:ext cx="1921" cy="157346"/>
              </a:xfrm>
              <a:prstGeom prst="straightConnector1">
                <a:avLst/>
              </a:prstGeom>
              <a:solidFill>
                <a:srgbClr val="970F43"/>
              </a:solidFill>
              <a:ln w="6350" cap="flat" cmpd="sng" algn="ctr">
                <a:solidFill>
                  <a:srgbClr val="1040C3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CE6DC1F7-DE39-5617-46F3-7C68F55EDD11}"/>
              </a:ext>
            </a:extLst>
          </p:cNvPr>
          <p:cNvSpPr/>
          <p:nvPr/>
        </p:nvSpPr>
        <p:spPr bwMode="auto">
          <a:xfrm>
            <a:off x="7157252" y="2308224"/>
            <a:ext cx="2303925" cy="282431"/>
          </a:xfrm>
          <a:prstGeom prst="round2SameRect">
            <a:avLst>
              <a:gd name="adj1" fmla="val 26931"/>
              <a:gd name="adj2" fmla="val 0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책임 관리 효과</a:t>
            </a:r>
            <a:endParaRPr kumimoji="0" lang="ko-KR" altLang="en-US" sz="100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4" name="사각형: 둥근 위쪽 모서리 53">
            <a:extLst>
              <a:ext uri="{FF2B5EF4-FFF2-40B4-BE49-F238E27FC236}">
                <a16:creationId xmlns:a16="http://schemas.microsoft.com/office/drawing/2014/main" id="{A67C0767-9690-B6E6-A45C-C885E96F6179}"/>
              </a:ext>
            </a:extLst>
          </p:cNvPr>
          <p:cNvSpPr/>
          <p:nvPr/>
        </p:nvSpPr>
        <p:spPr bwMode="auto">
          <a:xfrm>
            <a:off x="7157119" y="2590654"/>
            <a:ext cx="2303925" cy="179756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 입장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</a:t>
            </a:r>
          </a:p>
          <a:p>
            <a:pPr defTabSz="914400">
              <a:spcAft>
                <a:spcPts val="200"/>
              </a:spcAft>
            </a:pP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신청부터 이행까지 전담 지원 → 부담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ZERO</a:t>
            </a:r>
          </a:p>
          <a:p>
            <a:pPr defTabSz="914400">
              <a:spcAft>
                <a:spcPts val="200"/>
              </a:spcAft>
            </a:pP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정기 모니터링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문제 대응 </a:t>
            </a:r>
            <a:endParaRPr lang="en-US" altLang="ko-KR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spcAft>
                <a:spcPts val="200"/>
              </a:spcAft>
            </a:pP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 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→ 성과 창출 확실성</a:t>
            </a:r>
          </a:p>
          <a:p>
            <a:pPr defTabSz="914400">
              <a:spcAft>
                <a:spcPts val="200"/>
              </a:spcAft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후속 사업 연계 → 지속적 성장</a:t>
            </a:r>
          </a:p>
          <a:p>
            <a:pPr defTabSz="914400">
              <a:spcAft>
                <a:spcPts val="200"/>
              </a:spcAft>
            </a:pPr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spcAft>
                <a:spcPts val="200"/>
              </a:spcAft>
            </a:pPr>
            <a:r>
              <a:rPr lang="ko-KR" altLang="en-US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 입장</a:t>
            </a:r>
            <a:r>
              <a:rPr lang="en-US" altLang="ko-KR" sz="9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</a:t>
            </a:r>
          </a:p>
          <a:p>
            <a:pPr defTabSz="914400">
              <a:spcAft>
                <a:spcPts val="200"/>
              </a:spcAft>
            </a:pP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실행 리스크 최소화 → 정책 성과 극대화</a:t>
            </a:r>
          </a:p>
          <a:p>
            <a:pPr defTabSz="914400">
              <a:spcAft>
                <a:spcPts val="200"/>
              </a:spcAft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통합 데이터 구축 → 효과성 평가 가능</a:t>
            </a:r>
          </a:p>
          <a:p>
            <a:pPr defTabSz="914400">
              <a:spcAft>
                <a:spcPts val="200"/>
              </a:spcAft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우수사례 환류 → 정책 개선 기여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0464776-74E5-9876-B56D-08889EFCB61F}"/>
              </a:ext>
            </a:extLst>
          </p:cNvPr>
          <p:cNvSpPr/>
          <p:nvPr/>
        </p:nvSpPr>
        <p:spPr bwMode="auto">
          <a:xfrm>
            <a:off x="7157119" y="4587716"/>
            <a:ext cx="2303925" cy="1214560"/>
          </a:xfrm>
          <a:prstGeom prst="roundRect">
            <a:avLst>
              <a:gd name="adj" fmla="val 8808"/>
            </a:avLst>
          </a:prstGeom>
          <a:solidFill>
            <a:schemeClr val="bg1"/>
          </a:solidFill>
          <a:ln w="57150">
            <a:solidFill>
              <a:srgbClr val="5D6DBE">
                <a:alpha val="40000"/>
              </a:srgb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defTabSz="914400">
              <a:spcAft>
                <a:spcPts val="600"/>
              </a:spcAft>
            </a:pPr>
            <a:r>
              <a:rPr lang="ko-KR" altLang="en-US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컨설팅 종료를 성과 창출의 출발점으로 인식 </a:t>
            </a:r>
          </a:p>
          <a:p>
            <a:pPr defTabSz="914400">
              <a:spcAft>
                <a:spcPts val="600"/>
              </a:spcAft>
            </a:pPr>
            <a:r>
              <a:rPr lang="ko-KR" altLang="en-US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신청부터 승인</a:t>
            </a:r>
            <a:r>
              <a:rPr lang="en-US" altLang="ko-KR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이행까지 전 과정 책임 관리</a:t>
            </a:r>
          </a:p>
          <a:p>
            <a:pPr defTabSz="914400">
              <a:spcAft>
                <a:spcPts val="600"/>
              </a:spcAft>
            </a:pPr>
            <a:r>
              <a:rPr lang="ko-KR" altLang="en-US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신청 누락</a:t>
            </a:r>
            <a:r>
              <a:rPr lang="en-US" altLang="ko-KR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승인 지연</a:t>
            </a:r>
            <a:r>
              <a:rPr lang="en-US" altLang="ko-KR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이행 미흡</a:t>
            </a:r>
            <a:r>
              <a:rPr lang="en-US" altLang="ko-KR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리스크 점검</a:t>
            </a:r>
          </a:p>
          <a:p>
            <a:pPr defTabSz="914400">
              <a:spcAft>
                <a:spcPts val="600"/>
              </a:spcAft>
            </a:pPr>
            <a:r>
              <a:rPr lang="ko-KR" altLang="en-US" sz="85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후속 사업 연계로 기업의 지속적 성장 지원</a:t>
            </a:r>
          </a:p>
        </p:txBody>
      </p:sp>
    </p:spTree>
    <p:extLst>
      <p:ext uri="{BB962C8B-B14F-4D97-AF65-F5344CB8AC3E}">
        <p14:creationId xmlns:p14="http://schemas.microsoft.com/office/powerpoint/2010/main" val="3823370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0C7BB-7D2E-6D61-0F1A-9E326E317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>
            <a:extLst>
              <a:ext uri="{FF2B5EF4-FFF2-40B4-BE49-F238E27FC236}">
                <a16:creationId xmlns:a16="http://schemas.microsoft.com/office/drawing/2014/main" id="{FF1A0241-6C20-C784-2F05-95514B84A017}"/>
              </a:ext>
            </a:extLst>
          </p:cNvPr>
          <p:cNvGrpSpPr/>
          <p:nvPr/>
        </p:nvGrpSpPr>
        <p:grpSpPr>
          <a:xfrm>
            <a:off x="4130716" y="2020953"/>
            <a:ext cx="2794136" cy="3808347"/>
            <a:chOff x="444952" y="1946281"/>
            <a:chExt cx="3570574" cy="3808347"/>
          </a:xfrm>
        </p:grpSpPr>
        <p:sp>
          <p:nvSpPr>
            <p:cNvPr id="58" name="사각형: 둥근 위쪽 모서리 57">
              <a:extLst>
                <a:ext uri="{FF2B5EF4-FFF2-40B4-BE49-F238E27FC236}">
                  <a16:creationId xmlns:a16="http://schemas.microsoft.com/office/drawing/2014/main" id="{AF7F0CCD-10DA-64D7-97E1-D4B50E9A7B98}"/>
                </a:ext>
              </a:extLst>
            </p:cNvPr>
            <p:cNvSpPr/>
            <p:nvPr/>
          </p:nvSpPr>
          <p:spPr bwMode="auto">
            <a:xfrm>
              <a:off x="444952" y="2215040"/>
              <a:ext cx="3570573" cy="35395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9" name="사각형: 둥근 위쪽 모서리 58">
              <a:extLst>
                <a:ext uri="{FF2B5EF4-FFF2-40B4-BE49-F238E27FC236}">
                  <a16:creationId xmlns:a16="http://schemas.microsoft.com/office/drawing/2014/main" id="{D5498CE3-7745-92D5-05D4-9C5B9D053F30}"/>
                </a:ext>
              </a:extLst>
            </p:cNvPr>
            <p:cNvSpPr/>
            <p:nvPr/>
          </p:nvSpPr>
          <p:spPr bwMode="auto">
            <a:xfrm>
              <a:off x="444953" y="1946281"/>
              <a:ext cx="3570573" cy="260618"/>
            </a:xfrm>
            <a:prstGeom prst="round2SameRect">
              <a:avLst>
                <a:gd name="adj1" fmla="val 31204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컨설팅 단가 구성 및 전문가 처우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】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2E72DC5-20BB-7B6E-CF98-95F6EC301845}"/>
              </a:ext>
            </a:extLst>
          </p:cNvPr>
          <p:cNvGrpSpPr/>
          <p:nvPr/>
        </p:nvGrpSpPr>
        <p:grpSpPr>
          <a:xfrm>
            <a:off x="412940" y="2020953"/>
            <a:ext cx="3367576" cy="3808347"/>
            <a:chOff x="444952" y="1946281"/>
            <a:chExt cx="3570574" cy="3808347"/>
          </a:xfrm>
        </p:grpSpPr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4714399E-1D88-60BF-5D3D-DC44D4E71944}"/>
                </a:ext>
              </a:extLst>
            </p:cNvPr>
            <p:cNvSpPr/>
            <p:nvPr/>
          </p:nvSpPr>
          <p:spPr bwMode="auto">
            <a:xfrm>
              <a:off x="444952" y="2215040"/>
              <a:ext cx="3570573" cy="35395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" name="사각형: 둥근 위쪽 모서리 53">
              <a:extLst>
                <a:ext uri="{FF2B5EF4-FFF2-40B4-BE49-F238E27FC236}">
                  <a16:creationId xmlns:a16="http://schemas.microsoft.com/office/drawing/2014/main" id="{329689EE-057C-5830-F1A2-C3BBC40CFD6C}"/>
                </a:ext>
              </a:extLst>
            </p:cNvPr>
            <p:cNvSpPr/>
            <p:nvPr/>
          </p:nvSpPr>
          <p:spPr bwMode="auto">
            <a:xfrm>
              <a:off x="444953" y="1946281"/>
              <a:ext cx="3570573" cy="260618"/>
            </a:xfrm>
            <a:prstGeom prst="round2SameRect">
              <a:avLst>
                <a:gd name="adj1" fmla="val 31204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전담 수행체계 구성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EAC6F54-E7D2-793A-AEDF-5D5F7BACC4FC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전담 수행체계 기반 전문역량 연계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안정적 컨설팅 품질 확보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와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전문가 처우 개선</a:t>
            </a:r>
            <a:endParaRPr lang="en-US" altLang="ko-KR" spc="-30" dirty="0">
              <a:solidFill>
                <a:srgbClr val="E3574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77E2FA-4403-F6A7-0E7B-0269AC4EB7E8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고용</a:t>
            </a:r>
            <a:r>
              <a:rPr lang="en-US" altLang="ko-KR" sz="1600" kern="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임금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7D16A1-7D10-E99E-44DF-2D1D08241E0F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역할과 책임이 명확한 전담 수행체계를 기반으로 산업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·HR·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노무 등 분야별 전문역량을 연계해 맞춤형 컨설팅을 수행하고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컨설팅 단가의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70.6%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이상을 전문가 인건비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인센티브로 투입하여 처우를 현실화하고 업무 연속성을 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6F2DA9-9C73-D448-6ACA-E6E63F8D5316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명확한 역할 분담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우수 인력 확보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현실적 처우 개선이 </a:t>
            </a:r>
            <a:r>
              <a:rPr lang="ko-KR" altLang="en-US" sz="1300" b="1" kern="0" spc="-5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선순환하여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 </a:t>
            </a:r>
            <a:endParaRPr lang="en-US" altLang="ko-KR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전문성 있는 컨설턴트의 일관된 지원과 기업의 신뢰 기반 성과 창출을 동시에 실현합니다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522531-D0CF-301B-9995-1521863C31EC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인적자원 투자계획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고용형태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임금지급 수준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6B18FEE-FD6F-8E5B-E06E-767EDB69366B}"/>
              </a:ext>
            </a:extLst>
          </p:cNvPr>
          <p:cNvGrpSpPr/>
          <p:nvPr/>
        </p:nvGrpSpPr>
        <p:grpSpPr>
          <a:xfrm>
            <a:off x="513177" y="2516978"/>
            <a:ext cx="3149777" cy="3105571"/>
            <a:chOff x="444953" y="2363571"/>
            <a:chExt cx="3756980" cy="3105571"/>
          </a:xfrm>
        </p:grpSpPr>
        <p:sp>
          <p:nvSpPr>
            <p:cNvPr id="9" name="사각형: 둥근 위쪽 모서리 8">
              <a:extLst>
                <a:ext uri="{FF2B5EF4-FFF2-40B4-BE49-F238E27FC236}">
                  <a16:creationId xmlns:a16="http://schemas.microsoft.com/office/drawing/2014/main" id="{D39A8C1F-EABF-D4AE-DA6F-CE8D56A6894C}"/>
                </a:ext>
              </a:extLst>
            </p:cNvPr>
            <p:cNvSpPr/>
            <p:nvPr/>
          </p:nvSpPr>
          <p:spPr bwMode="auto">
            <a:xfrm>
              <a:off x="1390757" y="2363571"/>
              <a:ext cx="1850860" cy="25331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본부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: KSA</a:t>
              </a: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75C60BDC-8D95-3DDF-DB0D-7103817B571E}"/>
                </a:ext>
              </a:extLst>
            </p:cNvPr>
            <p:cNvSpPr/>
            <p:nvPr/>
          </p:nvSpPr>
          <p:spPr bwMode="auto">
            <a:xfrm>
              <a:off x="444954" y="2864872"/>
              <a:ext cx="690501" cy="57384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지역본부</a:t>
              </a:r>
              <a:endPara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/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거점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algn="ctr" defTabSz="914400"/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id="{B9C6F034-FFD3-01D0-34E7-314F8BFC7B84}"/>
                </a:ext>
              </a:extLst>
            </p:cNvPr>
            <p:cNvSpPr/>
            <p:nvPr/>
          </p:nvSpPr>
          <p:spPr bwMode="auto">
            <a:xfrm>
              <a:off x="1211574" y="2864872"/>
              <a:ext cx="690501" cy="57384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프로젝트 관리 </a:t>
              </a:r>
              <a:endPara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/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진행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id="{3870CFDB-3CC2-6B7C-1CD9-7A5243626F00}"/>
                </a:ext>
              </a:extLst>
            </p:cNvPr>
            <p:cNvSpPr/>
            <p:nvPr/>
          </p:nvSpPr>
          <p:spPr bwMode="auto">
            <a:xfrm>
              <a:off x="1978194" y="2864872"/>
              <a:ext cx="690501" cy="57384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품질관리 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검증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algn="ctr" defTabSz="914400"/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E299E21F-B58D-F39C-9444-5F0A4958B497}"/>
                </a:ext>
              </a:extLst>
            </p:cNvPr>
            <p:cNvSpPr/>
            <p:nvPr/>
          </p:nvSpPr>
          <p:spPr bwMode="auto">
            <a:xfrm>
              <a:off x="2744814" y="2864872"/>
              <a:ext cx="690501" cy="57384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사후관리 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모니터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algn="ctr" defTabSz="914400"/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BFD76A22-0A12-0E71-0986-AB56C2657916}"/>
                </a:ext>
              </a:extLst>
            </p:cNvPr>
            <p:cNvSpPr/>
            <p:nvPr/>
          </p:nvSpPr>
          <p:spPr bwMode="auto">
            <a:xfrm>
              <a:off x="3511432" y="2864872"/>
              <a:ext cx="690501" cy="57384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컨설턴트 배치</a:t>
              </a:r>
              <a:endPara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/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B5C97A51-C765-B3F2-F02C-0B2D72E78EC0}"/>
                </a:ext>
              </a:extLst>
            </p:cNvPr>
            <p:cNvCxnSpPr>
              <a:cxnSpLocks/>
              <a:stCxn id="12" idx="3"/>
              <a:endCxn id="9" idx="1"/>
            </p:cNvCxnSpPr>
            <p:nvPr/>
          </p:nvCxnSpPr>
          <p:spPr bwMode="auto">
            <a:xfrm rot="5400000" flipH="1" flipV="1">
              <a:off x="1429204" y="1977889"/>
              <a:ext cx="247984" cy="1525982"/>
            </a:xfrm>
            <a:prstGeom prst="bentConnector3">
              <a:avLst>
                <a:gd name="adj1" fmla="val 50000"/>
              </a:avLst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198BFD04-CA42-EDE3-0AD2-31E97E598E55}"/>
                </a:ext>
              </a:extLst>
            </p:cNvPr>
            <p:cNvCxnSpPr>
              <a:cxnSpLocks/>
              <a:stCxn id="17" idx="3"/>
              <a:endCxn id="9" idx="1"/>
            </p:cNvCxnSpPr>
            <p:nvPr/>
          </p:nvCxnSpPr>
          <p:spPr bwMode="auto">
            <a:xfrm rot="16200000" flipV="1">
              <a:off x="2962443" y="1970632"/>
              <a:ext cx="247984" cy="1540496"/>
            </a:xfrm>
            <a:prstGeom prst="bentConnector3">
              <a:avLst>
                <a:gd name="adj1" fmla="val 50000"/>
              </a:avLst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6" name="연결선: 꺾임 25">
              <a:extLst>
                <a:ext uri="{FF2B5EF4-FFF2-40B4-BE49-F238E27FC236}">
                  <a16:creationId xmlns:a16="http://schemas.microsoft.com/office/drawing/2014/main" id="{22BBA693-DE77-F407-F277-157F94BCBB1D}"/>
                </a:ext>
              </a:extLst>
            </p:cNvPr>
            <p:cNvCxnSpPr>
              <a:cxnSpLocks/>
              <a:stCxn id="14" idx="3"/>
              <a:endCxn id="9" idx="1"/>
            </p:cNvCxnSpPr>
            <p:nvPr/>
          </p:nvCxnSpPr>
          <p:spPr bwMode="auto">
            <a:xfrm rot="5400000" flipH="1" flipV="1">
              <a:off x="1812514" y="2361199"/>
              <a:ext cx="247984" cy="759362"/>
            </a:xfrm>
            <a:prstGeom prst="bentConnector3">
              <a:avLst>
                <a:gd name="adj1" fmla="val 50000"/>
              </a:avLst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9B8C825E-9B14-7CA8-2D9B-20CF2C97DCE6}"/>
                </a:ext>
              </a:extLst>
            </p:cNvPr>
            <p:cNvCxnSpPr>
              <a:cxnSpLocks/>
              <a:stCxn id="16" idx="3"/>
              <a:endCxn id="9" idx="1"/>
            </p:cNvCxnSpPr>
            <p:nvPr/>
          </p:nvCxnSpPr>
          <p:spPr bwMode="auto">
            <a:xfrm rot="16200000" flipV="1">
              <a:off x="2579134" y="2353941"/>
              <a:ext cx="247984" cy="773878"/>
            </a:xfrm>
            <a:prstGeom prst="bentConnector3">
              <a:avLst>
                <a:gd name="adj1" fmla="val 50000"/>
              </a:avLst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B1C74C17-9F1C-F55E-E798-BC3066F1500D}"/>
                </a:ext>
              </a:extLst>
            </p:cNvPr>
            <p:cNvCxnSpPr>
              <a:stCxn id="9" idx="1"/>
              <a:endCxn id="15" idx="3"/>
            </p:cNvCxnSpPr>
            <p:nvPr/>
          </p:nvCxnSpPr>
          <p:spPr bwMode="auto">
            <a:xfrm>
              <a:off x="2316187" y="2616888"/>
              <a:ext cx="7258" cy="247984"/>
            </a:xfrm>
            <a:prstGeom prst="straightConnector1">
              <a:avLst/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6" name="사각형: 둥근 위쪽 모서리 35">
              <a:extLst>
                <a:ext uri="{FF2B5EF4-FFF2-40B4-BE49-F238E27FC236}">
                  <a16:creationId xmlns:a16="http://schemas.microsoft.com/office/drawing/2014/main" id="{B698C94F-7CDA-B52B-9546-88FC7AC76554}"/>
                </a:ext>
              </a:extLst>
            </p:cNvPr>
            <p:cNvSpPr/>
            <p:nvPr/>
          </p:nvSpPr>
          <p:spPr bwMode="auto">
            <a:xfrm>
              <a:off x="444953" y="3617385"/>
              <a:ext cx="3756979" cy="115043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>
                <a:spcAft>
                  <a:spcPts val="200"/>
                </a:spcAft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분야별 전문역량 연계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: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산업 분석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산업동향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경영전략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기술 전환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디지털화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자동화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스마트팩토리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HR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전략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조직개편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직무전환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임금체계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defTabSz="914400">
                <a:spcAft>
                  <a:spcPts val="200"/>
                </a:spcAft>
              </a:pP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노무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노사관계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임금체계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,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합의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</p:txBody>
        </p:sp>
        <p:sp>
          <p:nvSpPr>
            <p:cNvPr id="37" name="사각형: 둥근 위쪽 모서리 36">
              <a:extLst>
                <a:ext uri="{FF2B5EF4-FFF2-40B4-BE49-F238E27FC236}">
                  <a16:creationId xmlns:a16="http://schemas.microsoft.com/office/drawing/2014/main" id="{04F61DB3-C85C-F5B8-EC73-E168B8C5AED5}"/>
                </a:ext>
              </a:extLst>
            </p:cNvPr>
            <p:cNvSpPr/>
            <p:nvPr/>
          </p:nvSpPr>
          <p:spPr bwMode="auto">
            <a:xfrm>
              <a:off x="444953" y="5119791"/>
              <a:ext cx="3756979" cy="34935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EEF6F7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>
                <a:spcAft>
                  <a:spcPts val="200"/>
                </a:spcAft>
              </a:pP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⇒ 맞춤형 컨설팅 제공</a:t>
              </a:r>
              <a:endPara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76206515-DE1D-DE7F-DE67-3757307FE43E}"/>
                </a:ext>
              </a:extLst>
            </p:cNvPr>
            <p:cNvCxnSpPr>
              <a:stCxn id="36" idx="1"/>
              <a:endCxn id="37" idx="3"/>
            </p:cNvCxnSpPr>
            <p:nvPr/>
          </p:nvCxnSpPr>
          <p:spPr bwMode="auto">
            <a:xfrm>
              <a:off x="2323443" y="4767821"/>
              <a:ext cx="0" cy="351970"/>
            </a:xfrm>
            <a:prstGeom prst="straightConnector1">
              <a:avLst/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4D51B22-3724-162A-A81A-8B1F1FE1E7C8}"/>
                </a:ext>
              </a:extLst>
            </p:cNvPr>
            <p:cNvSpPr txBox="1"/>
            <p:nvPr/>
          </p:nvSpPr>
          <p:spPr>
            <a:xfrm>
              <a:off x="2366045" y="4820695"/>
              <a:ext cx="86516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통합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lang="ko-KR" altLang="en-US" sz="1000" dirty="0"/>
            </a:p>
          </p:txBody>
        </p:sp>
      </p:grpSp>
      <p:sp>
        <p:nvSpPr>
          <p:cNvPr id="47" name="사각형: 둥근 위쪽 모서리 46">
            <a:extLst>
              <a:ext uri="{FF2B5EF4-FFF2-40B4-BE49-F238E27FC236}">
                <a16:creationId xmlns:a16="http://schemas.microsoft.com/office/drawing/2014/main" id="{D36F2AB4-51F9-ABAB-EFF0-23EC317F2F49}"/>
              </a:ext>
            </a:extLst>
          </p:cNvPr>
          <p:cNvSpPr/>
          <p:nvPr/>
        </p:nvSpPr>
        <p:spPr bwMode="auto">
          <a:xfrm>
            <a:off x="4311351" y="2409054"/>
            <a:ext cx="2427837" cy="183626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컨설팅 단가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850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만원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/ 1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사업장</a:t>
            </a:r>
          </a:p>
          <a:p>
            <a:pPr defTabSz="914400">
              <a:spcAft>
                <a:spcPts val="200"/>
              </a:spcAft>
            </a:pPr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전문가 인건비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인센티브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595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만원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(70.6%)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기본 컨설팅비</a:t>
            </a:r>
          </a:p>
          <a:p>
            <a:pPr defTabSz="914400">
              <a:spcAft>
                <a:spcPts val="200"/>
              </a:spcAft>
            </a:pP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성과 연동 인센티브</a:t>
            </a:r>
          </a:p>
          <a:p>
            <a:pPr defTabSz="914400">
              <a:spcAft>
                <a:spcPts val="200"/>
              </a:spcAft>
            </a:pPr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운영경비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장비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255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만원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(29.4%)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행정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교통비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숙박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장비</a:t>
            </a:r>
            <a:endParaRPr lang="en-US" altLang="ko-KR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8" name="사각형: 둥근 위쪽 모서리 47">
            <a:extLst>
              <a:ext uri="{FF2B5EF4-FFF2-40B4-BE49-F238E27FC236}">
                <a16:creationId xmlns:a16="http://schemas.microsoft.com/office/drawing/2014/main" id="{CFCDF7A4-7601-5763-FBC7-567DF3FBA975}"/>
              </a:ext>
            </a:extLst>
          </p:cNvPr>
          <p:cNvSpPr/>
          <p:nvPr/>
        </p:nvSpPr>
        <p:spPr bwMode="auto">
          <a:xfrm>
            <a:off x="4311350" y="4453909"/>
            <a:ext cx="2427837" cy="122456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처우 개선의 효과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</a:t>
            </a:r>
          </a:p>
          <a:p>
            <a:pPr defTabSz="914400">
              <a:spcAft>
                <a:spcPts val="200"/>
              </a:spcAft>
            </a:pP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경험 많은 우수 전문가 확보 가능</a:t>
            </a:r>
          </a:p>
          <a:p>
            <a:pPr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전문가 이직 방지 및 서비스 연속성 보장</a:t>
            </a:r>
          </a:p>
          <a:p>
            <a:pPr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전문가 만족도 향상 → 컨설팅 품질 향상</a:t>
            </a:r>
          </a:p>
          <a:p>
            <a:pPr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기업 만족도 및 성과 달성도 상승</a:t>
            </a:r>
            <a:endParaRPr lang="en-US" altLang="ko-KR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40AE04E-40A5-F866-974B-DCD7327DCCFD}"/>
              </a:ext>
            </a:extLst>
          </p:cNvPr>
          <p:cNvCxnSpPr>
            <a:cxnSpLocks/>
            <a:stCxn id="47" idx="1"/>
            <a:endCxn id="48" idx="3"/>
          </p:cNvCxnSpPr>
          <p:nvPr/>
        </p:nvCxnSpPr>
        <p:spPr bwMode="auto">
          <a:xfrm flipH="1">
            <a:off x="5525269" y="4245322"/>
            <a:ext cx="1" cy="208587"/>
          </a:xfrm>
          <a:prstGeom prst="line">
            <a:avLst/>
          </a:prstGeom>
          <a:solidFill>
            <a:srgbClr val="970F43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pic>
        <p:nvPicPr>
          <p:cNvPr id="67" name="그래픽 66" descr="배지 팔로우 단색으로 채워진">
            <a:extLst>
              <a:ext uri="{FF2B5EF4-FFF2-40B4-BE49-F238E27FC236}">
                <a16:creationId xmlns:a16="http://schemas.microsoft.com/office/drawing/2014/main" id="{7FEED44D-87C6-DD4C-DDDF-CF911FA3A71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8931" y="2063575"/>
            <a:ext cx="298367" cy="298367"/>
          </a:xfrm>
          <a:prstGeom prst="rect">
            <a:avLst/>
          </a:prstGeom>
        </p:spPr>
      </p:pic>
      <p:grpSp>
        <p:nvGrpSpPr>
          <p:cNvPr id="72" name="그룹 71">
            <a:extLst>
              <a:ext uri="{FF2B5EF4-FFF2-40B4-BE49-F238E27FC236}">
                <a16:creationId xmlns:a16="http://schemas.microsoft.com/office/drawing/2014/main" id="{42FCEF49-A9F4-6811-186A-FCB627FCE3C6}"/>
              </a:ext>
            </a:extLst>
          </p:cNvPr>
          <p:cNvGrpSpPr/>
          <p:nvPr/>
        </p:nvGrpSpPr>
        <p:grpSpPr>
          <a:xfrm>
            <a:off x="7055351" y="2627447"/>
            <a:ext cx="2528104" cy="2884568"/>
            <a:chOff x="3852134" y="2821684"/>
            <a:chExt cx="3429889" cy="2884568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0C9E7C0-7737-A0B2-0DF7-CDA4636CD130}"/>
                </a:ext>
              </a:extLst>
            </p:cNvPr>
            <p:cNvSpPr txBox="1"/>
            <p:nvPr/>
          </p:nvSpPr>
          <p:spPr>
            <a:xfrm>
              <a:off x="3852134" y="2821684"/>
              <a:ext cx="34298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안정적 수행체계 → 안정적 성과의 선순환</a:t>
              </a:r>
              <a:endPara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endParaRPr>
            </a:p>
          </p:txBody>
        </p: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15593B68-3BC9-421D-53BC-96D805FF5CFE}"/>
                </a:ext>
              </a:extLst>
            </p:cNvPr>
            <p:cNvGrpSpPr/>
            <p:nvPr/>
          </p:nvGrpSpPr>
          <p:grpSpPr>
            <a:xfrm>
              <a:off x="4135081" y="3148778"/>
              <a:ext cx="2865918" cy="2557474"/>
              <a:chOff x="4170801" y="3148778"/>
              <a:chExt cx="2865918" cy="2557474"/>
            </a:xfrm>
          </p:grpSpPr>
          <p:sp>
            <p:nvSpPr>
              <p:cNvPr id="75" name="사각형: 둥근 위쪽 모서리 74">
                <a:extLst>
                  <a:ext uri="{FF2B5EF4-FFF2-40B4-BE49-F238E27FC236}">
                    <a16:creationId xmlns:a16="http://schemas.microsoft.com/office/drawing/2014/main" id="{2D6D130E-63C9-D5CB-FB2E-7F2F16359C29}"/>
                  </a:ext>
                </a:extLst>
              </p:cNvPr>
              <p:cNvSpPr/>
              <p:nvPr/>
            </p:nvSpPr>
            <p:spPr bwMode="auto">
              <a:xfrm>
                <a:off x="4172722" y="3148778"/>
                <a:ext cx="2863997" cy="3856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>
                  <a:spcAft>
                    <a:spcPts val="200"/>
                  </a:spcAft>
                </a:pP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명확한 역할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·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책임 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+ 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전문가 처우 개선</a:t>
                </a:r>
              </a:p>
            </p:txBody>
          </p:sp>
          <p:sp>
            <p:nvSpPr>
              <p:cNvPr id="76" name="사각형: 둥근 위쪽 모서리 75">
                <a:extLst>
                  <a:ext uri="{FF2B5EF4-FFF2-40B4-BE49-F238E27FC236}">
                    <a16:creationId xmlns:a16="http://schemas.microsoft.com/office/drawing/2014/main" id="{D4211F49-0391-2E0A-40CE-D232E2EED9E9}"/>
                  </a:ext>
                </a:extLst>
              </p:cNvPr>
              <p:cNvSpPr/>
              <p:nvPr/>
            </p:nvSpPr>
            <p:spPr bwMode="auto">
              <a:xfrm>
                <a:off x="4172722" y="3691742"/>
                <a:ext cx="2863997" cy="3856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>
                  <a:spcAft>
                    <a:spcPts val="200"/>
                  </a:spcAft>
                </a:pP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우수 전문가 확보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·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유지</a:t>
                </a:r>
              </a:p>
            </p:txBody>
          </p:sp>
          <p:sp>
            <p:nvSpPr>
              <p:cNvPr id="77" name="사각형: 둥근 위쪽 모서리 76">
                <a:extLst>
                  <a:ext uri="{FF2B5EF4-FFF2-40B4-BE49-F238E27FC236}">
                    <a16:creationId xmlns:a16="http://schemas.microsoft.com/office/drawing/2014/main" id="{D2B36919-6D46-380C-E039-AC53707AC33D}"/>
                  </a:ext>
                </a:extLst>
              </p:cNvPr>
              <p:cNvSpPr/>
              <p:nvPr/>
            </p:nvSpPr>
            <p:spPr bwMode="auto">
              <a:xfrm>
                <a:off x="4172722" y="4234706"/>
                <a:ext cx="2863997" cy="3856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>
                  <a:spcAft>
                    <a:spcPts val="200"/>
                  </a:spcAft>
                </a:pP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기업 만족도 및 성과 향상</a:t>
                </a:r>
              </a:p>
            </p:txBody>
          </p:sp>
          <p:sp>
            <p:nvSpPr>
              <p:cNvPr id="78" name="사각형: 둥근 위쪽 모서리 77">
                <a:extLst>
                  <a:ext uri="{FF2B5EF4-FFF2-40B4-BE49-F238E27FC236}">
                    <a16:creationId xmlns:a16="http://schemas.microsoft.com/office/drawing/2014/main" id="{5767E1C0-F9D4-8C26-CBD7-3BD0E26C6DF8}"/>
                  </a:ext>
                </a:extLst>
              </p:cNvPr>
              <p:cNvSpPr/>
              <p:nvPr/>
            </p:nvSpPr>
            <p:spPr bwMode="auto">
              <a:xfrm>
                <a:off x="4172722" y="4777670"/>
                <a:ext cx="2863997" cy="3856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>
                  <a:spcAft>
                    <a:spcPts val="200"/>
                  </a:spcAft>
                </a:pP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고용유지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·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노사합의</a:t>
                </a:r>
                <a:r>
                  <a:rPr lang="en-US" altLang="ko-KR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·</a:t>
                </a: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정책연계 달성</a:t>
                </a:r>
                <a:endPara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79" name="사각형: 둥근 위쪽 모서리 78">
                <a:extLst>
                  <a:ext uri="{FF2B5EF4-FFF2-40B4-BE49-F238E27FC236}">
                    <a16:creationId xmlns:a16="http://schemas.microsoft.com/office/drawing/2014/main" id="{5C13059F-B5BF-3326-B0F2-88E9731C65F3}"/>
                  </a:ext>
                </a:extLst>
              </p:cNvPr>
              <p:cNvSpPr/>
              <p:nvPr/>
            </p:nvSpPr>
            <p:spPr bwMode="auto">
              <a:xfrm>
                <a:off x="4170801" y="5320634"/>
                <a:ext cx="2863997" cy="3856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>
                  <a:spcAft>
                    <a:spcPts val="200"/>
                  </a:spcAft>
                </a:pPr>
                <a:r>
                  <a:rPr lang="ko-KR" altLang="en-US" sz="10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사업 신뢰도 및 지속가능성 강화</a:t>
                </a:r>
              </a:p>
            </p:txBody>
          </p:sp>
          <p:cxnSp>
            <p:nvCxnSpPr>
              <p:cNvPr id="80" name="직선 화살표 연결선 79">
                <a:extLst>
                  <a:ext uri="{FF2B5EF4-FFF2-40B4-BE49-F238E27FC236}">
                    <a16:creationId xmlns:a16="http://schemas.microsoft.com/office/drawing/2014/main" id="{A0D8357A-7518-D323-14CD-5DA0520DFCA8}"/>
                  </a:ext>
                </a:extLst>
              </p:cNvPr>
              <p:cNvCxnSpPr>
                <a:stCxn id="75" idx="1"/>
                <a:endCxn id="76" idx="3"/>
              </p:cNvCxnSpPr>
              <p:nvPr/>
            </p:nvCxnSpPr>
            <p:spPr bwMode="auto">
              <a:xfrm>
                <a:off x="5604721" y="3534396"/>
                <a:ext cx="0" cy="157346"/>
              </a:xfrm>
              <a:prstGeom prst="straightConnector1">
                <a:avLst/>
              </a:prstGeom>
              <a:solidFill>
                <a:srgbClr val="970F43"/>
              </a:solidFill>
              <a:ln w="6350" cap="flat" cmpd="sng" algn="ctr">
                <a:solidFill>
                  <a:srgbClr val="1040C3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81" name="직선 화살표 연결선 80">
                <a:extLst>
                  <a:ext uri="{FF2B5EF4-FFF2-40B4-BE49-F238E27FC236}">
                    <a16:creationId xmlns:a16="http://schemas.microsoft.com/office/drawing/2014/main" id="{A3D0158E-4E8F-508A-3178-5661FEF13ABF}"/>
                  </a:ext>
                </a:extLst>
              </p:cNvPr>
              <p:cNvCxnSpPr>
                <a:cxnSpLocks/>
                <a:stCxn id="76" idx="1"/>
                <a:endCxn id="77" idx="3"/>
              </p:cNvCxnSpPr>
              <p:nvPr/>
            </p:nvCxnSpPr>
            <p:spPr bwMode="auto">
              <a:xfrm>
                <a:off x="5604721" y="4077360"/>
                <a:ext cx="0" cy="157346"/>
              </a:xfrm>
              <a:prstGeom prst="straightConnector1">
                <a:avLst/>
              </a:prstGeom>
              <a:solidFill>
                <a:srgbClr val="970F43"/>
              </a:solidFill>
              <a:ln w="6350" cap="flat" cmpd="sng" algn="ctr">
                <a:solidFill>
                  <a:srgbClr val="1040C3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79979DDE-F34E-CDE3-737C-A6E52E222C19}"/>
                  </a:ext>
                </a:extLst>
              </p:cNvPr>
              <p:cNvCxnSpPr>
                <a:cxnSpLocks/>
                <a:stCxn id="77" idx="1"/>
                <a:endCxn id="78" idx="3"/>
              </p:cNvCxnSpPr>
              <p:nvPr/>
            </p:nvCxnSpPr>
            <p:spPr bwMode="auto">
              <a:xfrm>
                <a:off x="5604721" y="4620324"/>
                <a:ext cx="0" cy="157346"/>
              </a:xfrm>
              <a:prstGeom prst="straightConnector1">
                <a:avLst/>
              </a:prstGeom>
              <a:solidFill>
                <a:srgbClr val="970F43"/>
              </a:solidFill>
              <a:ln w="6350" cap="flat" cmpd="sng" algn="ctr">
                <a:solidFill>
                  <a:srgbClr val="1040C3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83" name="직선 화살표 연결선 82">
                <a:extLst>
                  <a:ext uri="{FF2B5EF4-FFF2-40B4-BE49-F238E27FC236}">
                    <a16:creationId xmlns:a16="http://schemas.microsoft.com/office/drawing/2014/main" id="{68C7A71E-99AD-1F54-F8B2-1A5AD8D35083}"/>
                  </a:ext>
                </a:extLst>
              </p:cNvPr>
              <p:cNvCxnSpPr>
                <a:cxnSpLocks/>
                <a:stCxn id="78" idx="1"/>
                <a:endCxn id="79" idx="3"/>
              </p:cNvCxnSpPr>
              <p:nvPr/>
            </p:nvCxnSpPr>
            <p:spPr bwMode="auto">
              <a:xfrm flipH="1">
                <a:off x="5602800" y="5163288"/>
                <a:ext cx="1921" cy="157346"/>
              </a:xfrm>
              <a:prstGeom prst="straightConnector1">
                <a:avLst/>
              </a:prstGeom>
              <a:solidFill>
                <a:srgbClr val="970F43"/>
              </a:solidFill>
              <a:ln w="6350" cap="flat" cmpd="sng" algn="ctr">
                <a:solidFill>
                  <a:srgbClr val="1040C3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pic>
        <p:nvPicPr>
          <p:cNvPr id="84" name="Picture 11">
            <a:extLst>
              <a:ext uri="{FF2B5EF4-FFF2-40B4-BE49-F238E27FC236}">
                <a16:creationId xmlns:a16="http://schemas.microsoft.com/office/drawing/2014/main" id="{FB8F1078-58C2-11A7-DF79-7566EA2A9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582" y="2100870"/>
            <a:ext cx="625641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10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499F-FC86-25F4-42D7-07876425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DBC912C2-6CFD-54F0-C9DA-EDF371856C31}"/>
              </a:ext>
            </a:extLst>
          </p:cNvPr>
          <p:cNvSpPr/>
          <p:nvPr/>
        </p:nvSpPr>
        <p:spPr bwMode="auto">
          <a:xfrm>
            <a:off x="397174" y="1985210"/>
            <a:ext cx="2895750" cy="28243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040C3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검증된 전문가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Pool → </a:t>
            </a:r>
            <a:r>
              <a:rPr lang="ko-KR" altLang="en-US" sz="10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스쿼드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팀 구성</a:t>
            </a:r>
            <a:endParaRPr kumimoji="0" lang="ko-KR" altLang="en-US" sz="100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92E510AC-576B-69A5-0D99-9E7BB52AA793}"/>
              </a:ext>
            </a:extLst>
          </p:cNvPr>
          <p:cNvSpPr/>
          <p:nvPr/>
        </p:nvSpPr>
        <p:spPr bwMode="auto">
          <a:xfrm>
            <a:off x="397174" y="2267640"/>
            <a:ext cx="2895750" cy="354955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fontAlgn="base"/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F05ADA-759A-89EF-5E67-3605CB6DFC7B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G-DAX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특화 역량강화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로 실무 중심 컨설팅 역량 확보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0120A7-2382-4539-9877-1CB2255B51A6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역량강화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44BC31-7A7B-92EB-B682-43D2C8D8EADB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산업전환 컨설팅 경험과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역량을 갖춘 상위 컨설턴트를 선발해 산업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·HR·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기술 융합형 </a:t>
            </a:r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스쿼드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팀을 구성하고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방법론과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AI·DX,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노동 이슈 중심의 실무 교육으로 역량을 지속 강화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CAEA73-44A5-AE4B-522B-6DC317FC2655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G-DAX·AI/DX·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정책연계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노동법 등 실무 중심의 단계별 교육을 통해</a:t>
            </a: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컨설턴트를 지속적으로 역량 강화하여 고품질 맞춤형 컨설팅을 일관되게 제공합니다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CDD80C-3CC5-E035-4519-8E65FD7CB3E0}"/>
              </a:ext>
            </a:extLst>
          </p:cNvPr>
          <p:cNvSpPr txBox="1"/>
          <p:nvPr/>
        </p:nvSpPr>
        <p:spPr>
          <a:xfrm>
            <a:off x="214069" y="211484"/>
            <a:ext cx="4353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인적자원 투자계획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교육 등 역량강화 계획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sp>
        <p:nvSpPr>
          <p:cNvPr id="85" name="사각형: 둥근 위쪽 모서리 84">
            <a:extLst>
              <a:ext uri="{FF2B5EF4-FFF2-40B4-BE49-F238E27FC236}">
                <a16:creationId xmlns:a16="http://schemas.microsoft.com/office/drawing/2014/main" id="{D9747D74-2BD9-67E2-9DF7-1BAABBBDE38D}"/>
              </a:ext>
            </a:extLst>
          </p:cNvPr>
          <p:cNvSpPr/>
          <p:nvPr/>
        </p:nvSpPr>
        <p:spPr bwMode="auto">
          <a:xfrm>
            <a:off x="511827" y="2390125"/>
            <a:ext cx="2621083" cy="31379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 확보 인력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130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명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4190DA2-A3C1-8F47-80C2-AFD47F85955E}"/>
              </a:ext>
            </a:extLst>
          </p:cNvPr>
          <p:cNvSpPr/>
          <p:nvPr/>
        </p:nvSpPr>
        <p:spPr bwMode="auto">
          <a:xfrm>
            <a:off x="511826" y="2864053"/>
            <a:ext cx="2621084" cy="74409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선발 기준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산업전환 컨설팅 경력 보유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G-DAX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수행역량 인증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상위 컨설턴트 우선 선발</a:t>
            </a: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7E543EC0-9D41-7B04-BBD3-4D89235DBB33}"/>
              </a:ext>
            </a:extLst>
          </p:cNvPr>
          <p:cNvSpPr/>
          <p:nvPr/>
        </p:nvSpPr>
        <p:spPr bwMode="auto">
          <a:xfrm>
            <a:off x="508867" y="3767911"/>
            <a:ext cx="2627002" cy="28243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최적 수준의 컨설턴트 투입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493852F6-3B94-3FC6-6B13-CB8D62A07B7F}"/>
              </a:ext>
            </a:extLst>
          </p:cNvPr>
          <p:cNvSpPr/>
          <p:nvPr/>
        </p:nvSpPr>
        <p:spPr bwMode="auto">
          <a:xfrm>
            <a:off x="499991" y="4231284"/>
            <a:ext cx="807737" cy="86657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FE2F2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 전문가</a:t>
            </a:r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산업분석</a:t>
            </a: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경영전략</a:t>
            </a: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경쟁력분석</a:t>
            </a:r>
            <a:endParaRPr lang="en-US" altLang="ko-KR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5" name="사각형: 둥근 위쪽 모서리 14">
            <a:extLst>
              <a:ext uri="{FF2B5EF4-FFF2-40B4-BE49-F238E27FC236}">
                <a16:creationId xmlns:a16="http://schemas.microsoft.com/office/drawing/2014/main" id="{498A7A28-25EC-5606-85F8-AC0080ECD710}"/>
              </a:ext>
            </a:extLst>
          </p:cNvPr>
          <p:cNvSpPr/>
          <p:nvPr/>
        </p:nvSpPr>
        <p:spPr bwMode="auto">
          <a:xfrm>
            <a:off x="1392742" y="4237918"/>
            <a:ext cx="807737" cy="86657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FE2F2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/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HR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전문가</a:t>
            </a:r>
            <a:endParaRPr lang="en-US" altLang="ko-KR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조직개편</a:t>
            </a: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직무전환</a:t>
            </a: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임금체계</a:t>
            </a: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인력배치</a:t>
            </a:r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3DB4AB9D-181D-BD4F-0CAF-E12537786A22}"/>
              </a:ext>
            </a:extLst>
          </p:cNvPr>
          <p:cNvSpPr/>
          <p:nvPr/>
        </p:nvSpPr>
        <p:spPr bwMode="auto">
          <a:xfrm>
            <a:off x="2279561" y="4231284"/>
            <a:ext cx="853349" cy="87713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FE2F2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기술 전문가 </a:t>
            </a:r>
            <a:endParaRPr lang="en-US" altLang="ko-KR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디지털진단</a:t>
            </a: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자동화기술</a:t>
            </a: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스마트팩토리</a:t>
            </a:r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데이터분석</a:t>
            </a: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C685BD7B-8916-A296-A0FD-8666DD8108D1}"/>
              </a:ext>
            </a:extLst>
          </p:cNvPr>
          <p:cNvSpPr/>
          <p:nvPr/>
        </p:nvSpPr>
        <p:spPr bwMode="auto">
          <a:xfrm>
            <a:off x="499991" y="5257995"/>
            <a:ext cx="2627002" cy="46300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융합형 </a:t>
            </a:r>
            <a:r>
              <a:rPr lang="ko-KR" altLang="en-US" sz="10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스쿼드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팀</a:t>
            </a:r>
          </a:p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복합적 문제해결 역량 극대화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C02B445-5F91-E811-C288-C53ED1330F86}"/>
              </a:ext>
            </a:extLst>
          </p:cNvPr>
          <p:cNvCxnSpPr>
            <a:cxnSpLocks/>
            <a:stCxn id="85" idx="1"/>
            <a:endCxn id="9" idx="3"/>
          </p:cNvCxnSpPr>
          <p:nvPr/>
        </p:nvCxnSpPr>
        <p:spPr bwMode="auto">
          <a:xfrm flipH="1">
            <a:off x="1822368" y="2703920"/>
            <a:ext cx="1" cy="160133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1040C3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D915E66-5A0A-FA3B-9FF7-02A48E97544E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 bwMode="auto">
          <a:xfrm>
            <a:off x="1822368" y="3608146"/>
            <a:ext cx="0" cy="159765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1040C3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1DCF1A33-669D-C8F0-4FA4-B22BF04D1AC3}"/>
              </a:ext>
            </a:extLst>
          </p:cNvPr>
          <p:cNvCxnSpPr>
            <a:cxnSpLocks/>
            <a:stCxn id="10" idx="1"/>
            <a:endCxn id="16" idx="3"/>
          </p:cNvCxnSpPr>
          <p:nvPr/>
        </p:nvCxnSpPr>
        <p:spPr bwMode="auto">
          <a:xfrm rot="16200000" flipH="1">
            <a:off x="2173831" y="3698879"/>
            <a:ext cx="180942" cy="883868"/>
          </a:xfrm>
          <a:prstGeom prst="bentConnector3">
            <a:avLst>
              <a:gd name="adj1" fmla="val 50000"/>
            </a:avLst>
          </a:prstGeom>
          <a:solidFill>
            <a:srgbClr val="970F43"/>
          </a:solidFill>
          <a:ln w="6350" cap="flat" cmpd="sng" algn="ctr">
            <a:solidFill>
              <a:srgbClr val="1040C3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5BD55FA2-704D-A694-C49B-FCBCE98FE4E8}"/>
              </a:ext>
            </a:extLst>
          </p:cNvPr>
          <p:cNvCxnSpPr>
            <a:cxnSpLocks/>
            <a:stCxn id="10" idx="1"/>
            <a:endCxn id="13" idx="3"/>
          </p:cNvCxnSpPr>
          <p:nvPr/>
        </p:nvCxnSpPr>
        <p:spPr bwMode="auto">
          <a:xfrm rot="5400000">
            <a:off x="1272643" y="3681559"/>
            <a:ext cx="180942" cy="918508"/>
          </a:xfrm>
          <a:prstGeom prst="bentConnector3">
            <a:avLst>
              <a:gd name="adj1" fmla="val 50000"/>
            </a:avLst>
          </a:prstGeom>
          <a:solidFill>
            <a:srgbClr val="970F43"/>
          </a:solidFill>
          <a:ln w="6350" cap="flat" cmpd="sng" algn="ctr">
            <a:solidFill>
              <a:srgbClr val="1040C3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82B8472-9C62-9D62-ED0F-47499C57E1B2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>
            <a:off x="1822368" y="4050342"/>
            <a:ext cx="0" cy="180942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1040C3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사각형: 둥근 위쪽 모서리 43">
            <a:extLst>
              <a:ext uri="{FF2B5EF4-FFF2-40B4-BE49-F238E27FC236}">
                <a16:creationId xmlns:a16="http://schemas.microsoft.com/office/drawing/2014/main" id="{EEE52F9B-8502-17EB-B487-7DF8DE334F9D}"/>
              </a:ext>
            </a:extLst>
          </p:cNvPr>
          <p:cNvSpPr/>
          <p:nvPr/>
        </p:nvSpPr>
        <p:spPr bwMode="auto">
          <a:xfrm>
            <a:off x="3467507" y="1985210"/>
            <a:ext cx="2895750" cy="28243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040C3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G-DAX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특화 교육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5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단계 단계별 프로그램</a:t>
            </a:r>
            <a:endParaRPr kumimoji="0" lang="ko-KR" altLang="en-US" sz="100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5" name="사각형: 둥근 위쪽 모서리 44">
            <a:extLst>
              <a:ext uri="{FF2B5EF4-FFF2-40B4-BE49-F238E27FC236}">
                <a16:creationId xmlns:a16="http://schemas.microsoft.com/office/drawing/2014/main" id="{50E28CC9-69CC-8DA0-0F8F-7196382067EF}"/>
              </a:ext>
            </a:extLst>
          </p:cNvPr>
          <p:cNvSpPr/>
          <p:nvPr/>
        </p:nvSpPr>
        <p:spPr bwMode="auto">
          <a:xfrm>
            <a:off x="3467507" y="2267640"/>
            <a:ext cx="2895750" cy="354955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fontAlgn="base"/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</a:endParaRP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E2144478-18A6-D40A-83E2-F48F10F5E0C3}"/>
              </a:ext>
            </a:extLst>
          </p:cNvPr>
          <p:cNvSpPr/>
          <p:nvPr/>
        </p:nvSpPr>
        <p:spPr bwMode="auto">
          <a:xfrm>
            <a:off x="6537840" y="1985210"/>
            <a:ext cx="2895750" cy="28243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교육 투자 → 역량강화 → 성과의 선순환</a:t>
            </a:r>
            <a:endParaRPr kumimoji="0" lang="ko-KR" altLang="en-US" sz="100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7" name="사각형: 둥근 위쪽 모서리 46">
            <a:extLst>
              <a:ext uri="{FF2B5EF4-FFF2-40B4-BE49-F238E27FC236}">
                <a16:creationId xmlns:a16="http://schemas.microsoft.com/office/drawing/2014/main" id="{4CF63EFE-AF09-CE49-EAF2-2C40B65C4B82}"/>
              </a:ext>
            </a:extLst>
          </p:cNvPr>
          <p:cNvSpPr/>
          <p:nvPr/>
        </p:nvSpPr>
        <p:spPr bwMode="auto">
          <a:xfrm>
            <a:off x="6537840" y="2267640"/>
            <a:ext cx="2895750" cy="354955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fontAlgn="base"/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41108787-6D7A-8DBF-EB0F-01EC19AE9BA0}"/>
              </a:ext>
            </a:extLst>
          </p:cNvPr>
          <p:cNvGrpSpPr/>
          <p:nvPr/>
        </p:nvGrpSpPr>
        <p:grpSpPr>
          <a:xfrm>
            <a:off x="3599309" y="2390126"/>
            <a:ext cx="2622797" cy="3330875"/>
            <a:chOff x="3599309" y="2390125"/>
            <a:chExt cx="2622797" cy="3852108"/>
          </a:xfrm>
        </p:grpSpPr>
        <p:sp>
          <p:nvSpPr>
            <p:cNvPr id="48" name="사각형: 둥근 위쪽 모서리 47">
              <a:extLst>
                <a:ext uri="{FF2B5EF4-FFF2-40B4-BE49-F238E27FC236}">
                  <a16:creationId xmlns:a16="http://schemas.microsoft.com/office/drawing/2014/main" id="{74B6BAFF-CCCF-522D-E6DA-3EC80A232EF3}"/>
                </a:ext>
              </a:extLst>
            </p:cNvPr>
            <p:cNvSpPr/>
            <p:nvPr/>
          </p:nvSpPr>
          <p:spPr bwMode="auto">
            <a:xfrm>
              <a:off x="3599310" y="2390126"/>
              <a:ext cx="702989" cy="70186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[1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단계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]</a:t>
              </a:r>
            </a:p>
            <a:p>
              <a:pPr algn="ctr" defTabSz="914400"/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G-DAX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방법론 마스터</a:t>
              </a: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B2AF3FEF-5DC3-1116-2F74-31906398C834}"/>
                </a:ext>
              </a:extLst>
            </p:cNvPr>
            <p:cNvSpPr/>
            <p:nvPr/>
          </p:nvSpPr>
          <p:spPr bwMode="auto">
            <a:xfrm>
              <a:off x="4302299" y="2390125"/>
              <a:ext cx="1919392" cy="70186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108000" tIns="0" rIns="36000" bIns="0" rtlCol="0" anchor="ctr"/>
            <a:lstStyle/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전체 필수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4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문면 진단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Type 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판별실습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</a:t>
              </a:r>
              <a:r>
                <a:rPr lang="ko-KR" altLang="en-US" sz="9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진단정확도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제고</a:t>
              </a:r>
            </a:p>
          </p:txBody>
        </p:sp>
        <p:sp>
          <p:nvSpPr>
            <p:cNvPr id="50" name="사각형: 둥근 위쪽 모서리 49">
              <a:extLst>
                <a:ext uri="{FF2B5EF4-FFF2-40B4-BE49-F238E27FC236}">
                  <a16:creationId xmlns:a16="http://schemas.microsoft.com/office/drawing/2014/main" id="{8A160DC4-93F7-4203-0E70-F616702B9579}"/>
                </a:ext>
              </a:extLst>
            </p:cNvPr>
            <p:cNvSpPr/>
            <p:nvPr/>
          </p:nvSpPr>
          <p:spPr bwMode="auto">
            <a:xfrm>
              <a:off x="3599310" y="3180284"/>
              <a:ext cx="702989" cy="53371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[2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단계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]</a:t>
              </a:r>
            </a:p>
            <a:p>
              <a:pPr algn="ctr" defTabSz="914400"/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AI/DX 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도구 활용 과정</a:t>
              </a: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E2BDE044-4B12-F1DE-476D-C6FDDA5B14DC}"/>
                </a:ext>
              </a:extLst>
            </p:cNvPr>
            <p:cNvSpPr/>
            <p:nvPr/>
          </p:nvSpPr>
          <p:spPr bwMode="auto">
            <a:xfrm>
              <a:off x="4302299" y="3180283"/>
              <a:ext cx="1919392" cy="53371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108000" tIns="0" rIns="36000" bIns="0" rtlCol="0" anchor="ctr"/>
            <a:lstStyle/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기술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/HR 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컨설턴트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ChatGPT, 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데이터분석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업무생산성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30% 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향상</a:t>
              </a:r>
            </a:p>
          </p:txBody>
        </p:sp>
        <p:sp>
          <p:nvSpPr>
            <p:cNvPr id="52" name="사각형: 둥근 위쪽 모서리 51">
              <a:extLst>
                <a:ext uri="{FF2B5EF4-FFF2-40B4-BE49-F238E27FC236}">
                  <a16:creationId xmlns:a16="http://schemas.microsoft.com/office/drawing/2014/main" id="{3C89C3A9-B87F-117F-150E-E9A72190A872}"/>
                </a:ext>
              </a:extLst>
            </p:cNvPr>
            <p:cNvSpPr/>
            <p:nvPr/>
          </p:nvSpPr>
          <p:spPr bwMode="auto">
            <a:xfrm>
              <a:off x="3599309" y="3793648"/>
              <a:ext cx="702989" cy="70186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[3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단계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]</a:t>
              </a:r>
            </a:p>
            <a:p>
              <a:pPr algn="ctr" defTabSz="914400"/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정책연계 실무과정</a:t>
              </a: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3E8D4AC5-694C-F87E-D960-2AD4C588EDC9}"/>
                </a:ext>
              </a:extLst>
            </p:cNvPr>
            <p:cNvSpPr/>
            <p:nvPr/>
          </p:nvSpPr>
          <p:spPr bwMode="auto">
            <a:xfrm>
              <a:off x="4302298" y="3793647"/>
              <a:ext cx="1919392" cy="70186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108000" tIns="0" rIns="36000" bIns="0" rtlCol="0" anchor="ctr"/>
            <a:lstStyle/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PM/PL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급 컨설턴트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</a:t>
              </a:r>
              <a:r>
                <a:rPr lang="ko-KR" altLang="en-US" sz="9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범부처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정책연계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</a:t>
              </a:r>
              <a:r>
                <a:rPr lang="ko-KR" altLang="en-US" sz="9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자금매칭</a:t>
              </a:r>
              <a:endPara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성공률 제고</a:t>
              </a:r>
            </a:p>
          </p:txBody>
        </p:sp>
        <p:sp>
          <p:nvSpPr>
            <p:cNvPr id="54" name="사각형: 둥근 위쪽 모서리 53">
              <a:extLst>
                <a:ext uri="{FF2B5EF4-FFF2-40B4-BE49-F238E27FC236}">
                  <a16:creationId xmlns:a16="http://schemas.microsoft.com/office/drawing/2014/main" id="{6EE17C8F-1119-EAC2-E2E1-44D9FEDE3961}"/>
                </a:ext>
              </a:extLst>
            </p:cNvPr>
            <p:cNvSpPr/>
            <p:nvPr/>
          </p:nvSpPr>
          <p:spPr bwMode="auto">
            <a:xfrm>
              <a:off x="3599725" y="4592444"/>
              <a:ext cx="702989" cy="87002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[4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단계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]</a:t>
              </a:r>
            </a:p>
            <a:p>
              <a:pPr algn="ctr" defTabSz="914400"/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노동관계법 이슈관리</a:t>
              </a:r>
            </a:p>
          </p:txBody>
        </p:sp>
        <p:sp>
          <p:nvSpPr>
            <p:cNvPr id="55" name="사각형: 둥근 위쪽 모서리 54">
              <a:extLst>
                <a:ext uri="{FF2B5EF4-FFF2-40B4-BE49-F238E27FC236}">
                  <a16:creationId xmlns:a16="http://schemas.microsoft.com/office/drawing/2014/main" id="{001ED380-A870-C7AD-8323-CC7C43450C07}"/>
                </a:ext>
              </a:extLst>
            </p:cNvPr>
            <p:cNvSpPr/>
            <p:nvPr/>
          </p:nvSpPr>
          <p:spPr bwMode="auto">
            <a:xfrm>
              <a:off x="4302714" y="4592442"/>
              <a:ext cx="1919392" cy="87002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108000" tIns="0" rIns="36000" bIns="0" rtlCol="0" anchor="ctr"/>
            <a:lstStyle/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노무사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/HR 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컨설턴트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고용조정 법적 </a:t>
              </a:r>
              <a:r>
                <a:rPr lang="ko-KR" altLang="en-US" sz="9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리스크관리</a:t>
              </a:r>
              <a:endPara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중대재해처벌법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노사갈등예방 </a:t>
              </a:r>
              <a:endPara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</a:t>
              </a:r>
              <a:r>
                <a:rPr lang="ko-KR" altLang="en-US" sz="9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법률리스크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제로화</a:t>
              </a:r>
            </a:p>
          </p:txBody>
        </p:sp>
        <p:sp>
          <p:nvSpPr>
            <p:cNvPr id="56" name="사각형: 둥근 위쪽 모서리 55">
              <a:extLst>
                <a:ext uri="{FF2B5EF4-FFF2-40B4-BE49-F238E27FC236}">
                  <a16:creationId xmlns:a16="http://schemas.microsoft.com/office/drawing/2014/main" id="{AD3C060B-7E5F-A04B-1081-6CA98734E690}"/>
                </a:ext>
              </a:extLst>
            </p:cNvPr>
            <p:cNvSpPr/>
            <p:nvPr/>
          </p:nvSpPr>
          <p:spPr bwMode="auto">
            <a:xfrm>
              <a:off x="3599309" y="5540366"/>
              <a:ext cx="702989" cy="70186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[5</a:t>
              </a:r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단계</a:t>
              </a:r>
              <a:r>
                <a:rPr lang="en-US" altLang="ko-KR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]</a:t>
              </a:r>
            </a:p>
            <a:p>
              <a:pPr algn="ctr" defTabSz="914400"/>
              <a:r>
                <a:rPr lang="ko-KR" altLang="en-US" sz="9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산업전환 트렌드 특강</a:t>
              </a:r>
            </a:p>
          </p:txBody>
        </p:sp>
        <p:sp>
          <p:nvSpPr>
            <p:cNvPr id="57" name="사각형: 둥근 위쪽 모서리 56">
              <a:extLst>
                <a:ext uri="{FF2B5EF4-FFF2-40B4-BE49-F238E27FC236}">
                  <a16:creationId xmlns:a16="http://schemas.microsoft.com/office/drawing/2014/main" id="{337E8EC5-AC7E-9A7B-D6DB-BBA89BE6816A}"/>
                </a:ext>
              </a:extLst>
            </p:cNvPr>
            <p:cNvSpPr/>
            <p:nvPr/>
          </p:nvSpPr>
          <p:spPr bwMode="auto">
            <a:xfrm>
              <a:off x="4302298" y="5540363"/>
              <a:ext cx="1919392" cy="70186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lIns="108000" tIns="0" rIns="36000" bIns="0" rtlCol="0" anchor="ctr"/>
            <a:lstStyle/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전체 컨설턴트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정기 운영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최신 산업동향 및 정책이슈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✓ 장려금 연계</a:t>
              </a:r>
            </a:p>
          </p:txBody>
        </p:sp>
      </p:grp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89E22398-265C-C650-899E-4DCDA796224F}"/>
              </a:ext>
            </a:extLst>
          </p:cNvPr>
          <p:cNvSpPr/>
          <p:nvPr/>
        </p:nvSpPr>
        <p:spPr bwMode="auto">
          <a:xfrm>
            <a:off x="6675173" y="2390125"/>
            <a:ext cx="2621083" cy="21083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검증된 인력 선발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60" name="사각형: 둥근 위쪽 모서리 59">
            <a:extLst>
              <a:ext uri="{FF2B5EF4-FFF2-40B4-BE49-F238E27FC236}">
                <a16:creationId xmlns:a16="http://schemas.microsoft.com/office/drawing/2014/main" id="{EA50FB83-3912-8619-AD91-87E17630C767}"/>
              </a:ext>
            </a:extLst>
          </p:cNvPr>
          <p:cNvSpPr/>
          <p:nvPr/>
        </p:nvSpPr>
        <p:spPr bwMode="auto">
          <a:xfrm>
            <a:off x="6675172" y="2735555"/>
            <a:ext cx="2621083" cy="21083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스쿼드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팀 구성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·HR·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기술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61" name="사각형: 둥근 위쪽 모서리 60">
            <a:extLst>
              <a:ext uri="{FF2B5EF4-FFF2-40B4-BE49-F238E27FC236}">
                <a16:creationId xmlns:a16="http://schemas.microsoft.com/office/drawing/2014/main" id="{EDF03FE3-6E7A-33CF-6693-5794C8F92226}"/>
              </a:ext>
            </a:extLst>
          </p:cNvPr>
          <p:cNvSpPr/>
          <p:nvPr/>
        </p:nvSpPr>
        <p:spPr bwMode="auto">
          <a:xfrm>
            <a:off x="6675172" y="3080985"/>
            <a:ext cx="2621083" cy="3998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단계별 교육 이수</a:t>
            </a:r>
          </a:p>
          <a:p>
            <a:pPr algn="ctr" defTabSz="914400">
              <a:spcAft>
                <a:spcPts val="200"/>
              </a:spcAft>
            </a:pP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(G-DAX·AI/DX·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노동법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트렌드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62" name="사각형: 둥근 위쪽 모서리 61">
            <a:extLst>
              <a:ext uri="{FF2B5EF4-FFF2-40B4-BE49-F238E27FC236}">
                <a16:creationId xmlns:a16="http://schemas.microsoft.com/office/drawing/2014/main" id="{2EBC37DE-44B1-89C6-FF74-8650CF220A92}"/>
              </a:ext>
            </a:extLst>
          </p:cNvPr>
          <p:cNvSpPr/>
          <p:nvPr/>
        </p:nvSpPr>
        <p:spPr bwMode="auto">
          <a:xfrm>
            <a:off x="6675171" y="3615387"/>
            <a:ext cx="2621083" cy="85968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컨설턴트 역량 강화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진단 정확도 제고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디지털 문해력 향상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 연계능력 개선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법률 리스크 제로</a:t>
            </a:r>
          </a:p>
        </p:txBody>
      </p:sp>
      <p:sp>
        <p:nvSpPr>
          <p:cNvPr id="63" name="사각형: 둥근 위쪽 모서리 62">
            <a:extLst>
              <a:ext uri="{FF2B5EF4-FFF2-40B4-BE49-F238E27FC236}">
                <a16:creationId xmlns:a16="http://schemas.microsoft.com/office/drawing/2014/main" id="{735B90CB-EB07-CFD2-A763-FAACF5DC5F59}"/>
              </a:ext>
            </a:extLst>
          </p:cNvPr>
          <p:cNvSpPr/>
          <p:nvPr/>
        </p:nvSpPr>
        <p:spPr bwMode="auto">
          <a:xfrm>
            <a:off x="6675170" y="4609664"/>
            <a:ext cx="2621083" cy="21083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고품질 맞춤형 컨설팅 제공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64" name="사각형: 둥근 위쪽 모서리 63">
            <a:extLst>
              <a:ext uri="{FF2B5EF4-FFF2-40B4-BE49-F238E27FC236}">
                <a16:creationId xmlns:a16="http://schemas.microsoft.com/office/drawing/2014/main" id="{1DA95EBF-7A94-5663-A150-F4BD95A88E36}"/>
              </a:ext>
            </a:extLst>
          </p:cNvPr>
          <p:cNvSpPr/>
          <p:nvPr/>
        </p:nvSpPr>
        <p:spPr bwMode="auto">
          <a:xfrm>
            <a:off x="6675170" y="4955094"/>
            <a:ext cx="2621083" cy="3998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 성과 창출</a:t>
            </a:r>
          </a:p>
          <a:p>
            <a:pPr algn="ctr" defTabSz="914400">
              <a:spcAft>
                <a:spcPts val="200"/>
              </a:spcAft>
            </a:pP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고용유지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임금개선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노사합의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정책연계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65" name="사각형: 둥근 위쪽 모서리 64">
            <a:extLst>
              <a:ext uri="{FF2B5EF4-FFF2-40B4-BE49-F238E27FC236}">
                <a16:creationId xmlns:a16="http://schemas.microsoft.com/office/drawing/2014/main" id="{8C7BAF49-D5CD-6B71-E9F3-D74702EB709D}"/>
              </a:ext>
            </a:extLst>
          </p:cNvPr>
          <p:cNvSpPr/>
          <p:nvPr/>
        </p:nvSpPr>
        <p:spPr bwMode="auto">
          <a:xfrm>
            <a:off x="6675169" y="5489497"/>
            <a:ext cx="2621083" cy="21083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사업 신뢰도 강화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925F43F3-6A0C-0066-0BC4-3E5D88A5CDEB}"/>
              </a:ext>
            </a:extLst>
          </p:cNvPr>
          <p:cNvCxnSpPr>
            <a:cxnSpLocks/>
            <a:stCxn id="59" idx="1"/>
            <a:endCxn id="60" idx="3"/>
          </p:cNvCxnSpPr>
          <p:nvPr/>
        </p:nvCxnSpPr>
        <p:spPr bwMode="auto">
          <a:xfrm flipH="1">
            <a:off x="7985714" y="2600960"/>
            <a:ext cx="1" cy="134595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25265200-D695-2CA2-0DCD-D0DE2671DAAE}"/>
              </a:ext>
            </a:extLst>
          </p:cNvPr>
          <p:cNvCxnSpPr>
            <a:cxnSpLocks/>
            <a:stCxn id="60" idx="1"/>
          </p:cNvCxnSpPr>
          <p:nvPr/>
        </p:nvCxnSpPr>
        <p:spPr bwMode="auto">
          <a:xfrm>
            <a:off x="7985714" y="2946390"/>
            <a:ext cx="0" cy="126977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06605283-7E6C-4743-14AC-67E8093B6258}"/>
              </a:ext>
            </a:extLst>
          </p:cNvPr>
          <p:cNvCxnSpPr>
            <a:cxnSpLocks/>
            <a:stCxn id="61" idx="1"/>
            <a:endCxn id="62" idx="3"/>
          </p:cNvCxnSpPr>
          <p:nvPr/>
        </p:nvCxnSpPr>
        <p:spPr bwMode="auto">
          <a:xfrm flipH="1">
            <a:off x="7985713" y="3480792"/>
            <a:ext cx="1" cy="134595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20D1777-B0BB-4A09-54C7-5C3FBE74E038}"/>
              </a:ext>
            </a:extLst>
          </p:cNvPr>
          <p:cNvCxnSpPr>
            <a:cxnSpLocks/>
            <a:stCxn id="62" idx="1"/>
          </p:cNvCxnSpPr>
          <p:nvPr/>
        </p:nvCxnSpPr>
        <p:spPr bwMode="auto">
          <a:xfrm>
            <a:off x="7985713" y="4475069"/>
            <a:ext cx="0" cy="134594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7E7A98C-807A-7E64-E7FF-45835FC3EF7A}"/>
              </a:ext>
            </a:extLst>
          </p:cNvPr>
          <p:cNvCxnSpPr>
            <a:cxnSpLocks/>
            <a:stCxn id="63" idx="1"/>
            <a:endCxn id="64" idx="3"/>
          </p:cNvCxnSpPr>
          <p:nvPr/>
        </p:nvCxnSpPr>
        <p:spPr bwMode="auto">
          <a:xfrm>
            <a:off x="7985712" y="4820499"/>
            <a:ext cx="0" cy="134595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A265EC9-AFF1-3929-65B1-A14A87280CF7}"/>
              </a:ext>
            </a:extLst>
          </p:cNvPr>
          <p:cNvCxnSpPr>
            <a:cxnSpLocks/>
            <a:stCxn id="64" idx="1"/>
            <a:endCxn id="65" idx="3"/>
          </p:cNvCxnSpPr>
          <p:nvPr/>
        </p:nvCxnSpPr>
        <p:spPr bwMode="auto">
          <a:xfrm flipH="1">
            <a:off x="7985711" y="5354901"/>
            <a:ext cx="1" cy="134596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43079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581B-A2FE-4150-9612-3005889CF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C7D7D3D8-A4C2-D0F3-6137-EF77BA7719DD}"/>
              </a:ext>
            </a:extLst>
          </p:cNvPr>
          <p:cNvSpPr/>
          <p:nvPr/>
        </p:nvSpPr>
        <p:spPr bwMode="auto">
          <a:xfrm>
            <a:off x="397173" y="1985211"/>
            <a:ext cx="5966083" cy="281948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040C3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성과 기반 차등 보상체계</a:t>
            </a:r>
            <a:endParaRPr kumimoji="0" lang="ko-KR" altLang="en-US" sz="105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ED7E00DB-BC7E-40B8-E91E-A49281921FBC}"/>
              </a:ext>
            </a:extLst>
          </p:cNvPr>
          <p:cNvSpPr/>
          <p:nvPr/>
        </p:nvSpPr>
        <p:spPr bwMode="auto">
          <a:xfrm>
            <a:off x="397174" y="2267641"/>
            <a:ext cx="5966082" cy="159063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fontAlgn="base"/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</a:endParaRP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A539DFBF-A738-DBC3-E2AE-9E1E60BEF142}"/>
              </a:ext>
            </a:extLst>
          </p:cNvPr>
          <p:cNvSpPr/>
          <p:nvPr/>
        </p:nvSpPr>
        <p:spPr bwMode="auto">
          <a:xfrm>
            <a:off x="397172" y="3971283"/>
            <a:ext cx="5966081" cy="28243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040C3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5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비금전적 보상 및 경력개발</a:t>
            </a:r>
            <a:endParaRPr kumimoji="0" lang="ko-KR" altLang="en-US" sz="105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C2169025-0BB8-894E-B937-38D3ABF7F1D9}"/>
              </a:ext>
            </a:extLst>
          </p:cNvPr>
          <p:cNvSpPr/>
          <p:nvPr/>
        </p:nvSpPr>
        <p:spPr bwMode="auto">
          <a:xfrm>
            <a:off x="397172" y="4253714"/>
            <a:ext cx="5966085" cy="156347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fontAlgn="base"/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</a:endParaRPr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D16AD16C-EC05-BD47-7ACD-2CA9D749B765}"/>
              </a:ext>
            </a:extLst>
          </p:cNvPr>
          <p:cNvSpPr/>
          <p:nvPr/>
        </p:nvSpPr>
        <p:spPr bwMode="auto">
          <a:xfrm>
            <a:off x="6537840" y="1985210"/>
            <a:ext cx="2895750" cy="28243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성과 기반 차등 보상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경력개발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선순환 구조</a:t>
            </a:r>
            <a:endParaRPr kumimoji="0" lang="ko-KR" altLang="en-US" sz="100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B0B7C8A2-BBCD-2A76-9041-71DA7B5B1F84}"/>
              </a:ext>
            </a:extLst>
          </p:cNvPr>
          <p:cNvSpPr/>
          <p:nvPr/>
        </p:nvSpPr>
        <p:spPr bwMode="auto">
          <a:xfrm>
            <a:off x="6537840" y="2267640"/>
            <a:ext cx="2895750" cy="354955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fontAlgn="base"/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2D950-8C7A-DC19-E794-896203829384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성과 기반 차등 보상체계와 경력개발 지원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컨설턴트 전문성 강화 및 사업 성과 동시 달성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E39618-90FE-F922-DDD6-9618BC452F64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동기부여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F1F0D9-4E03-2DAC-78F2-9C3F34723BF1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사업성과와 개인 기여도를 연계한 성과 기반 인센티브를 운영하고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정량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정성 성과를 종합 평가해 차등 보상하며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우수 컨설턴트에 대한 포상과 차기 사업 우선 참여로 역량 축적을 지원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4C2781-51C8-A11B-2CCF-E8672557E193}"/>
              </a:ext>
            </a:extLst>
          </p:cNvPr>
          <p:cNvSpPr txBox="1"/>
          <p:nvPr/>
        </p:nvSpPr>
        <p:spPr>
          <a:xfrm>
            <a:off x="214069" y="211484"/>
            <a:ext cx="5235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인적자원 투자계획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컨설턴트 동기부여 및 성과제고 계획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395C7B-9616-2DA6-5C9D-AA8CC1EA9D07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정량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정성 평가로 공정하게 차등 보상하고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우수 컨설턴트에게는 더 나은 프로젝트와 리더 기회를 제공하여</a:t>
            </a: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지금의 인센티브도 받지만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더 중요하게는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10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년 후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우리 조직의 핵심 전문가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"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로 성장하는 경험을 제공합니다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5" name="사각형: 둥근 위쪽 모서리 14">
            <a:extLst>
              <a:ext uri="{FF2B5EF4-FFF2-40B4-BE49-F238E27FC236}">
                <a16:creationId xmlns:a16="http://schemas.microsoft.com/office/drawing/2014/main" id="{C08307A5-6A61-5A47-227C-923DE6D5C8BB}"/>
              </a:ext>
            </a:extLst>
          </p:cNvPr>
          <p:cNvSpPr/>
          <p:nvPr/>
        </p:nvSpPr>
        <p:spPr bwMode="auto">
          <a:xfrm>
            <a:off x="557380" y="2350257"/>
            <a:ext cx="2076176" cy="133859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정량평가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(60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점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컨설팅 수행목표 </a:t>
            </a:r>
            <a:r>
              <a:rPr lang="ko-KR" altLang="en-US" sz="10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달성률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(30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점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정책사업 연계 성공건수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(30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점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정성평가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(40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점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기업만족도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(20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점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>
              <a:spcAft>
                <a:spcPts val="200"/>
              </a:spcAft>
            </a:pP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보고서품질평가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(20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점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3778949-DD43-D44C-8CC0-8DBD3DC1E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80611"/>
              </p:ext>
            </p:extLst>
          </p:nvPr>
        </p:nvGraphicFramePr>
        <p:xfrm>
          <a:off x="2937273" y="2350258"/>
          <a:ext cx="3219580" cy="1338594"/>
        </p:xfrm>
        <a:graphic>
          <a:graphicData uri="http://schemas.openxmlformats.org/drawingml/2006/table">
            <a:tbl>
              <a:tblPr/>
              <a:tblGrid>
                <a:gridCol w="804895">
                  <a:extLst>
                    <a:ext uri="{9D8B030D-6E8A-4147-A177-3AD203B41FA5}">
                      <a16:colId xmlns:a16="http://schemas.microsoft.com/office/drawing/2014/main" val="91907722"/>
                    </a:ext>
                  </a:extLst>
                </a:gridCol>
                <a:gridCol w="804895">
                  <a:extLst>
                    <a:ext uri="{9D8B030D-6E8A-4147-A177-3AD203B41FA5}">
                      <a16:colId xmlns:a16="http://schemas.microsoft.com/office/drawing/2014/main" val="3812466882"/>
                    </a:ext>
                  </a:extLst>
                </a:gridCol>
                <a:gridCol w="804895">
                  <a:extLst>
                    <a:ext uri="{9D8B030D-6E8A-4147-A177-3AD203B41FA5}">
                      <a16:colId xmlns:a16="http://schemas.microsoft.com/office/drawing/2014/main" val="2032582172"/>
                    </a:ext>
                  </a:extLst>
                </a:gridCol>
                <a:gridCol w="804895">
                  <a:extLst>
                    <a:ext uri="{9D8B030D-6E8A-4147-A177-3AD203B41FA5}">
                      <a16:colId xmlns:a16="http://schemas.microsoft.com/office/drawing/2014/main" val="3682160273"/>
                    </a:ext>
                  </a:extLst>
                </a:gridCol>
              </a:tblGrid>
              <a:tr h="3740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등급 </a:t>
                      </a:r>
                      <a:endParaRPr lang="en-US" altLang="ko-KR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상위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10%)</a:t>
                      </a:r>
                      <a:endParaRPr lang="ko-KR" altLang="en-US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등급 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중위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50%)</a:t>
                      </a: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등급 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하위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30%)</a:t>
                      </a:r>
                      <a:endParaRPr lang="ko-KR" altLang="en-US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등급 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최하위 </a:t>
                      </a:r>
                      <a:r>
                        <a:rPr lang="en-US" altLang="ko-KR" sz="1000" b="1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10%)</a:t>
                      </a:r>
                      <a:endParaRPr lang="ko-KR" altLang="en-US" sz="10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44546"/>
                  </a:ext>
                </a:extLst>
              </a:tr>
              <a:tr h="964561">
                <a:tc>
                  <a:txBody>
                    <a:bodyPr/>
                    <a:lstStyle/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인센티브 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+50%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우수사례 포상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우선 배정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리드역할 제안</a:t>
                      </a:r>
                    </a:p>
                    <a:p>
                      <a:pPr marL="36000" indent="-36000" algn="ctr">
                        <a:buNone/>
                      </a:pPr>
                      <a:endParaRPr lang="ko-KR" altLang="en-US" sz="900" b="1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인센티브 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100%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선호도 배려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기회 배정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정상 참여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endParaRPr lang="ko-KR" altLang="en-US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인센티브 </a:t>
                      </a:r>
                      <a:r>
                        <a:rPr lang="en-US" altLang="ko-KR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70%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교육권고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피드백 제공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사후지원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endParaRPr lang="ko-KR" altLang="en-US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미지급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개선추적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검토대상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모니터링</a:t>
                      </a:r>
                    </a:p>
                    <a:p>
                      <a:pPr marL="36000" indent="-36000" algn="l">
                        <a:buFont typeface="Arial" panose="020B0604020202020204" pitchFamily="34" charset="0"/>
                        <a:buChar char="•"/>
                      </a:pPr>
                      <a:endParaRPr lang="ko-KR" altLang="en-US" sz="900" b="0" spc="-50" baseline="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6697" marR="16697" marT="7706" marB="77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601249"/>
                  </a:ext>
                </a:extLst>
              </a:tr>
            </a:tbl>
          </a:graphicData>
        </a:graphic>
      </p:graphicFrame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E9EBB329-BF93-FD66-030E-E96302DADC47}"/>
              </a:ext>
            </a:extLst>
          </p:cNvPr>
          <p:cNvSpPr/>
          <p:nvPr/>
        </p:nvSpPr>
        <p:spPr bwMode="auto">
          <a:xfrm>
            <a:off x="557379" y="4442159"/>
            <a:ext cx="2693011" cy="112024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ko-KR" altLang="en-US" sz="105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① 우수 컨설턴트 포상 </a:t>
            </a:r>
            <a:r>
              <a:rPr lang="en-US" altLang="ko-KR" sz="105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5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매년</a:t>
            </a:r>
            <a:r>
              <a:rPr lang="en-US" altLang="ko-KR" sz="105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시상식 개최 </a:t>
            </a:r>
            <a:r>
              <a:rPr lang="en-US" altLang="ko-KR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우수사례 발표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증명서 발급 </a:t>
            </a:r>
            <a:r>
              <a:rPr lang="en-US" altLang="ko-KR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언론 소개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자긍심 고취 </a:t>
            </a:r>
            <a:r>
              <a:rPr lang="en-US" altLang="ko-KR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개인 브랜드 가치 향상</a:t>
            </a: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15873575-E5AB-42ED-EFE7-9B8D1B85277A}"/>
              </a:ext>
            </a:extLst>
          </p:cNvPr>
          <p:cNvSpPr/>
          <p:nvPr/>
        </p:nvSpPr>
        <p:spPr bwMode="auto">
          <a:xfrm>
            <a:off x="3487064" y="4458109"/>
            <a:ext cx="2693011" cy="112024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>
              <a:spcAft>
                <a:spcPts val="200"/>
              </a:spcAft>
            </a:pPr>
            <a:r>
              <a:rPr lang="ko-KR" altLang="en-US" sz="105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② 차기 사업 우선 참여 기회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더 나은 규모</a:t>
            </a:r>
            <a:r>
              <a:rPr lang="en-US" altLang="ko-KR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조건의 기업 배정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리드 컨설턴트 역할 </a:t>
            </a:r>
            <a:r>
              <a:rPr lang="en-US" altLang="ko-KR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교육 강사 기회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경험 축적 </a:t>
            </a:r>
            <a:r>
              <a:rPr lang="en-US" altLang="ko-KR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역량 강화 </a:t>
            </a:r>
            <a:r>
              <a:rPr lang="en-US" altLang="ko-KR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5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리더십 발전</a:t>
            </a: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A47B6295-0140-C8BD-378D-4BEB53BCF2BB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2682497" y="2893884"/>
            <a:ext cx="205835" cy="207369"/>
          </a:xfrm>
          <a:custGeom>
            <a:avLst/>
            <a:gdLst>
              <a:gd name="T0" fmla="*/ 159 w 317"/>
              <a:gd name="T1" fmla="*/ 0 h 317"/>
              <a:gd name="T2" fmla="*/ 317 w 317"/>
              <a:gd name="T3" fmla="*/ 158 h 317"/>
              <a:gd name="T4" fmla="*/ 159 w 317"/>
              <a:gd name="T5" fmla="*/ 317 h 317"/>
              <a:gd name="T6" fmla="*/ 0 w 317"/>
              <a:gd name="T7" fmla="*/ 158 h 317"/>
              <a:gd name="T8" fmla="*/ 159 w 317"/>
              <a:gd name="T9" fmla="*/ 0 h 317"/>
              <a:gd name="T10" fmla="*/ 135 w 317"/>
              <a:gd name="T11" fmla="*/ 183 h 317"/>
              <a:gd name="T12" fmla="*/ 239 w 317"/>
              <a:gd name="T13" fmla="*/ 183 h 317"/>
              <a:gd name="T14" fmla="*/ 240 w 317"/>
              <a:gd name="T15" fmla="*/ 133 h 317"/>
              <a:gd name="T16" fmla="*/ 135 w 317"/>
              <a:gd name="T17" fmla="*/ 134 h 317"/>
              <a:gd name="T18" fmla="*/ 154 w 317"/>
              <a:gd name="T19" fmla="*/ 117 h 317"/>
              <a:gd name="T20" fmla="*/ 118 w 317"/>
              <a:gd name="T21" fmla="*/ 82 h 317"/>
              <a:gd name="T22" fmla="*/ 49 w 317"/>
              <a:gd name="T23" fmla="*/ 159 h 317"/>
              <a:gd name="T24" fmla="*/ 118 w 317"/>
              <a:gd name="T25" fmla="*/ 235 h 317"/>
              <a:gd name="T26" fmla="*/ 154 w 317"/>
              <a:gd name="T27" fmla="*/ 201 h 317"/>
              <a:gd name="T28" fmla="*/ 135 w 317"/>
              <a:gd name="T29" fmla="*/ 183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7" h="317">
                <a:moveTo>
                  <a:pt x="159" y="0"/>
                </a:moveTo>
                <a:cubicBezTo>
                  <a:pt x="246" y="0"/>
                  <a:pt x="317" y="71"/>
                  <a:pt x="317" y="158"/>
                </a:cubicBezTo>
                <a:cubicBezTo>
                  <a:pt x="317" y="246"/>
                  <a:pt x="246" y="317"/>
                  <a:pt x="159" y="317"/>
                </a:cubicBezTo>
                <a:cubicBezTo>
                  <a:pt x="71" y="317"/>
                  <a:pt x="0" y="246"/>
                  <a:pt x="0" y="158"/>
                </a:cubicBezTo>
                <a:cubicBezTo>
                  <a:pt x="0" y="71"/>
                  <a:pt x="71" y="0"/>
                  <a:pt x="159" y="0"/>
                </a:cubicBezTo>
                <a:close/>
                <a:moveTo>
                  <a:pt x="135" y="183"/>
                </a:moveTo>
                <a:cubicBezTo>
                  <a:pt x="239" y="183"/>
                  <a:pt x="239" y="183"/>
                  <a:pt x="239" y="183"/>
                </a:cubicBezTo>
                <a:cubicBezTo>
                  <a:pt x="277" y="183"/>
                  <a:pt x="277" y="133"/>
                  <a:pt x="240" y="133"/>
                </a:cubicBezTo>
                <a:cubicBezTo>
                  <a:pt x="135" y="134"/>
                  <a:pt x="135" y="134"/>
                  <a:pt x="135" y="134"/>
                </a:cubicBezTo>
                <a:cubicBezTo>
                  <a:pt x="142" y="128"/>
                  <a:pt x="148" y="122"/>
                  <a:pt x="154" y="117"/>
                </a:cubicBezTo>
                <a:cubicBezTo>
                  <a:pt x="181" y="88"/>
                  <a:pt x="143" y="52"/>
                  <a:pt x="118" y="82"/>
                </a:cubicBezTo>
                <a:cubicBezTo>
                  <a:pt x="49" y="159"/>
                  <a:pt x="49" y="159"/>
                  <a:pt x="49" y="159"/>
                </a:cubicBezTo>
                <a:cubicBezTo>
                  <a:pt x="118" y="235"/>
                  <a:pt x="118" y="235"/>
                  <a:pt x="118" y="235"/>
                </a:cubicBezTo>
                <a:cubicBezTo>
                  <a:pt x="143" y="266"/>
                  <a:pt x="182" y="227"/>
                  <a:pt x="154" y="201"/>
                </a:cubicBezTo>
                <a:cubicBezTo>
                  <a:pt x="135" y="183"/>
                  <a:pt x="135" y="183"/>
                  <a:pt x="135" y="183"/>
                </a:cubicBezTo>
                <a:close/>
              </a:path>
            </a:pathLst>
          </a:custGeom>
          <a:solidFill>
            <a:srgbClr val="5D6DB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46C2CAD6-77A5-BCCF-B67A-F2FCF24D1702}"/>
              </a:ext>
            </a:extLst>
          </p:cNvPr>
          <p:cNvSpPr/>
          <p:nvPr/>
        </p:nvSpPr>
        <p:spPr bwMode="auto">
          <a:xfrm>
            <a:off x="6675173" y="2390124"/>
            <a:ext cx="2621083" cy="28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우수 성과 평가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3" name="사각형: 둥근 위쪽 모서리 22">
            <a:extLst>
              <a:ext uri="{FF2B5EF4-FFF2-40B4-BE49-F238E27FC236}">
                <a16:creationId xmlns:a16="http://schemas.microsoft.com/office/drawing/2014/main" id="{3E7336A7-A620-CF0E-3C20-98A7C174CF48}"/>
              </a:ext>
            </a:extLst>
          </p:cNvPr>
          <p:cNvSpPr/>
          <p:nvPr/>
        </p:nvSpPr>
        <p:spPr bwMode="auto">
          <a:xfrm>
            <a:off x="6675172" y="2843651"/>
            <a:ext cx="2621083" cy="28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인센티브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우선 배정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우수사례 포상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2A6E2C9C-366F-16EA-4FA2-FCA1F605D91C}"/>
              </a:ext>
            </a:extLst>
          </p:cNvPr>
          <p:cNvSpPr/>
          <p:nvPr/>
        </p:nvSpPr>
        <p:spPr bwMode="auto">
          <a:xfrm>
            <a:off x="6675172" y="3297178"/>
            <a:ext cx="2621083" cy="28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더 나은 프로젝트로 경험 축적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역량 강화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E026C1F-DC75-7394-1ED0-1D576DE777DB}"/>
              </a:ext>
            </a:extLst>
          </p:cNvPr>
          <p:cNvCxnSpPr>
            <a:cxnSpLocks/>
            <a:stCxn id="22" idx="1"/>
            <a:endCxn id="23" idx="3"/>
          </p:cNvCxnSpPr>
          <p:nvPr/>
        </p:nvCxnSpPr>
        <p:spPr bwMode="auto">
          <a:xfrm flipH="1">
            <a:off x="7985714" y="2678124"/>
            <a:ext cx="1" cy="165527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106EE15-0FFF-1457-65FB-B14B5469F359}"/>
              </a:ext>
            </a:extLst>
          </p:cNvPr>
          <p:cNvCxnSpPr>
            <a:cxnSpLocks/>
            <a:stCxn id="23" idx="1"/>
            <a:endCxn id="24" idx="3"/>
          </p:cNvCxnSpPr>
          <p:nvPr/>
        </p:nvCxnSpPr>
        <p:spPr bwMode="auto">
          <a:xfrm>
            <a:off x="7985714" y="3131651"/>
            <a:ext cx="0" cy="165527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C40BF516-4678-C2A3-5DF3-A15BA9BBBCB9}"/>
              </a:ext>
            </a:extLst>
          </p:cNvPr>
          <p:cNvSpPr/>
          <p:nvPr/>
        </p:nvSpPr>
        <p:spPr bwMode="auto">
          <a:xfrm>
            <a:off x="6675172" y="3750705"/>
            <a:ext cx="2621083" cy="28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다시 우수 성과 달성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17154AA-3881-F949-D2A1-EB0C4323CB1D}"/>
              </a:ext>
            </a:extLst>
          </p:cNvPr>
          <p:cNvCxnSpPr>
            <a:cxnSpLocks/>
            <a:stCxn id="24" idx="1"/>
            <a:endCxn id="27" idx="3"/>
          </p:cNvCxnSpPr>
          <p:nvPr/>
        </p:nvCxnSpPr>
        <p:spPr bwMode="auto">
          <a:xfrm>
            <a:off x="7985714" y="3585178"/>
            <a:ext cx="0" cy="165527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4CA2F55C-297C-5F75-92CB-B597DAB7B6EE}"/>
              </a:ext>
            </a:extLst>
          </p:cNvPr>
          <p:cNvSpPr/>
          <p:nvPr/>
        </p:nvSpPr>
        <p:spPr bwMode="auto">
          <a:xfrm>
            <a:off x="6675172" y="4204233"/>
            <a:ext cx="2621083" cy="3998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업계 명성 있는 전문가로 성장</a:t>
            </a:r>
          </a:p>
          <a:p>
            <a:pPr algn="ctr" defTabSz="914400">
              <a:spcAft>
                <a:spcPts val="200"/>
              </a:spcAft>
            </a:pP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높은 처우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높은 존경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높은 만족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FBDD83C-728B-8C61-EB0C-3F3CAAD1A9CC}"/>
              </a:ext>
            </a:extLst>
          </p:cNvPr>
          <p:cNvCxnSpPr>
            <a:cxnSpLocks/>
          </p:cNvCxnSpPr>
          <p:nvPr/>
        </p:nvCxnSpPr>
        <p:spPr bwMode="auto">
          <a:xfrm>
            <a:off x="7985714" y="4069638"/>
            <a:ext cx="0" cy="126977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사각형: 둥근 위쪽 모서리 30">
            <a:extLst>
              <a:ext uri="{FF2B5EF4-FFF2-40B4-BE49-F238E27FC236}">
                <a16:creationId xmlns:a16="http://schemas.microsoft.com/office/drawing/2014/main" id="{61C7E584-5886-428D-EAB2-FAE955A6FFAB}"/>
              </a:ext>
            </a:extLst>
          </p:cNvPr>
          <p:cNvSpPr/>
          <p:nvPr/>
        </p:nvSpPr>
        <p:spPr bwMode="auto">
          <a:xfrm>
            <a:off x="6675168" y="5035453"/>
            <a:ext cx="2621083" cy="63714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28575">
            <a:solidFill>
              <a:srgbClr val="58A7AE"/>
            </a:solidFill>
            <a:prstDash val="solid"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금전적 보상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인센티브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 +</a:t>
            </a:r>
          </a:p>
          <a:p>
            <a:pPr algn="ctr" defTabSz="914400">
              <a:spcAft>
                <a:spcPts val="200"/>
              </a:spcAft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비금전적 보상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포상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경력개발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algn="ctr" defTabSz="914400">
              <a:spcAft>
                <a:spcPts val="200"/>
              </a:spcAft>
            </a:pP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=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최고 수준의 동기부여 시스템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35" name="Picture 16">
            <a:extLst>
              <a:ext uri="{FF2B5EF4-FFF2-40B4-BE49-F238E27FC236}">
                <a16:creationId xmlns:a16="http://schemas.microsoft.com/office/drawing/2014/main" id="{8D2BC4FF-2474-50C8-421E-329944228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214" y="4673134"/>
            <a:ext cx="314990" cy="3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05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E0D0-28F2-115C-AA7A-06FBAFB4C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C6B24DB9-8952-C7DC-E378-D64269CECD33}"/>
              </a:ext>
            </a:extLst>
          </p:cNvPr>
          <p:cNvSpPr/>
          <p:nvPr/>
        </p:nvSpPr>
        <p:spPr bwMode="auto">
          <a:xfrm>
            <a:off x="4227048" y="2408326"/>
            <a:ext cx="5132708" cy="143861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33AD87-B438-4811-15ED-BED196605CC8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2025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12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 기관 협업 성과 기반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양적 확대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+ 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질적 심화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의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전략적 협업 체계</a:t>
            </a:r>
            <a:endParaRPr lang="en-US" altLang="ko-KR" spc="-30" dirty="0">
              <a:solidFill>
                <a:srgbClr val="E3574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009172-448D-17A8-3ED9-5BF7EE92B0CF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수요발굴 협업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C7D526-A46B-D847-F600-39008C1ED156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MOU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기반 명확한 역할 분담과 정기 협의체 운영을 통해 형식적 협업을 넘어 실질적 성과 창출이 가능한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정부기관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지방자치단체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산업단지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협회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단체와의 전략적 파트너십을 구축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BD2267-3E4B-7171-62E8-93C6BD2B0088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정부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지자체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산업단지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협회라는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가지 기관 유형의 차별화된 네트워크를 전략적으로 활용하여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</a:t>
            </a:r>
          </a:p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MOU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기반의 명확한 역할 분담과 정기 협의체로 일회성 협업을 넘어 지속가능한 파트너십을 구축합니다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B6939-4174-C337-74A1-F5EA8244EFDE}"/>
              </a:ext>
            </a:extLst>
          </p:cNvPr>
          <p:cNvSpPr txBox="1"/>
          <p:nvPr/>
        </p:nvSpPr>
        <p:spPr>
          <a:xfrm>
            <a:off x="214069" y="211484"/>
            <a:ext cx="5235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유관기관 협업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수요 발굴 위한 유관기관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단체 등과의 협업 계획 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E01027A-BEDC-95F8-20A1-C365034B7B2A}"/>
              </a:ext>
            </a:extLst>
          </p:cNvPr>
          <p:cNvGrpSpPr/>
          <p:nvPr/>
        </p:nvGrpSpPr>
        <p:grpSpPr>
          <a:xfrm>
            <a:off x="444954" y="1959442"/>
            <a:ext cx="2476026" cy="253317"/>
            <a:chOff x="444954" y="2154076"/>
            <a:chExt cx="2476026" cy="253317"/>
          </a:xfrm>
        </p:grpSpPr>
        <p:pic>
          <p:nvPicPr>
            <p:cNvPr id="5" name="그래픽 4" descr="배지 체크 표시1 단색으로 채워진">
              <a:extLst>
                <a:ext uri="{FF2B5EF4-FFF2-40B4-BE49-F238E27FC236}">
                  <a16:creationId xmlns:a16="http://schemas.microsoft.com/office/drawing/2014/main" id="{1935191C-C352-08AF-1ABC-99D6F6749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58A97D-771D-88F5-4B12-163FDF44F8C5}"/>
                </a:ext>
              </a:extLst>
            </p:cNvPr>
            <p:cNvSpPr txBox="1"/>
            <p:nvPr/>
          </p:nvSpPr>
          <p:spPr>
            <a:xfrm>
              <a:off x="540852" y="2154076"/>
              <a:ext cx="2380128" cy="25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2025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년 협업 성과 → </a:t>
              </a:r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2026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년 개선 전략</a:t>
              </a:r>
              <a:endParaRPr lang="ko-KR" altLang="en-US" sz="1050" b="1" spc="-8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40C3"/>
                </a:solidFill>
              </a:endParaRPr>
            </a:p>
          </p:txBody>
        </p:sp>
      </p:grp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FECA14A2-12B2-D9AB-2AF8-11500E221D2B}"/>
              </a:ext>
            </a:extLst>
          </p:cNvPr>
          <p:cNvSpPr/>
          <p:nvPr/>
        </p:nvSpPr>
        <p:spPr bwMode="auto">
          <a:xfrm>
            <a:off x="444954" y="2342007"/>
            <a:ext cx="1224822" cy="25331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2025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년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51AEC888-DD84-85BB-0AD8-31FFCE16E74D}"/>
              </a:ext>
            </a:extLst>
          </p:cNvPr>
          <p:cNvSpPr/>
          <p:nvPr/>
        </p:nvSpPr>
        <p:spPr bwMode="auto">
          <a:xfrm>
            <a:off x="444953" y="2595325"/>
            <a:ext cx="1224822" cy="10806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협업기관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12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설명회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4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회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발굴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289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정책연계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21%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선정률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58.5%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72FE3E60-622B-3E4C-D4E3-58FA9534F6C9}"/>
              </a:ext>
            </a:extLst>
          </p:cNvPr>
          <p:cNvSpPr/>
          <p:nvPr/>
        </p:nvSpPr>
        <p:spPr bwMode="auto">
          <a:xfrm>
            <a:off x="2039066" y="2342007"/>
            <a:ext cx="1818693" cy="253318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2026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년 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5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가지 개선 방향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53AABDCB-E97E-2254-5690-21521734F105}"/>
              </a:ext>
            </a:extLst>
          </p:cNvPr>
          <p:cNvSpPr/>
          <p:nvPr/>
        </p:nvSpPr>
        <p:spPr bwMode="auto">
          <a:xfrm>
            <a:off x="2039065" y="2595325"/>
            <a:ext cx="1818693" cy="10806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①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MOU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기반 명확한 역할분담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② 정기 협의체 운영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분기별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/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③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성과 기반 관리 체계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④ 기업 추천 시스템 구축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⑤ 정책 연계 강화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(+25%)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4D83E8EC-3576-892F-D27C-5539627CDE48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1720011" y="2379646"/>
            <a:ext cx="233081" cy="234818"/>
          </a:xfrm>
          <a:custGeom>
            <a:avLst/>
            <a:gdLst>
              <a:gd name="T0" fmla="*/ 159 w 317"/>
              <a:gd name="T1" fmla="*/ 0 h 317"/>
              <a:gd name="T2" fmla="*/ 317 w 317"/>
              <a:gd name="T3" fmla="*/ 158 h 317"/>
              <a:gd name="T4" fmla="*/ 159 w 317"/>
              <a:gd name="T5" fmla="*/ 317 h 317"/>
              <a:gd name="T6" fmla="*/ 0 w 317"/>
              <a:gd name="T7" fmla="*/ 158 h 317"/>
              <a:gd name="T8" fmla="*/ 159 w 317"/>
              <a:gd name="T9" fmla="*/ 0 h 317"/>
              <a:gd name="T10" fmla="*/ 135 w 317"/>
              <a:gd name="T11" fmla="*/ 183 h 317"/>
              <a:gd name="T12" fmla="*/ 239 w 317"/>
              <a:gd name="T13" fmla="*/ 183 h 317"/>
              <a:gd name="T14" fmla="*/ 240 w 317"/>
              <a:gd name="T15" fmla="*/ 133 h 317"/>
              <a:gd name="T16" fmla="*/ 135 w 317"/>
              <a:gd name="T17" fmla="*/ 134 h 317"/>
              <a:gd name="T18" fmla="*/ 154 w 317"/>
              <a:gd name="T19" fmla="*/ 117 h 317"/>
              <a:gd name="T20" fmla="*/ 118 w 317"/>
              <a:gd name="T21" fmla="*/ 82 h 317"/>
              <a:gd name="T22" fmla="*/ 49 w 317"/>
              <a:gd name="T23" fmla="*/ 159 h 317"/>
              <a:gd name="T24" fmla="*/ 118 w 317"/>
              <a:gd name="T25" fmla="*/ 235 h 317"/>
              <a:gd name="T26" fmla="*/ 154 w 317"/>
              <a:gd name="T27" fmla="*/ 201 h 317"/>
              <a:gd name="T28" fmla="*/ 135 w 317"/>
              <a:gd name="T29" fmla="*/ 183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7" h="317">
                <a:moveTo>
                  <a:pt x="159" y="0"/>
                </a:moveTo>
                <a:cubicBezTo>
                  <a:pt x="246" y="0"/>
                  <a:pt x="317" y="71"/>
                  <a:pt x="317" y="158"/>
                </a:cubicBezTo>
                <a:cubicBezTo>
                  <a:pt x="317" y="246"/>
                  <a:pt x="246" y="317"/>
                  <a:pt x="159" y="317"/>
                </a:cubicBezTo>
                <a:cubicBezTo>
                  <a:pt x="71" y="317"/>
                  <a:pt x="0" y="246"/>
                  <a:pt x="0" y="158"/>
                </a:cubicBezTo>
                <a:cubicBezTo>
                  <a:pt x="0" y="71"/>
                  <a:pt x="71" y="0"/>
                  <a:pt x="159" y="0"/>
                </a:cubicBezTo>
                <a:close/>
                <a:moveTo>
                  <a:pt x="135" y="183"/>
                </a:moveTo>
                <a:cubicBezTo>
                  <a:pt x="239" y="183"/>
                  <a:pt x="239" y="183"/>
                  <a:pt x="239" y="183"/>
                </a:cubicBezTo>
                <a:cubicBezTo>
                  <a:pt x="277" y="183"/>
                  <a:pt x="277" y="133"/>
                  <a:pt x="240" y="133"/>
                </a:cubicBezTo>
                <a:cubicBezTo>
                  <a:pt x="135" y="134"/>
                  <a:pt x="135" y="134"/>
                  <a:pt x="135" y="134"/>
                </a:cubicBezTo>
                <a:cubicBezTo>
                  <a:pt x="142" y="128"/>
                  <a:pt x="148" y="122"/>
                  <a:pt x="154" y="117"/>
                </a:cubicBezTo>
                <a:cubicBezTo>
                  <a:pt x="181" y="88"/>
                  <a:pt x="143" y="52"/>
                  <a:pt x="118" y="82"/>
                </a:cubicBezTo>
                <a:cubicBezTo>
                  <a:pt x="49" y="159"/>
                  <a:pt x="49" y="159"/>
                  <a:pt x="49" y="159"/>
                </a:cubicBezTo>
                <a:cubicBezTo>
                  <a:pt x="118" y="235"/>
                  <a:pt x="118" y="235"/>
                  <a:pt x="118" y="235"/>
                </a:cubicBezTo>
                <a:cubicBezTo>
                  <a:pt x="143" y="266"/>
                  <a:pt x="182" y="227"/>
                  <a:pt x="154" y="201"/>
                </a:cubicBezTo>
                <a:cubicBezTo>
                  <a:pt x="135" y="183"/>
                  <a:pt x="135" y="183"/>
                  <a:pt x="135" y="183"/>
                </a:cubicBezTo>
                <a:close/>
              </a:path>
            </a:pathLst>
          </a:custGeom>
          <a:solidFill>
            <a:srgbClr val="5D6DB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462C1923-8F30-425F-70EE-23ECBF140BE5}"/>
              </a:ext>
            </a:extLst>
          </p:cNvPr>
          <p:cNvSpPr/>
          <p:nvPr/>
        </p:nvSpPr>
        <p:spPr bwMode="auto">
          <a:xfrm>
            <a:off x="444953" y="3825913"/>
            <a:ext cx="3412805" cy="35193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EF6F7"/>
          </a:solidFill>
          <a:ln w="19050">
            <a:solidFill>
              <a:srgbClr val="58A7AE"/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한계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: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일회성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역할불명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관계단절 →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3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대 원칙으로 극복</a:t>
            </a:r>
            <a:endParaRPr kumimoji="0" lang="ko-KR" altLang="en-US" sz="1000" b="1" i="0" u="none" strike="noStrike" kern="0" cap="none" spc="-50" normalizeH="0" noProof="0" dirty="0">
              <a:ln>
                <a:noFill/>
              </a:ln>
              <a:solidFill>
                <a:srgbClr val="1040C3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23239D56-CC42-5488-1DAA-307BFCA5E1C0}"/>
              </a:ext>
            </a:extLst>
          </p:cNvPr>
          <p:cNvSpPr/>
          <p:nvPr/>
        </p:nvSpPr>
        <p:spPr bwMode="auto">
          <a:xfrm>
            <a:off x="444953" y="4301842"/>
            <a:ext cx="3412805" cy="253318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협업 목표 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(2025 → 2026)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850DC9BD-E2B1-2C59-4479-4276491BEE5A}"/>
              </a:ext>
            </a:extLst>
          </p:cNvPr>
          <p:cNvSpPr/>
          <p:nvPr/>
        </p:nvSpPr>
        <p:spPr bwMode="auto">
          <a:xfrm>
            <a:off x="444952" y="4555160"/>
            <a:ext cx="3412805" cy="10806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협업기관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12 → 14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(+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신규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2~3)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설명회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4 → 6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회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지역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업종별 확대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발굴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289 → 300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안정적 유지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정책연계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21% → 25% (+25%)</a:t>
            </a:r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3" name="사각형: 둥근 위쪽 모서리 22">
            <a:extLst>
              <a:ext uri="{FF2B5EF4-FFF2-40B4-BE49-F238E27FC236}">
                <a16:creationId xmlns:a16="http://schemas.microsoft.com/office/drawing/2014/main" id="{1B110DF8-8E74-9FDF-0778-AAE2CD0CF7AD}"/>
              </a:ext>
            </a:extLst>
          </p:cNvPr>
          <p:cNvSpPr/>
          <p:nvPr/>
        </p:nvSpPr>
        <p:spPr bwMode="auto">
          <a:xfrm>
            <a:off x="4227049" y="2125359"/>
            <a:ext cx="5132708" cy="284050"/>
          </a:xfrm>
          <a:prstGeom prst="round2SameRect">
            <a:avLst>
              <a:gd name="adj1" fmla="val 28936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협업계획 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대 핵심 원칙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A72B6E4-DB31-1C34-6530-D1B43A5E1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084350"/>
              </p:ext>
            </p:extLst>
          </p:nvPr>
        </p:nvGraphicFramePr>
        <p:xfrm>
          <a:off x="4227049" y="4383549"/>
          <a:ext cx="5132708" cy="1252213"/>
        </p:xfrm>
        <a:graphic>
          <a:graphicData uri="http://schemas.openxmlformats.org/drawingml/2006/table">
            <a:tbl>
              <a:tblPr/>
              <a:tblGrid>
                <a:gridCol w="1042807">
                  <a:extLst>
                    <a:ext uri="{9D8B030D-6E8A-4147-A177-3AD203B41FA5}">
                      <a16:colId xmlns:a16="http://schemas.microsoft.com/office/drawing/2014/main" val="1312727885"/>
                    </a:ext>
                  </a:extLst>
                </a:gridCol>
                <a:gridCol w="1346701">
                  <a:extLst>
                    <a:ext uri="{9D8B030D-6E8A-4147-A177-3AD203B41FA5}">
                      <a16:colId xmlns:a16="http://schemas.microsoft.com/office/drawing/2014/main" val="46555991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94164867"/>
                    </a:ext>
                  </a:extLst>
                </a:gridCol>
              </a:tblGrid>
              <a:tr h="2143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 유형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특성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협업 내용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738592"/>
                  </a:ext>
                </a:extLst>
              </a:tr>
              <a:tr h="2143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정부기관</a:t>
                      </a:r>
                      <a:endParaRPr lang="ko-KR" altLang="en-US" sz="100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 연계</a:t>
                      </a:r>
                      <a:r>
                        <a:rPr lang="en-US" altLang="ko-KR" sz="9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공식적 협업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장려금</a:t>
                      </a:r>
                      <a:r>
                        <a:rPr lang="en-US" altLang="ko-KR" sz="90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고용서비스</a:t>
                      </a:r>
                      <a:r>
                        <a:rPr lang="en-US" altLang="ko-KR" sz="90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노사방문</a:t>
                      </a:r>
                      <a:r>
                        <a:rPr lang="en-US" altLang="ko-KR" sz="90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우수사례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398748"/>
                  </a:ext>
                </a:extLst>
              </a:tr>
              <a:tr h="2143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지방자치단체</a:t>
                      </a:r>
                      <a:endParaRPr lang="ko-KR" altLang="en-US" sz="100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 밀착형 네트워크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지역정책 연계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설명회 개최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홍보 지원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 추천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292365"/>
                  </a:ext>
                </a:extLst>
              </a:tr>
              <a:tr h="2143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산업단지</a:t>
                      </a:r>
                      <a:endParaRPr lang="ko-KR" altLang="en-US" sz="100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집적된 기업 접근성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설명회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스마트산단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산단협의회</a:t>
                      </a:r>
                      <a:endParaRPr lang="ko-KR" altLang="en-US" sz="90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606413"/>
                  </a:ext>
                </a:extLst>
              </a:tr>
              <a:tr h="3948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협회</a:t>
                      </a:r>
                      <a:r>
                        <a:rPr lang="en-US" altLang="ko-KR" sz="10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1040C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단체</a:t>
                      </a:r>
                      <a:endParaRPr lang="ko-KR" altLang="en-US" sz="100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1040C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업종별 전문 네트워크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회원사 홍보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세미나 활용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특화설명회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CEO </a:t>
                      </a: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포럼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회원사 </a:t>
                      </a:r>
                      <a:r>
                        <a:rPr lang="en-US" altLang="ko-KR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4,226</a:t>
                      </a:r>
                      <a:r>
                        <a:rPr lang="ko-KR" altLang="en-US" sz="9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25717" marR="25717" marT="12859" marB="12859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503793"/>
                  </a:ext>
                </a:extLst>
              </a:tr>
            </a:tbl>
          </a:graphicData>
        </a:graphic>
      </p:graphicFrame>
      <p:sp>
        <p:nvSpPr>
          <p:cNvPr id="26" name="사각형: 둥근 위쪽 모서리 25">
            <a:extLst>
              <a:ext uri="{FF2B5EF4-FFF2-40B4-BE49-F238E27FC236}">
                <a16:creationId xmlns:a16="http://schemas.microsoft.com/office/drawing/2014/main" id="{1D37C667-96A2-28D4-5E8A-531061FBA416}"/>
              </a:ext>
            </a:extLst>
          </p:cNvPr>
          <p:cNvSpPr/>
          <p:nvPr/>
        </p:nvSpPr>
        <p:spPr bwMode="auto">
          <a:xfrm>
            <a:off x="4227048" y="4049124"/>
            <a:ext cx="5132708" cy="284050"/>
          </a:xfrm>
          <a:prstGeom prst="round2SameRect">
            <a:avLst>
              <a:gd name="adj1" fmla="val 28936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108000" tIns="0" rIns="36000" bIns="0" rtlCol="0" anchor="ctr"/>
          <a:lstStyle/>
          <a:p>
            <a:pPr defTabSz="914400"/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지 기관 유형별 협업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A0DA22-C295-7956-02A3-9319DFC59A83}"/>
              </a:ext>
            </a:extLst>
          </p:cNvPr>
          <p:cNvGrpSpPr/>
          <p:nvPr/>
        </p:nvGrpSpPr>
        <p:grpSpPr>
          <a:xfrm>
            <a:off x="4447314" y="2559903"/>
            <a:ext cx="4749915" cy="345149"/>
            <a:chOff x="4445455" y="2732522"/>
            <a:chExt cx="4749915" cy="345149"/>
          </a:xfrm>
        </p:grpSpPr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52D33E42-5526-4581-71B5-AB2E81740F78}"/>
                </a:ext>
              </a:extLst>
            </p:cNvPr>
            <p:cNvSpPr/>
            <p:nvPr/>
          </p:nvSpPr>
          <p:spPr bwMode="auto">
            <a:xfrm>
              <a:off x="4445455" y="2732522"/>
              <a:ext cx="1493007" cy="34514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① 전략적 파트너십 구축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rgbClr val="1040C3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7AFFE306-3EBC-147C-C2EB-050B1BE442E7}"/>
                </a:ext>
              </a:extLst>
            </p:cNvPr>
            <p:cNvSpPr/>
            <p:nvPr/>
          </p:nvSpPr>
          <p:spPr bwMode="auto">
            <a:xfrm>
              <a:off x="5938461" y="2732522"/>
              <a:ext cx="3256909" cy="34514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형식적 협업 → 실질적 성과 창출 가능한 핵심 기관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일회성 협력 →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MOU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기반 장기 협력 관계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273D3CE-56BD-64FD-74BC-6D756BF2A11C}"/>
              </a:ext>
            </a:extLst>
          </p:cNvPr>
          <p:cNvGrpSpPr/>
          <p:nvPr/>
        </p:nvGrpSpPr>
        <p:grpSpPr>
          <a:xfrm>
            <a:off x="4447314" y="2959240"/>
            <a:ext cx="4749915" cy="343727"/>
            <a:chOff x="4445455" y="2733944"/>
            <a:chExt cx="4749915" cy="343727"/>
          </a:xfrm>
        </p:grpSpPr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7DEBD006-90DA-AA3F-8073-2E1705323B99}"/>
                </a:ext>
              </a:extLst>
            </p:cNvPr>
            <p:cNvSpPr/>
            <p:nvPr/>
          </p:nvSpPr>
          <p:spPr bwMode="auto">
            <a:xfrm>
              <a:off x="4445455" y="2733944"/>
              <a:ext cx="1493007" cy="34372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② 역할 기반 협업 체계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rgbClr val="1040C3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CD2D027D-AEE7-5AE7-856D-EE3AF5311164}"/>
                </a:ext>
              </a:extLst>
            </p:cNvPr>
            <p:cNvSpPr/>
            <p:nvPr/>
          </p:nvSpPr>
          <p:spPr bwMode="auto">
            <a:xfrm>
              <a:off x="5938461" y="2733944"/>
              <a:ext cx="3256909" cy="34372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기관별 강점을 고려한 명확한 역할 분담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협약서에 구체적 역할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책임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일정 명시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A3E27B3-BC01-153F-70B2-BA55CF91FD31}"/>
              </a:ext>
            </a:extLst>
          </p:cNvPr>
          <p:cNvGrpSpPr/>
          <p:nvPr/>
        </p:nvGrpSpPr>
        <p:grpSpPr>
          <a:xfrm>
            <a:off x="4447314" y="3369164"/>
            <a:ext cx="4749915" cy="345149"/>
            <a:chOff x="4445455" y="2732522"/>
            <a:chExt cx="4749915" cy="345149"/>
          </a:xfrm>
        </p:grpSpPr>
        <p:sp>
          <p:nvSpPr>
            <p:cNvPr id="34" name="사각형: 둥근 위쪽 모서리 33">
              <a:extLst>
                <a:ext uri="{FF2B5EF4-FFF2-40B4-BE49-F238E27FC236}">
                  <a16:creationId xmlns:a16="http://schemas.microsoft.com/office/drawing/2014/main" id="{9EF6CFB8-49CE-5EC8-EE84-EEE74175E3B2}"/>
                </a:ext>
              </a:extLst>
            </p:cNvPr>
            <p:cNvSpPr/>
            <p:nvPr/>
          </p:nvSpPr>
          <p:spPr bwMode="auto">
            <a:xfrm>
              <a:off x="4445455" y="2732522"/>
              <a:ext cx="1493007" cy="34514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③ 지속가능한 협력 관계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rgbClr val="1040C3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5" name="사각형: 둥근 위쪽 모서리 34">
              <a:extLst>
                <a:ext uri="{FF2B5EF4-FFF2-40B4-BE49-F238E27FC236}">
                  <a16:creationId xmlns:a16="http://schemas.microsoft.com/office/drawing/2014/main" id="{697E4713-0F9F-2F3B-E210-D167900E087C}"/>
                </a:ext>
              </a:extLst>
            </p:cNvPr>
            <p:cNvSpPr/>
            <p:nvPr/>
          </p:nvSpPr>
          <p:spPr bwMode="auto">
            <a:xfrm>
              <a:off x="5938461" y="2732522"/>
              <a:ext cx="3256909" cy="34514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정기 협의체 운영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분기별 소통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상호 피드백을 통한 지속적 개선</a:t>
              </a:r>
            </a:p>
          </p:txBody>
        </p:sp>
      </p:grp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D54C8FEF-9E44-B0CD-F846-B9942FC7E443}"/>
              </a:ext>
            </a:extLst>
          </p:cNvPr>
          <p:cNvCxnSpPr>
            <a:stCxn id="20" idx="0"/>
            <a:endCxn id="23" idx="2"/>
          </p:cNvCxnSpPr>
          <p:nvPr/>
        </p:nvCxnSpPr>
        <p:spPr bwMode="auto">
          <a:xfrm flipV="1">
            <a:off x="3857758" y="2267384"/>
            <a:ext cx="369291" cy="1734497"/>
          </a:xfrm>
          <a:prstGeom prst="bentConnector3">
            <a:avLst/>
          </a:prstGeom>
          <a:solidFill>
            <a:srgbClr val="970F43"/>
          </a:solidFill>
          <a:ln w="19050" cap="flat" cmpd="sng" algn="ctr">
            <a:solidFill>
              <a:srgbClr val="58A7AE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78488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B0706-C0D8-E264-E411-27DE15F18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0CDBD3C-4C47-35D4-10E1-030E750CB25F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지역</a:t>
            </a:r>
            <a:r>
              <a:rPr lang="en-US" altLang="ko-KR" spc="-30" dirty="0">
                <a:solidFill>
                  <a:srgbClr val="5D6DB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업종</a:t>
            </a:r>
            <a:r>
              <a:rPr lang="en-US" altLang="ko-KR" spc="-30" dirty="0">
                <a:solidFill>
                  <a:srgbClr val="5D6DB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단체 맞춤형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네트워킹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전국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12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 지역본부 중심의 </a:t>
            </a:r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현장 밀착 지원 생태계</a:t>
            </a:r>
            <a:endParaRPr lang="en-US" altLang="ko-KR" spc="-30" dirty="0">
              <a:solidFill>
                <a:srgbClr val="E3574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512A8D-A6D5-13AA-FE6F-51C588FC5855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네트워킹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08EA2B-2D1D-416E-B48E-B323C0388C45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12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 지역본부를 거점으로 지역별 산업 특성을 반영한 산업단지 협의회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업종별 협회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</a:p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지역 교육훈련기관과의 네트워킹을 구축하여 기업 발굴부터 교육훈련 연계까지 선순환 지원 생태계를 조성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14EF32-7309-58E9-320A-FA76F7F5B55B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12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개 지역본부의 현장 밀착 네트워킹을 통해 지역별 산업 특성을 반영한 기업 발굴부터 </a:t>
            </a: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업종별 협회를 활용한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CEO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직접 접근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지역 교육훈련 기관과의 매칭까지 선순환 지원 생태계를 완성합니다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A38C2E-AB86-8A92-A208-023A9302FE90}"/>
              </a:ext>
            </a:extLst>
          </p:cNvPr>
          <p:cNvSpPr txBox="1"/>
          <p:nvPr/>
        </p:nvSpPr>
        <p:spPr>
          <a:xfrm>
            <a:off x="214069" y="211484"/>
            <a:ext cx="5235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유관기관 협업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지역 또는 업종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단체 등 네트워킹 구축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활용 계획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723328A-A4E5-620D-3C9F-CFDFD656295B}"/>
              </a:ext>
            </a:extLst>
          </p:cNvPr>
          <p:cNvGrpSpPr/>
          <p:nvPr/>
        </p:nvGrpSpPr>
        <p:grpSpPr>
          <a:xfrm>
            <a:off x="430325" y="1964875"/>
            <a:ext cx="4449679" cy="2011311"/>
            <a:chOff x="430326" y="1964875"/>
            <a:chExt cx="1818694" cy="2011311"/>
          </a:xfrm>
        </p:grpSpPr>
        <p:sp>
          <p:nvSpPr>
            <p:cNvPr id="39" name="사각형: 둥근 위쪽 모서리 38">
              <a:extLst>
                <a:ext uri="{FF2B5EF4-FFF2-40B4-BE49-F238E27FC236}">
                  <a16:creationId xmlns:a16="http://schemas.microsoft.com/office/drawing/2014/main" id="{AFF7FABE-78BB-DC0B-85C8-816EA2A4DAAC}"/>
                </a:ext>
              </a:extLst>
            </p:cNvPr>
            <p:cNvSpPr/>
            <p:nvPr/>
          </p:nvSpPr>
          <p:spPr bwMode="auto">
            <a:xfrm>
              <a:off x="430327" y="1964875"/>
              <a:ext cx="1818693" cy="25331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12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개 지역본부 기반 네트워킹 구조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0" name="사각형: 둥근 위쪽 모서리 39">
              <a:extLst>
                <a:ext uri="{FF2B5EF4-FFF2-40B4-BE49-F238E27FC236}">
                  <a16:creationId xmlns:a16="http://schemas.microsoft.com/office/drawing/2014/main" id="{1B72AA97-B63B-1259-5CE2-25833088D12B}"/>
                </a:ext>
              </a:extLst>
            </p:cNvPr>
            <p:cNvSpPr/>
            <p:nvPr/>
          </p:nvSpPr>
          <p:spPr bwMode="auto">
            <a:xfrm>
              <a:off x="430326" y="2218194"/>
              <a:ext cx="1818693" cy="175799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defTabSz="914400"/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14759C1F-ED26-F329-39D5-99B2A00BC64E}"/>
              </a:ext>
            </a:extLst>
          </p:cNvPr>
          <p:cNvGrpSpPr/>
          <p:nvPr/>
        </p:nvGrpSpPr>
        <p:grpSpPr>
          <a:xfrm>
            <a:off x="731515" y="2301714"/>
            <a:ext cx="3819285" cy="1560834"/>
            <a:chOff x="513178" y="2215227"/>
            <a:chExt cx="3475771" cy="1737824"/>
          </a:xfrm>
        </p:grpSpPr>
        <p:sp>
          <p:nvSpPr>
            <p:cNvPr id="9" name="사각형: 둥근 위쪽 모서리 8">
              <a:extLst>
                <a:ext uri="{FF2B5EF4-FFF2-40B4-BE49-F238E27FC236}">
                  <a16:creationId xmlns:a16="http://schemas.microsoft.com/office/drawing/2014/main" id="{7314F0D9-3112-2505-B5E1-FC54CB9CD410}"/>
                </a:ext>
              </a:extLst>
            </p:cNvPr>
            <p:cNvSpPr/>
            <p:nvPr/>
          </p:nvSpPr>
          <p:spPr bwMode="auto">
            <a:xfrm>
              <a:off x="1195401" y="2501555"/>
              <a:ext cx="2151301" cy="25331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12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개 지역본부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지역 거점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AA2F42D3-745C-25E5-B253-A3D6A52AC2D1}"/>
                </a:ext>
              </a:extLst>
            </p:cNvPr>
            <p:cNvSpPr/>
            <p:nvPr/>
          </p:nvSpPr>
          <p:spPr bwMode="auto">
            <a:xfrm>
              <a:off x="513178" y="3018279"/>
              <a:ext cx="802586" cy="93477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144000" rIns="36000" bIns="0" rtlCol="0" anchor="t"/>
            <a:lstStyle/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산업단지 협의회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ko-KR" altLang="en-US" sz="9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공동협업</a:t>
              </a:r>
              <a:endPara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집중발굴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ko-KR" altLang="en-US" sz="9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산단설명회</a:t>
              </a:r>
              <a:endPara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3" name="사각형: 둥근 위쪽 모서리 12">
              <a:extLst>
                <a:ext uri="{FF2B5EF4-FFF2-40B4-BE49-F238E27FC236}">
                  <a16:creationId xmlns:a16="http://schemas.microsoft.com/office/drawing/2014/main" id="{A85FEBD8-862D-900D-9F20-23FACCC4B557}"/>
                </a:ext>
              </a:extLst>
            </p:cNvPr>
            <p:cNvSpPr/>
            <p:nvPr/>
          </p:nvSpPr>
          <p:spPr bwMode="auto">
            <a:xfrm>
              <a:off x="1404240" y="3018279"/>
              <a:ext cx="802586" cy="93477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144000" rIns="36000" bIns="0" rtlCol="0" anchor="t"/>
            <a:lstStyle/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업종별 협회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CEO</a:t>
              </a:r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접근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네트워크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회원사홍보</a:t>
              </a:r>
            </a:p>
          </p:txBody>
        </p:sp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id="{95E1D6BC-056C-261B-A52F-9CEB9A1D3D3E}"/>
                </a:ext>
              </a:extLst>
            </p:cNvPr>
            <p:cNvSpPr/>
            <p:nvPr/>
          </p:nvSpPr>
          <p:spPr bwMode="auto">
            <a:xfrm>
              <a:off x="2295301" y="3018279"/>
              <a:ext cx="802586" cy="93477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144000" rIns="36000" bIns="0" rtlCol="0" anchor="t"/>
            <a:lstStyle/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지역 훈련기관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맞춤훈련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시설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근로자지원</a:t>
              </a: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6B1349CA-6413-3FC2-76BB-21A720C0C8D1}"/>
                </a:ext>
              </a:extLst>
            </p:cNvPr>
            <p:cNvSpPr/>
            <p:nvPr/>
          </p:nvSpPr>
          <p:spPr bwMode="auto">
            <a:xfrm>
              <a:off x="3186363" y="3018279"/>
              <a:ext cx="802586" cy="93477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DFE2F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144000" rIns="36000" bIns="0" rtlCol="0" anchor="t"/>
            <a:lstStyle/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지역 유관기관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정책연계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지원</a:t>
              </a:r>
            </a:p>
            <a:p>
              <a:pPr defTabSz="914400"/>
              <a:r>
                <a: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기업추천</a:t>
              </a:r>
            </a:p>
          </p:txBody>
        </p:sp>
        <p:cxnSp>
          <p:nvCxnSpPr>
            <p:cNvPr id="19" name="연결선: 꺾임 18">
              <a:extLst>
                <a:ext uri="{FF2B5EF4-FFF2-40B4-BE49-F238E27FC236}">
                  <a16:creationId xmlns:a16="http://schemas.microsoft.com/office/drawing/2014/main" id="{26A84409-3E8A-A9E8-95AF-B9C9A353BDE9}"/>
                </a:ext>
              </a:extLst>
            </p:cNvPr>
            <p:cNvCxnSpPr>
              <a:cxnSpLocks/>
              <a:stCxn id="10" idx="3"/>
              <a:endCxn id="9" idx="1"/>
            </p:cNvCxnSpPr>
            <p:nvPr/>
          </p:nvCxnSpPr>
          <p:spPr bwMode="auto">
            <a:xfrm rot="5400000" flipH="1" flipV="1">
              <a:off x="1461058" y="2208286"/>
              <a:ext cx="263407" cy="1356581"/>
            </a:xfrm>
            <a:prstGeom prst="bentConnector3">
              <a:avLst>
                <a:gd name="adj1" fmla="val 50000"/>
              </a:avLst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B3DED5E5-AC32-8417-BA92-DF16FE3AFC61}"/>
                </a:ext>
              </a:extLst>
            </p:cNvPr>
            <p:cNvCxnSpPr>
              <a:cxnSpLocks/>
              <a:stCxn id="15" idx="3"/>
              <a:endCxn id="9" idx="1"/>
            </p:cNvCxnSpPr>
            <p:nvPr/>
          </p:nvCxnSpPr>
          <p:spPr bwMode="auto">
            <a:xfrm rot="16200000" flipV="1">
              <a:off x="2352120" y="2673805"/>
              <a:ext cx="263407" cy="425542"/>
            </a:xfrm>
            <a:prstGeom prst="bentConnector3">
              <a:avLst>
                <a:gd name="adj1" fmla="val 50000"/>
              </a:avLst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1" name="연결선: 꺾임 20">
              <a:extLst>
                <a:ext uri="{FF2B5EF4-FFF2-40B4-BE49-F238E27FC236}">
                  <a16:creationId xmlns:a16="http://schemas.microsoft.com/office/drawing/2014/main" id="{BF4C415F-1ACD-03A5-88B2-E99619E3274B}"/>
                </a:ext>
              </a:extLst>
            </p:cNvPr>
            <p:cNvCxnSpPr>
              <a:cxnSpLocks/>
              <a:stCxn id="13" idx="3"/>
              <a:endCxn id="9" idx="1"/>
            </p:cNvCxnSpPr>
            <p:nvPr/>
          </p:nvCxnSpPr>
          <p:spPr bwMode="auto">
            <a:xfrm rot="5400000" flipH="1" flipV="1">
              <a:off x="1906590" y="2653817"/>
              <a:ext cx="263407" cy="465519"/>
            </a:xfrm>
            <a:prstGeom prst="bentConnector3">
              <a:avLst>
                <a:gd name="adj1" fmla="val 50000"/>
              </a:avLst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A59853E9-9689-71FB-342D-736212EA0325}"/>
                </a:ext>
              </a:extLst>
            </p:cNvPr>
            <p:cNvCxnSpPr>
              <a:cxnSpLocks/>
              <a:stCxn id="16" idx="3"/>
              <a:endCxn id="9" idx="1"/>
            </p:cNvCxnSpPr>
            <p:nvPr/>
          </p:nvCxnSpPr>
          <p:spPr bwMode="auto">
            <a:xfrm rot="16200000" flipV="1">
              <a:off x="2797651" y="2228274"/>
              <a:ext cx="263407" cy="1316604"/>
            </a:xfrm>
            <a:prstGeom prst="bentConnector3">
              <a:avLst>
                <a:gd name="adj1" fmla="val 50000"/>
              </a:avLst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73D8D1C3-D406-03E0-7D00-29CA2E6E16FA}"/>
                </a:ext>
              </a:extLst>
            </p:cNvPr>
            <p:cNvSpPr/>
            <p:nvPr/>
          </p:nvSpPr>
          <p:spPr bwMode="auto">
            <a:xfrm>
              <a:off x="1195401" y="2215227"/>
              <a:ext cx="2151300" cy="20451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본부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: KSA</a:t>
              </a: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4078A7CC-9D03-D6E3-5515-4189D11DDF80}"/>
              </a:ext>
            </a:extLst>
          </p:cNvPr>
          <p:cNvGrpSpPr/>
          <p:nvPr/>
        </p:nvGrpSpPr>
        <p:grpSpPr>
          <a:xfrm>
            <a:off x="5025994" y="1964875"/>
            <a:ext cx="4449677" cy="2011311"/>
            <a:chOff x="4568264" y="1964875"/>
            <a:chExt cx="4907407" cy="2011311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CDDA7F11-3CB0-0FA7-0446-79B60593EE6C}"/>
                </a:ext>
              </a:extLst>
            </p:cNvPr>
            <p:cNvGrpSpPr/>
            <p:nvPr/>
          </p:nvGrpSpPr>
          <p:grpSpPr>
            <a:xfrm>
              <a:off x="4568264" y="1964875"/>
              <a:ext cx="4907407" cy="2011311"/>
              <a:chOff x="430326" y="1964875"/>
              <a:chExt cx="1818694" cy="2011311"/>
            </a:xfrm>
          </p:grpSpPr>
          <p:sp>
            <p:nvSpPr>
              <p:cNvPr id="56" name="사각형: 둥근 위쪽 모서리 55">
                <a:extLst>
                  <a:ext uri="{FF2B5EF4-FFF2-40B4-BE49-F238E27FC236}">
                    <a16:creationId xmlns:a16="http://schemas.microsoft.com/office/drawing/2014/main" id="{C22D5CFC-5D21-A5FA-1443-DF2C3A7CBCD8}"/>
                  </a:ext>
                </a:extLst>
              </p:cNvPr>
              <p:cNvSpPr/>
              <p:nvPr/>
            </p:nvSpPr>
            <p:spPr bwMode="auto">
              <a:xfrm>
                <a:off x="430327" y="1964875"/>
                <a:ext cx="1818693" cy="25331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8A7AE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algn="ctr" defTabSz="914400"/>
                <a:r>
                  <a:rPr lang="ko-KR" altLang="en-US" sz="1000" b="1" kern="0" spc="-10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</a:rPr>
                  <a:t>지역별 산업 특화 네트워킹</a:t>
                </a:r>
                <a:endParaRPr kumimoji="0" lang="ko-KR" altLang="en-US" sz="1000" b="1" i="0" u="none" strike="noStrike" kern="0" cap="none" spc="-10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57" name="사각형: 둥근 위쪽 모서리 56">
                <a:extLst>
                  <a:ext uri="{FF2B5EF4-FFF2-40B4-BE49-F238E27FC236}">
                    <a16:creationId xmlns:a16="http://schemas.microsoft.com/office/drawing/2014/main" id="{50697938-03C5-1A2F-E7B1-89CEDB5C06FF}"/>
                  </a:ext>
                </a:extLst>
              </p:cNvPr>
              <p:cNvSpPr/>
              <p:nvPr/>
            </p:nvSpPr>
            <p:spPr bwMode="auto">
              <a:xfrm>
                <a:off x="430326" y="2218193"/>
                <a:ext cx="1818693" cy="175799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0" rIns="36000" bIns="0" rtlCol="0" anchor="ctr"/>
              <a:lstStyle/>
              <a:p>
                <a:pPr defTabSz="914400"/>
                <a:endPara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B267AEB6-EAA5-1139-C98D-A4681046AD26}"/>
                </a:ext>
              </a:extLst>
            </p:cNvPr>
            <p:cNvGrpSpPr/>
            <p:nvPr/>
          </p:nvGrpSpPr>
          <p:grpSpPr>
            <a:xfrm>
              <a:off x="4811916" y="2287120"/>
              <a:ext cx="4504189" cy="792046"/>
              <a:chOff x="4740025" y="2342081"/>
              <a:chExt cx="3475760" cy="792046"/>
            </a:xfrm>
          </p:grpSpPr>
          <p:sp>
            <p:nvSpPr>
              <p:cNvPr id="58" name="사각형: 둥근 위쪽 모서리 57">
                <a:extLst>
                  <a:ext uri="{FF2B5EF4-FFF2-40B4-BE49-F238E27FC236}">
                    <a16:creationId xmlns:a16="http://schemas.microsoft.com/office/drawing/2014/main" id="{D8DD0FC0-7285-711B-4F29-3D38AD6164DE}"/>
                  </a:ext>
                </a:extLst>
              </p:cNvPr>
              <p:cNvSpPr/>
              <p:nvPr/>
            </p:nvSpPr>
            <p:spPr bwMode="auto">
              <a:xfrm>
                <a:off x="4740025" y="2342081"/>
                <a:ext cx="802586" cy="792046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EEF6F7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72000" rIns="36000" bIns="0" rtlCol="0" anchor="t"/>
              <a:lstStyle/>
              <a:p>
                <a:pPr defTabSz="914400"/>
                <a:r>
                  <a:rPr lang="ko-KR" altLang="en-US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여수</a:t>
                </a:r>
                <a:r>
                  <a:rPr lang="en-US" altLang="ko-KR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: </a:t>
                </a:r>
                <a:r>
                  <a:rPr lang="ko-KR" altLang="en-US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석유화학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진단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에너지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녹색화학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훈련</a:t>
                </a:r>
              </a:p>
            </p:txBody>
          </p:sp>
          <p:sp>
            <p:nvSpPr>
              <p:cNvPr id="59" name="사각형: 둥근 위쪽 모서리 58">
                <a:extLst>
                  <a:ext uri="{FF2B5EF4-FFF2-40B4-BE49-F238E27FC236}">
                    <a16:creationId xmlns:a16="http://schemas.microsoft.com/office/drawing/2014/main" id="{9825A4E9-C4EB-5186-8852-5A3A65C09823}"/>
                  </a:ext>
                </a:extLst>
              </p:cNvPr>
              <p:cNvSpPr/>
              <p:nvPr/>
            </p:nvSpPr>
            <p:spPr bwMode="auto">
              <a:xfrm>
                <a:off x="5631083" y="2342081"/>
                <a:ext cx="802586" cy="792046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EEF6F7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72000" rIns="36000" bIns="0" rtlCol="0" anchor="t"/>
              <a:lstStyle/>
              <a:p>
                <a:pPr defTabSz="914400"/>
                <a:r>
                  <a:rPr lang="ko-KR" altLang="en-US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포항</a:t>
                </a:r>
                <a:r>
                  <a:rPr lang="en-US" altLang="ko-KR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: </a:t>
                </a:r>
                <a:r>
                  <a:rPr lang="ko-KR" altLang="en-US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철강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진단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탄소중립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디지털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훈련</a:t>
                </a:r>
              </a:p>
            </p:txBody>
          </p:sp>
          <p:sp>
            <p:nvSpPr>
              <p:cNvPr id="60" name="사각형: 둥근 위쪽 모서리 59">
                <a:extLst>
                  <a:ext uri="{FF2B5EF4-FFF2-40B4-BE49-F238E27FC236}">
                    <a16:creationId xmlns:a16="http://schemas.microsoft.com/office/drawing/2014/main" id="{4EC2C943-F2E1-B47F-CBB7-AD5ADA69DCC0}"/>
                  </a:ext>
                </a:extLst>
              </p:cNvPr>
              <p:cNvSpPr/>
              <p:nvPr/>
            </p:nvSpPr>
            <p:spPr bwMode="auto">
              <a:xfrm>
                <a:off x="6522141" y="2342081"/>
                <a:ext cx="802586" cy="792046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EEF6F7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72000" rIns="36000" bIns="0" rtlCol="0" anchor="t"/>
              <a:lstStyle/>
              <a:p>
                <a:pPr defTabSz="914400"/>
                <a:r>
                  <a:rPr lang="ko-KR" altLang="en-US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창원</a:t>
                </a:r>
                <a:r>
                  <a:rPr lang="en-US" altLang="ko-KR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: </a:t>
                </a:r>
                <a:r>
                  <a:rPr lang="ko-KR" altLang="en-US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기계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진단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자동화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스마트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훈련</a:t>
                </a:r>
              </a:p>
            </p:txBody>
          </p:sp>
          <p:sp>
            <p:nvSpPr>
              <p:cNvPr id="61" name="사각형: 둥근 위쪽 모서리 60">
                <a:extLst>
                  <a:ext uri="{FF2B5EF4-FFF2-40B4-BE49-F238E27FC236}">
                    <a16:creationId xmlns:a16="http://schemas.microsoft.com/office/drawing/2014/main" id="{50B2CF75-89A6-C378-5CE8-B26C489E0F8B}"/>
                  </a:ext>
                </a:extLst>
              </p:cNvPr>
              <p:cNvSpPr/>
              <p:nvPr/>
            </p:nvSpPr>
            <p:spPr bwMode="auto">
              <a:xfrm>
                <a:off x="7413199" y="2342081"/>
                <a:ext cx="802586" cy="792046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EEF6F7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72000" rIns="36000" bIns="0" rtlCol="0" anchor="t"/>
              <a:lstStyle/>
              <a:p>
                <a:pPr defTabSz="914400"/>
                <a:r>
                  <a:rPr lang="ko-KR" altLang="en-US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대구</a:t>
                </a:r>
                <a:r>
                  <a:rPr lang="en-US" altLang="ko-KR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: </a:t>
                </a:r>
                <a:r>
                  <a:rPr lang="ko-KR" altLang="en-US" sz="900" b="1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섬유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진단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재편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고급화</a:t>
                </a:r>
              </a:p>
              <a:p>
                <a:pPr defTabSz="914400"/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└ 훈련</a:t>
                </a: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75EDB3AC-6BF1-F25E-EBA5-6BF425F281AB}"/>
                </a:ext>
              </a:extLst>
            </p:cNvPr>
            <p:cNvGrpSpPr/>
            <p:nvPr/>
          </p:nvGrpSpPr>
          <p:grpSpPr>
            <a:xfrm>
              <a:off x="4811916" y="3149925"/>
              <a:ext cx="4504189" cy="684017"/>
              <a:chOff x="4740025" y="2057864"/>
              <a:chExt cx="3475760" cy="867381"/>
            </a:xfrm>
            <a:solidFill>
              <a:schemeClr val="bg1">
                <a:lumMod val="95000"/>
              </a:schemeClr>
            </a:solidFill>
          </p:grpSpPr>
          <p:sp>
            <p:nvSpPr>
              <p:cNvPr id="64" name="사각형: 둥근 위쪽 모서리 63">
                <a:extLst>
                  <a:ext uri="{FF2B5EF4-FFF2-40B4-BE49-F238E27FC236}">
                    <a16:creationId xmlns:a16="http://schemas.microsoft.com/office/drawing/2014/main" id="{E7FCACA8-F37A-A0EC-BDCC-4ACF7EA2E163}"/>
                  </a:ext>
                </a:extLst>
              </p:cNvPr>
              <p:cNvSpPr/>
              <p:nvPr/>
            </p:nvSpPr>
            <p:spPr bwMode="auto">
              <a:xfrm>
                <a:off x="4740025" y="2057882"/>
                <a:ext cx="802586" cy="8673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72000" rIns="36000" bIns="0" rtlCol="0" anchor="t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 err="1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산단공단</a:t>
                </a:r>
                <a:endPara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화학협회</a:t>
                </a:r>
                <a:endPara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지자체</a:t>
                </a:r>
                <a:endParaRPr lang="en-US" altLang="ko-KR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훈련기관</a:t>
                </a:r>
              </a:p>
            </p:txBody>
          </p:sp>
          <p:sp>
            <p:nvSpPr>
              <p:cNvPr id="65" name="사각형: 둥근 위쪽 모서리 64">
                <a:extLst>
                  <a:ext uri="{FF2B5EF4-FFF2-40B4-BE49-F238E27FC236}">
                    <a16:creationId xmlns:a16="http://schemas.microsoft.com/office/drawing/2014/main" id="{FFD8DB6C-B612-4BD4-8DA5-20CA3844D379}"/>
                  </a:ext>
                </a:extLst>
              </p:cNvPr>
              <p:cNvSpPr/>
              <p:nvPr/>
            </p:nvSpPr>
            <p:spPr bwMode="auto">
              <a:xfrm>
                <a:off x="5631083" y="2057864"/>
                <a:ext cx="802586" cy="867368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72000" rIns="36000" bIns="0" rtlCol="0" anchor="t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 err="1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산단관리공단</a:t>
                </a:r>
                <a:endPara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철강협회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지자체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훈련기관</a:t>
                </a:r>
              </a:p>
            </p:txBody>
          </p:sp>
          <p:sp>
            <p:nvSpPr>
              <p:cNvPr id="66" name="사각형: 둥근 위쪽 모서리 65">
                <a:extLst>
                  <a:ext uri="{FF2B5EF4-FFF2-40B4-BE49-F238E27FC236}">
                    <a16:creationId xmlns:a16="http://schemas.microsoft.com/office/drawing/2014/main" id="{D9D10D5F-E3DC-1402-CC4B-619D9C3DEF8E}"/>
                  </a:ext>
                </a:extLst>
              </p:cNvPr>
              <p:cNvSpPr/>
              <p:nvPr/>
            </p:nvSpPr>
            <p:spPr bwMode="auto">
              <a:xfrm>
                <a:off x="6522141" y="2057867"/>
                <a:ext cx="802586" cy="867369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72000" rIns="36000" bIns="0" rtlCol="0" anchor="t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 err="1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산단관리공단</a:t>
                </a:r>
                <a:endPara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기계협회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지자체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훈련기관</a:t>
                </a:r>
              </a:p>
            </p:txBody>
          </p:sp>
          <p:sp>
            <p:nvSpPr>
              <p:cNvPr id="67" name="사각형: 둥근 위쪽 모서리 66">
                <a:extLst>
                  <a:ext uri="{FF2B5EF4-FFF2-40B4-BE49-F238E27FC236}">
                    <a16:creationId xmlns:a16="http://schemas.microsoft.com/office/drawing/2014/main" id="{5B6744BA-5F09-C263-24CD-EA95DE713362}"/>
                  </a:ext>
                </a:extLst>
              </p:cNvPr>
              <p:cNvSpPr/>
              <p:nvPr/>
            </p:nvSpPr>
            <p:spPr bwMode="auto">
              <a:xfrm>
                <a:off x="7413199" y="2057867"/>
                <a:ext cx="802586" cy="867369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 w="317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36000" tIns="72000" rIns="36000" bIns="0" rtlCol="0" anchor="t"/>
              <a:lstStyle/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 err="1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산단관리공단</a:t>
                </a:r>
                <a:endParaRPr lang="ko-KR" altLang="en-US" sz="9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endParaRP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섬유협회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지자체</a:t>
                </a:r>
              </a:p>
              <a:p>
                <a:pPr marL="171450" indent="-171450" defTabSz="914400">
                  <a:buFont typeface="Arial" panose="020B0604020202020204" pitchFamily="34" charset="0"/>
                  <a:buChar char="•"/>
                </a:pPr>
                <a:r>
                  <a:rPr lang="ko-KR" altLang="en-US" sz="900" kern="0" spc="-50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latin typeface="+mn-ea"/>
                  </a:rPr>
                  <a:t>훈련기관</a:t>
                </a:r>
              </a:p>
            </p:txBody>
          </p:sp>
        </p:grp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9439DE5E-4093-A3C9-EF8B-60BDFED53168}"/>
                </a:ext>
              </a:extLst>
            </p:cNvPr>
            <p:cNvCxnSpPr>
              <a:cxnSpLocks/>
              <a:stCxn id="58" idx="1"/>
              <a:endCxn id="64" idx="3"/>
            </p:cNvCxnSpPr>
            <p:nvPr/>
          </p:nvCxnSpPr>
          <p:spPr bwMode="auto">
            <a:xfrm>
              <a:off x="5331946" y="3079166"/>
              <a:ext cx="0" cy="70773"/>
            </a:xfrm>
            <a:prstGeom prst="line">
              <a:avLst/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2AD9576A-6C74-2F92-C130-5680995865F2}"/>
                </a:ext>
              </a:extLst>
            </p:cNvPr>
            <p:cNvCxnSpPr>
              <a:cxnSpLocks/>
              <a:stCxn id="59" idx="1"/>
              <a:endCxn id="65" idx="3"/>
            </p:cNvCxnSpPr>
            <p:nvPr/>
          </p:nvCxnSpPr>
          <p:spPr bwMode="auto">
            <a:xfrm>
              <a:off x="6486656" y="3079166"/>
              <a:ext cx="0" cy="70760"/>
            </a:xfrm>
            <a:prstGeom prst="line">
              <a:avLst/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47E3F40C-5074-5AA5-2BA1-A4494AD7E5FD}"/>
                </a:ext>
              </a:extLst>
            </p:cNvPr>
            <p:cNvCxnSpPr>
              <a:cxnSpLocks/>
              <a:stCxn id="60" idx="1"/>
            </p:cNvCxnSpPr>
            <p:nvPr/>
          </p:nvCxnSpPr>
          <p:spPr bwMode="auto">
            <a:xfrm>
              <a:off x="7641365" y="3079166"/>
              <a:ext cx="0" cy="294873"/>
            </a:xfrm>
            <a:prstGeom prst="line">
              <a:avLst/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AC88CB4A-51AF-FFC1-FB31-F30FE288780F}"/>
                </a:ext>
              </a:extLst>
            </p:cNvPr>
            <p:cNvCxnSpPr>
              <a:cxnSpLocks/>
              <a:stCxn id="61" idx="1"/>
              <a:endCxn id="67" idx="3"/>
            </p:cNvCxnSpPr>
            <p:nvPr/>
          </p:nvCxnSpPr>
          <p:spPr bwMode="auto">
            <a:xfrm>
              <a:off x="8796075" y="3079166"/>
              <a:ext cx="0" cy="70761"/>
            </a:xfrm>
            <a:prstGeom prst="line">
              <a:avLst/>
            </a:prstGeom>
            <a:solidFill>
              <a:srgbClr val="970F43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D7B29DBD-86BB-EEAE-3692-CA72AC6DBEAA}"/>
              </a:ext>
            </a:extLst>
          </p:cNvPr>
          <p:cNvCxnSpPr>
            <a:cxnSpLocks/>
            <a:stCxn id="82" idx="0"/>
            <a:endCxn id="83" idx="2"/>
          </p:cNvCxnSpPr>
          <p:nvPr/>
        </p:nvCxnSpPr>
        <p:spPr bwMode="auto">
          <a:xfrm flipV="1">
            <a:off x="1683020" y="4600920"/>
            <a:ext cx="215348" cy="5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DABC50E4-1FF4-1CD7-8DD3-CAAE961044B0}"/>
              </a:ext>
            </a:extLst>
          </p:cNvPr>
          <p:cNvCxnSpPr>
            <a:cxnSpLocks/>
            <a:stCxn id="83" idx="0"/>
            <a:endCxn id="84" idx="2"/>
          </p:cNvCxnSpPr>
          <p:nvPr/>
        </p:nvCxnSpPr>
        <p:spPr bwMode="auto">
          <a:xfrm>
            <a:off x="2981795" y="4600920"/>
            <a:ext cx="215348" cy="1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D43064B5-BBB8-236B-386E-B22737FB02FE}"/>
              </a:ext>
            </a:extLst>
          </p:cNvPr>
          <p:cNvCxnSpPr>
            <a:cxnSpLocks/>
            <a:stCxn id="84" idx="0"/>
            <a:endCxn id="85" idx="2"/>
          </p:cNvCxnSpPr>
          <p:nvPr/>
        </p:nvCxnSpPr>
        <p:spPr bwMode="auto">
          <a:xfrm flipV="1">
            <a:off x="4280570" y="4600920"/>
            <a:ext cx="215348" cy="1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96C8B96-31D7-89B7-A2A4-544B7DF0779C}"/>
              </a:ext>
            </a:extLst>
          </p:cNvPr>
          <p:cNvCxnSpPr>
            <a:cxnSpLocks/>
            <a:stCxn id="85" idx="0"/>
            <a:endCxn id="86" idx="2"/>
          </p:cNvCxnSpPr>
          <p:nvPr/>
        </p:nvCxnSpPr>
        <p:spPr bwMode="auto">
          <a:xfrm flipV="1">
            <a:off x="5579345" y="4600919"/>
            <a:ext cx="215348" cy="1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C5D6F86-5489-47BC-A0F9-BF4E020CBBE8}"/>
              </a:ext>
            </a:extLst>
          </p:cNvPr>
          <p:cNvGrpSpPr/>
          <p:nvPr/>
        </p:nvGrpSpPr>
        <p:grpSpPr>
          <a:xfrm>
            <a:off x="599593" y="4337613"/>
            <a:ext cx="8876076" cy="525885"/>
            <a:chOff x="572612" y="4581900"/>
            <a:chExt cx="9438988" cy="461437"/>
          </a:xfrm>
        </p:grpSpPr>
        <p:sp>
          <p:nvSpPr>
            <p:cNvPr id="82" name="사각형: 둥근 위쪽 모서리 81">
              <a:extLst>
                <a:ext uri="{FF2B5EF4-FFF2-40B4-BE49-F238E27FC236}">
                  <a16:creationId xmlns:a16="http://schemas.microsoft.com/office/drawing/2014/main" id="{D3F8A7FB-7B6A-FF1D-0F35-DCD31F18019D}"/>
                </a:ext>
              </a:extLst>
            </p:cNvPr>
            <p:cNvSpPr/>
            <p:nvPr/>
          </p:nvSpPr>
          <p:spPr bwMode="auto">
            <a:xfrm>
              <a:off x="572612" y="4582548"/>
              <a:ext cx="1152137" cy="46078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 err="1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산단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협회 기업 발굴</a:t>
              </a:r>
              <a:endParaRPr kumimoji="0" lang="ko-KR" altLang="en-US" sz="9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83" name="사각형: 둥근 위쪽 모서리 82">
              <a:extLst>
                <a:ext uri="{FF2B5EF4-FFF2-40B4-BE49-F238E27FC236}">
                  <a16:creationId xmlns:a16="http://schemas.microsoft.com/office/drawing/2014/main" id="{860060FE-7072-3875-0D88-C16648DA5715}"/>
                </a:ext>
              </a:extLst>
            </p:cNvPr>
            <p:cNvSpPr/>
            <p:nvPr/>
          </p:nvSpPr>
          <p:spPr bwMode="auto">
            <a:xfrm>
              <a:off x="1953754" y="4582544"/>
              <a:ext cx="1152137" cy="4607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지역본부 맞춤형 진단 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+ </a:t>
              </a:r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현장상담</a:t>
              </a:r>
              <a:endParaRPr kumimoji="0" lang="ko-KR" altLang="en-US" sz="9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84" name="사각형: 둥근 위쪽 모서리 83">
              <a:extLst>
                <a:ext uri="{FF2B5EF4-FFF2-40B4-BE49-F238E27FC236}">
                  <a16:creationId xmlns:a16="http://schemas.microsoft.com/office/drawing/2014/main" id="{0D04DE63-636C-20C1-CDD1-3B30C6D4F648}"/>
                </a:ext>
              </a:extLst>
            </p:cNvPr>
            <p:cNvSpPr/>
            <p:nvPr/>
          </p:nvSpPr>
          <p:spPr bwMode="auto">
            <a:xfrm>
              <a:off x="3334896" y="4582545"/>
              <a:ext cx="1152137" cy="4607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컨설팅 결과 도출 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직무전환 </a:t>
              </a:r>
              <a:endParaRPr lang="en-US" altLang="ko-KR" sz="90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로드맵 등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kumimoji="0" lang="ko-KR" altLang="en-US" sz="9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85" name="사각형: 둥근 위쪽 모서리 84">
              <a:extLst>
                <a:ext uri="{FF2B5EF4-FFF2-40B4-BE49-F238E27FC236}">
                  <a16:creationId xmlns:a16="http://schemas.microsoft.com/office/drawing/2014/main" id="{07A9FF02-DF38-B9F6-67E9-A59193FC4F06}"/>
                </a:ext>
              </a:extLst>
            </p:cNvPr>
            <p:cNvSpPr/>
            <p:nvPr/>
          </p:nvSpPr>
          <p:spPr bwMode="auto">
            <a:xfrm>
              <a:off x="4716038" y="4582544"/>
              <a:ext cx="1152137" cy="4607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지역 훈련기관 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900" b="1" kern="0" dirty="0" err="1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폴리텍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대학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민간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) </a:t>
              </a:r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맞춤과정 개설</a:t>
              </a:r>
              <a:endParaRPr kumimoji="0" lang="ko-KR" altLang="en-US" sz="9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86" name="사각형: 둥근 위쪽 모서리 85">
              <a:extLst>
                <a:ext uri="{FF2B5EF4-FFF2-40B4-BE49-F238E27FC236}">
                  <a16:creationId xmlns:a16="http://schemas.microsoft.com/office/drawing/2014/main" id="{AC64B79C-B1EC-C340-06E5-8F689E066DCD}"/>
                </a:ext>
              </a:extLst>
            </p:cNvPr>
            <p:cNvSpPr/>
            <p:nvPr/>
          </p:nvSpPr>
          <p:spPr bwMode="auto">
            <a:xfrm>
              <a:off x="6097180" y="4582543"/>
              <a:ext cx="1152137" cy="4607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근로자 재교육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재배치 지원</a:t>
              </a:r>
              <a:endParaRPr kumimoji="0" lang="ko-KR" altLang="en-US" sz="9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96" name="사각형: 둥근 위쪽 모서리 95">
              <a:extLst>
                <a:ext uri="{FF2B5EF4-FFF2-40B4-BE49-F238E27FC236}">
                  <a16:creationId xmlns:a16="http://schemas.microsoft.com/office/drawing/2014/main" id="{F56C8E91-0471-B562-5563-FD8808489775}"/>
                </a:ext>
              </a:extLst>
            </p:cNvPr>
            <p:cNvSpPr/>
            <p:nvPr/>
          </p:nvSpPr>
          <p:spPr bwMode="auto">
            <a:xfrm>
              <a:off x="7478322" y="4581900"/>
              <a:ext cx="1152137" cy="4607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지역본부 정기 모니터링 </a:t>
              </a:r>
              <a:endParaRPr lang="en-US" altLang="ko-KR" sz="900" b="1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/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신호등 관리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kumimoji="0" lang="ko-KR" altLang="en-US" sz="9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97" name="사각형: 둥근 위쪽 모서리 96">
              <a:extLst>
                <a:ext uri="{FF2B5EF4-FFF2-40B4-BE49-F238E27FC236}">
                  <a16:creationId xmlns:a16="http://schemas.microsoft.com/office/drawing/2014/main" id="{EECAEBCB-BA14-93DD-C7FC-B0455526FA97}"/>
                </a:ext>
              </a:extLst>
            </p:cNvPr>
            <p:cNvSpPr/>
            <p:nvPr/>
          </p:nvSpPr>
          <p:spPr bwMode="auto">
            <a:xfrm>
              <a:off x="8859463" y="4581900"/>
              <a:ext cx="1152137" cy="46078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지속가능한 산업전환 지원 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사업 종료 후에도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kumimoji="0" lang="ko-KR" altLang="en-US" sz="900" b="1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CA163721-1E28-8273-B7FF-52A44CCF811A}"/>
              </a:ext>
            </a:extLst>
          </p:cNvPr>
          <p:cNvCxnSpPr>
            <a:cxnSpLocks/>
            <a:stCxn id="86" idx="0"/>
            <a:endCxn id="96" idx="2"/>
          </p:cNvCxnSpPr>
          <p:nvPr/>
        </p:nvCxnSpPr>
        <p:spPr bwMode="auto">
          <a:xfrm flipV="1">
            <a:off x="6878120" y="4600186"/>
            <a:ext cx="215348" cy="733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D8B7D11C-ED96-F0FA-E632-2EE1B068E36E}"/>
              </a:ext>
            </a:extLst>
          </p:cNvPr>
          <p:cNvCxnSpPr>
            <a:cxnSpLocks/>
            <a:stCxn id="96" idx="0"/>
            <a:endCxn id="97" idx="2"/>
          </p:cNvCxnSpPr>
          <p:nvPr/>
        </p:nvCxnSpPr>
        <p:spPr bwMode="auto">
          <a:xfrm>
            <a:off x="8176895" y="4600186"/>
            <a:ext cx="215347" cy="0"/>
          </a:xfrm>
          <a:prstGeom prst="straightConnector1">
            <a:avLst/>
          </a:prstGeom>
          <a:solidFill>
            <a:srgbClr val="970F43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D4FB91A4-1097-0206-A757-479430FC74DA}"/>
              </a:ext>
            </a:extLst>
          </p:cNvPr>
          <p:cNvGrpSpPr/>
          <p:nvPr/>
        </p:nvGrpSpPr>
        <p:grpSpPr>
          <a:xfrm>
            <a:off x="431761" y="4029012"/>
            <a:ext cx="3413316" cy="253916"/>
            <a:chOff x="444954" y="2154076"/>
            <a:chExt cx="3413316" cy="253916"/>
          </a:xfrm>
        </p:grpSpPr>
        <p:pic>
          <p:nvPicPr>
            <p:cNvPr id="108" name="그래픽 107" descr="배지 체크 표시1 단색으로 채워진">
              <a:extLst>
                <a:ext uri="{FF2B5EF4-FFF2-40B4-BE49-F238E27FC236}">
                  <a16:creationId xmlns:a16="http://schemas.microsoft.com/office/drawing/2014/main" id="{CCCE2FA7-5B3F-7BC0-DA0C-C4019D7BB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2FDE5D3-8C64-DF37-DE2D-3FF554D56536}"/>
                </a:ext>
              </a:extLst>
            </p:cNvPr>
            <p:cNvSpPr txBox="1"/>
            <p:nvPr/>
          </p:nvSpPr>
          <p:spPr>
            <a:xfrm>
              <a:off x="540851" y="2154076"/>
              <a:ext cx="3317419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선순환 지원 생태계</a:t>
              </a:r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: 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발굴 → 진단 → 훈련 연계</a:t>
              </a:r>
              <a:endParaRPr lang="ko-KR" altLang="en-US" sz="1050" b="1" spc="-8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40C3"/>
                </a:solidFill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88F8BAD0-54DC-0B53-383C-28DAFCA0ACA7}"/>
              </a:ext>
            </a:extLst>
          </p:cNvPr>
          <p:cNvGrpSpPr/>
          <p:nvPr/>
        </p:nvGrpSpPr>
        <p:grpSpPr>
          <a:xfrm>
            <a:off x="430325" y="4954922"/>
            <a:ext cx="3413316" cy="253916"/>
            <a:chOff x="444954" y="2154076"/>
            <a:chExt cx="3413316" cy="253916"/>
          </a:xfrm>
        </p:grpSpPr>
        <p:pic>
          <p:nvPicPr>
            <p:cNvPr id="111" name="그래픽 110" descr="배지 체크 표시1 단색으로 채워진">
              <a:extLst>
                <a:ext uri="{FF2B5EF4-FFF2-40B4-BE49-F238E27FC236}">
                  <a16:creationId xmlns:a16="http://schemas.microsoft.com/office/drawing/2014/main" id="{136C3BD0-F55C-46C3-5292-FBEB62EC9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954" y="2193445"/>
              <a:ext cx="167832" cy="167832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6D749FB-8D27-948D-597D-10C559CEF397}"/>
                </a:ext>
              </a:extLst>
            </p:cNvPr>
            <p:cNvSpPr txBox="1"/>
            <p:nvPr/>
          </p:nvSpPr>
          <p:spPr>
            <a:xfrm>
              <a:off x="540851" y="2154076"/>
              <a:ext cx="3317419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네트워킹 활용의 </a:t>
              </a:r>
              <a:r>
                <a:rPr lang="en-US" altLang="ko-KR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5</a:t>
              </a:r>
              <a:r>
                <a:rPr lang="ko-KR" altLang="en-US" sz="1050" b="1" spc="-8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rPr>
                <a:t>가지 효과</a:t>
              </a:r>
              <a:endParaRPr lang="ko-KR" altLang="en-US" sz="1050" b="1" spc="-8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40C3"/>
                </a:solidFill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9D302AA-0163-A987-6D41-162641ED5AE5}"/>
              </a:ext>
            </a:extLst>
          </p:cNvPr>
          <p:cNvGrpSpPr/>
          <p:nvPr/>
        </p:nvGrpSpPr>
        <p:grpSpPr>
          <a:xfrm>
            <a:off x="599593" y="5237471"/>
            <a:ext cx="8876076" cy="618085"/>
            <a:chOff x="599593" y="5573546"/>
            <a:chExt cx="6278527" cy="589759"/>
          </a:xfrm>
          <a:solidFill>
            <a:schemeClr val="bg1">
              <a:lumMod val="95000"/>
            </a:schemeClr>
          </a:solidFill>
        </p:grpSpPr>
        <p:sp>
          <p:nvSpPr>
            <p:cNvPr id="113" name="사각형: 둥근 위쪽 모서리 112">
              <a:extLst>
                <a:ext uri="{FF2B5EF4-FFF2-40B4-BE49-F238E27FC236}">
                  <a16:creationId xmlns:a16="http://schemas.microsoft.com/office/drawing/2014/main" id="{4DA97D97-617D-FEE2-16AE-99FC84E18EBA}"/>
                </a:ext>
              </a:extLst>
            </p:cNvPr>
            <p:cNvSpPr/>
            <p:nvPr/>
          </p:nvSpPr>
          <p:spPr bwMode="auto">
            <a:xfrm>
              <a:off x="599593" y="5573552"/>
              <a:ext cx="1083427" cy="589753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① 기업발굴 효율성 ↑</a:t>
              </a:r>
            </a:p>
            <a:p>
              <a:pPr algn="ctr" defTabSz="914400"/>
              <a:r>
                <a:rPr lang="ko-KR" altLang="en-US" sz="900" kern="0" dirty="0" err="1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산단</a:t>
              </a:r>
              <a:r>
                <a:rPr lang="en-US" altLang="ko-KR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협회를 통한 </a:t>
              </a:r>
              <a:r>
                <a:rPr lang="ko-KR" altLang="en-US" sz="900" kern="0" dirty="0" err="1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타깃팅으로</a:t>
              </a:r>
              <a:r>
                <a:rPr lang="ko-KR" altLang="en-US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 정확한 발굴</a:t>
              </a:r>
              <a:endParaRPr kumimoji="0" lang="ko-KR" altLang="en-US" sz="900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14" name="사각형: 둥근 위쪽 모서리 113">
              <a:extLst>
                <a:ext uri="{FF2B5EF4-FFF2-40B4-BE49-F238E27FC236}">
                  <a16:creationId xmlns:a16="http://schemas.microsoft.com/office/drawing/2014/main" id="{0DBE58A3-8AA2-9C01-49DD-2FB69149DFDF}"/>
                </a:ext>
              </a:extLst>
            </p:cNvPr>
            <p:cNvSpPr/>
            <p:nvPr/>
          </p:nvSpPr>
          <p:spPr bwMode="auto">
            <a:xfrm>
              <a:off x="1898368" y="5573547"/>
              <a:ext cx="1083427" cy="589751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② 기업</a:t>
              </a:r>
              <a:r>
                <a:rPr lang="en-US" altLang="ko-KR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–</a:t>
              </a:r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훈련기관 매칭 ↑</a:t>
              </a:r>
            </a:p>
            <a:p>
              <a:pPr algn="ctr" defTabSz="914400"/>
              <a:r>
                <a:rPr lang="ko-KR" altLang="en-US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컨설팅 결과 기반 맞춤형 훈련 즉시 개설</a:t>
              </a:r>
            </a:p>
          </p:txBody>
        </p:sp>
        <p:sp>
          <p:nvSpPr>
            <p:cNvPr id="115" name="사각형: 둥근 위쪽 모서리 114">
              <a:extLst>
                <a:ext uri="{FF2B5EF4-FFF2-40B4-BE49-F238E27FC236}">
                  <a16:creationId xmlns:a16="http://schemas.microsoft.com/office/drawing/2014/main" id="{26F0502F-E010-1D76-01D8-4EFC86C5F4E5}"/>
                </a:ext>
              </a:extLst>
            </p:cNvPr>
            <p:cNvSpPr/>
            <p:nvPr/>
          </p:nvSpPr>
          <p:spPr bwMode="auto">
            <a:xfrm>
              <a:off x="3197143" y="5573549"/>
              <a:ext cx="1083427" cy="589751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③ 지역 산업 특성 반영 ↑</a:t>
              </a:r>
            </a:p>
            <a:p>
              <a:pPr algn="ctr" defTabSz="914400"/>
              <a:r>
                <a:rPr lang="ko-KR" altLang="en-US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여수</a:t>
              </a:r>
              <a:r>
                <a:rPr lang="en-US" altLang="ko-KR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포항</a:t>
              </a:r>
              <a:r>
                <a:rPr lang="en-US" altLang="ko-KR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창원</a:t>
              </a:r>
              <a:r>
                <a:rPr lang="en-US" altLang="ko-KR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·</a:t>
              </a:r>
              <a:r>
                <a:rPr lang="ko-KR" altLang="en-US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대구 등 </a:t>
              </a:r>
              <a:endParaRPr lang="en-US" altLang="ko-KR" sz="900" kern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latin typeface="+mn-ea"/>
              </a:endParaRPr>
            </a:p>
            <a:p>
              <a:pPr algn="ctr" defTabSz="914400"/>
              <a:r>
                <a:rPr lang="ko-KR" altLang="en-US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특화 지원</a:t>
              </a:r>
              <a:endParaRPr kumimoji="0" lang="ko-KR" altLang="en-US" sz="900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16" name="사각형: 둥근 위쪽 모서리 115">
              <a:extLst>
                <a:ext uri="{FF2B5EF4-FFF2-40B4-BE49-F238E27FC236}">
                  <a16:creationId xmlns:a16="http://schemas.microsoft.com/office/drawing/2014/main" id="{E53E394B-6571-6E7D-266A-D63383A0ADD0}"/>
                </a:ext>
              </a:extLst>
            </p:cNvPr>
            <p:cNvSpPr/>
            <p:nvPr/>
          </p:nvSpPr>
          <p:spPr bwMode="auto">
            <a:xfrm>
              <a:off x="4495918" y="5573547"/>
              <a:ext cx="1083427" cy="589751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④ 사후관리 효율성 ↑</a:t>
              </a:r>
            </a:p>
            <a:p>
              <a:pPr algn="ctr" defTabSz="914400"/>
              <a:r>
                <a:rPr lang="ko-KR" altLang="en-US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지역본부의 현장 밀착 모니터링</a:t>
              </a:r>
            </a:p>
          </p:txBody>
        </p:sp>
        <p:sp>
          <p:nvSpPr>
            <p:cNvPr id="117" name="사각형: 둥근 위쪽 모서리 116">
              <a:extLst>
                <a:ext uri="{FF2B5EF4-FFF2-40B4-BE49-F238E27FC236}">
                  <a16:creationId xmlns:a16="http://schemas.microsoft.com/office/drawing/2014/main" id="{A2F8DAD0-143B-EB5A-D10A-74F9F7042243}"/>
                </a:ext>
              </a:extLst>
            </p:cNvPr>
            <p:cNvSpPr/>
            <p:nvPr/>
          </p:nvSpPr>
          <p:spPr bwMode="auto">
            <a:xfrm>
              <a:off x="5794693" y="5573546"/>
              <a:ext cx="1083427" cy="589751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900" b="1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⑤ 지속가능한 생태계 ↑</a:t>
              </a:r>
            </a:p>
            <a:p>
              <a:pPr algn="ctr" defTabSz="914400"/>
              <a:r>
                <a:rPr lang="ko-KR" altLang="en-US" sz="900" kern="0" dirty="0">
                  <a:ln>
                    <a:solidFill>
                      <a:schemeClr val="bg2">
                        <a:lumMod val="25000"/>
                        <a:alpha val="0"/>
                      </a:schemeClr>
                    </a:solidFill>
                  </a:ln>
                  <a:latin typeface="+mn-ea"/>
                </a:rPr>
                <a:t>사업 종료 후에도 지역 산업전환 지속 지원</a:t>
              </a:r>
              <a:endParaRPr kumimoji="0" lang="ko-KR" altLang="en-US" sz="900" i="0" u="none" strike="noStrike" kern="0" cap="none" normalizeH="0" noProof="0" dirty="0">
                <a:ln>
                  <a:solidFill>
                    <a:schemeClr val="bg2">
                      <a:lumMod val="25000"/>
                      <a:alpha val="0"/>
                    </a:schemeClr>
                  </a:solidFill>
                </a:ln>
                <a:solidFill>
                  <a:srgbClr val="5D6DBE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94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24389-6E22-6219-4D1A-3FE58D74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B79989DF-9ADA-37B6-2EC6-B89541E0118A}"/>
              </a:ext>
            </a:extLst>
          </p:cNvPr>
          <p:cNvGrpSpPr/>
          <p:nvPr/>
        </p:nvGrpSpPr>
        <p:grpSpPr>
          <a:xfrm>
            <a:off x="386738" y="2051726"/>
            <a:ext cx="4443404" cy="2040372"/>
            <a:chOff x="386738" y="2051726"/>
            <a:chExt cx="4443404" cy="2040372"/>
          </a:xfrm>
        </p:grpSpPr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F57B179B-8BB9-063A-C93E-E0E18317E796}"/>
                </a:ext>
              </a:extLst>
            </p:cNvPr>
            <p:cNvSpPr/>
            <p:nvPr/>
          </p:nvSpPr>
          <p:spPr bwMode="auto">
            <a:xfrm>
              <a:off x="397174" y="2051726"/>
              <a:ext cx="4432968" cy="253319"/>
            </a:xfrm>
            <a:prstGeom prst="round2SameRect">
              <a:avLst>
                <a:gd name="adj1" fmla="val 17695"/>
                <a:gd name="adj2" fmla="val 0"/>
              </a:avLst>
            </a:prstGeom>
            <a:solidFill>
              <a:srgbClr val="1040C3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3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 홍보 로드맵</a:t>
              </a:r>
              <a:endParaRPr kumimoji="0" lang="ko-KR" altLang="en-US" sz="1000" b="1" i="0" u="none" strike="noStrike" kern="0" cap="none" spc="-5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" name="사각형: 둥근 위쪽 모서리 4">
              <a:extLst>
                <a:ext uri="{FF2B5EF4-FFF2-40B4-BE49-F238E27FC236}">
                  <a16:creationId xmlns:a16="http://schemas.microsoft.com/office/drawing/2014/main" id="{5D05C8B1-1815-34FC-5132-1BD2779A31FD}"/>
                </a:ext>
              </a:extLst>
            </p:cNvPr>
            <p:cNvSpPr/>
            <p:nvPr/>
          </p:nvSpPr>
          <p:spPr bwMode="auto">
            <a:xfrm>
              <a:off x="386738" y="2305046"/>
              <a:ext cx="4443404" cy="178705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endPara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4382E3D-C500-1B48-2DAE-BA3AC1A6B79E}"/>
              </a:ext>
            </a:extLst>
          </p:cNvPr>
          <p:cNvSpPr txBox="1"/>
          <p:nvPr/>
        </p:nvSpPr>
        <p:spPr>
          <a:xfrm>
            <a:off x="262200" y="615768"/>
            <a:ext cx="93915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pc="-30" dirty="0">
                <a:solidFill>
                  <a:srgbClr val="E357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참여기업 성공 스토리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중심의 </a:t>
            </a:r>
            <a:r>
              <a:rPr lang="en-US" altLang="ko-KR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pc="-30" dirty="0">
                <a:solidFill>
                  <a:srgbClr val="5D6DB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단계 홍보 전략 </a:t>
            </a:r>
            <a:r>
              <a:rPr lang="en-US" altLang="ko-KR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pc="-3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우수사례 기반 신뢰도 검증 및 참여 동기 강화</a:t>
            </a:r>
            <a:endParaRPr lang="en-US" altLang="ko-KR" spc="-3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035524-B8BE-483E-AA59-B19BBC7B8F7B}"/>
              </a:ext>
            </a:extLst>
          </p:cNvPr>
          <p:cNvSpPr/>
          <p:nvPr/>
        </p:nvSpPr>
        <p:spPr bwMode="auto">
          <a:xfrm>
            <a:off x="214072" y="1318437"/>
            <a:ext cx="1455702" cy="49019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R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600" kern="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언론홍보</a:t>
            </a:r>
            <a:endParaRPr kumimoji="0" lang="ko-KR" altLang="en-US" sz="1600" i="0" u="none" strike="noStrike" kern="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8077DF-29D8-ED4F-D503-564CCC1EAEC1}"/>
              </a:ext>
            </a:extLst>
          </p:cNvPr>
          <p:cNvSpPr/>
          <p:nvPr/>
        </p:nvSpPr>
        <p:spPr bwMode="auto">
          <a:xfrm>
            <a:off x="1669774" y="1318437"/>
            <a:ext cx="7935859" cy="49019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0" rIns="72000" bIns="0" rtlCol="0" anchor="ctr"/>
          <a:lstStyle/>
          <a:p>
            <a:pPr defTabSz="914400"/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고용 유지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정부지원금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노사합의의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 핵심성과 기준으로 선정한 우수사례를 영상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카드뉴스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사례집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등 다양한 형태로 온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오프라인 매체에 배포하여 잠재 참여 기업에게 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나도 할 수 있다</a:t>
            </a:r>
            <a:r>
              <a:rPr lang="en-US" altLang="ko-KR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'</a:t>
            </a:r>
            <a:r>
              <a:rPr lang="ko-KR" altLang="en-US" sz="12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는 자신감과 긍정적 참여 동기를 부여함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24EE63-8E9C-A55D-66C3-DA64D66B9FAE}"/>
              </a:ext>
            </a:extLst>
          </p:cNvPr>
          <p:cNvSpPr/>
          <p:nvPr/>
        </p:nvSpPr>
        <p:spPr bwMode="auto">
          <a:xfrm>
            <a:off x="214069" y="5993774"/>
            <a:ext cx="9391564" cy="496916"/>
          </a:xfrm>
          <a:prstGeom prst="rect">
            <a:avLst/>
          </a:prstGeom>
          <a:solidFill>
            <a:srgbClr val="D7EAF8"/>
          </a:solidFill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고용유지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정부지원금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노사합의의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대 핵심성과 기준으로 선정한 우수사례를 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OSMU 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전략으로 </a:t>
            </a:r>
            <a:endParaRPr lang="en-US" altLang="ko-KR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  <a:p>
            <a:pPr algn="ctr" defTabSz="914400"/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온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오프라인 매체에 일관된 메시지로 지속 전달하여 잠재 참여 기업의 공감대 형성과 실질적 참여를 이끌어냅니다</a:t>
            </a:r>
            <a:r>
              <a:rPr lang="en-US" altLang="ko-KR" sz="1300" b="1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300" b="1" kern="0" spc="-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DD5AD-8C93-A133-3012-27CEEC1A1908}"/>
              </a:ext>
            </a:extLst>
          </p:cNvPr>
          <p:cNvSpPr txBox="1"/>
          <p:nvPr/>
        </p:nvSpPr>
        <p:spPr>
          <a:xfrm>
            <a:off x="214069" y="211484"/>
            <a:ext cx="5235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200" kern="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유관기관 협업  </a:t>
            </a:r>
            <a:r>
              <a:rPr lang="en-US" altLang="ko-KR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1200" kern="0" dirty="0">
                <a:solidFill>
                  <a:srgbClr val="1040C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우수 성과사례 중심 언론 홍보 노력</a:t>
            </a:r>
            <a:endParaRPr lang="ko-KR" altLang="en-US" sz="1200" dirty="0">
              <a:solidFill>
                <a:srgbClr val="1040C3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646974E-CC0D-FB9F-E608-992FB0E45BF7}"/>
              </a:ext>
            </a:extLst>
          </p:cNvPr>
          <p:cNvGrpSpPr/>
          <p:nvPr/>
        </p:nvGrpSpPr>
        <p:grpSpPr>
          <a:xfrm>
            <a:off x="527824" y="2474140"/>
            <a:ext cx="4161232" cy="1461350"/>
            <a:chOff x="533946" y="2461499"/>
            <a:chExt cx="4161232" cy="1217224"/>
          </a:xfrm>
        </p:grpSpPr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id="{6E572F0B-6229-8D6B-69B3-A849A6D2A146}"/>
                </a:ext>
              </a:extLst>
            </p:cNvPr>
            <p:cNvSpPr/>
            <p:nvPr/>
          </p:nvSpPr>
          <p:spPr bwMode="auto">
            <a:xfrm>
              <a:off x="533947" y="2469060"/>
              <a:ext cx="1308468" cy="25331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1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(3~4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월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)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id="{5100BB95-197E-FC8C-82F3-1D014AC1B80A}"/>
                </a:ext>
              </a:extLst>
            </p:cNvPr>
            <p:cNvSpPr/>
            <p:nvPr/>
          </p:nvSpPr>
          <p:spPr bwMode="auto">
            <a:xfrm>
              <a:off x="533946" y="2722379"/>
              <a:ext cx="1308468" cy="95634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72000" rIns="36000" bIns="0" rtlCol="0" anchor="t"/>
            <a:lstStyle/>
            <a:p>
              <a:pPr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인지 확보</a:t>
              </a:r>
            </a:p>
            <a:p>
              <a:pPr defTabSz="914400"/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자가진단 캠페인</a:t>
              </a:r>
            </a:p>
            <a:p>
              <a:pPr defTabSz="914400"/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설명회</a:t>
              </a: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09C7E398-5BF4-09C7-7AA5-E821DC907C61}"/>
                </a:ext>
              </a:extLst>
            </p:cNvPr>
            <p:cNvSpPr/>
            <p:nvPr/>
          </p:nvSpPr>
          <p:spPr bwMode="auto">
            <a:xfrm>
              <a:off x="1954283" y="2461499"/>
              <a:ext cx="1329678" cy="25331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2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(6~8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월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)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879D7771-F7C7-7CEF-43F7-E125D4D975E7}"/>
                </a:ext>
              </a:extLst>
            </p:cNvPr>
            <p:cNvSpPr/>
            <p:nvPr/>
          </p:nvSpPr>
          <p:spPr bwMode="auto">
            <a:xfrm>
              <a:off x="1954282" y="2714818"/>
              <a:ext cx="1329678" cy="95634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72000" rIns="36000" bIns="0" rtlCol="0" anchor="t"/>
            <a:lstStyle/>
            <a:p>
              <a:pPr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확산 강화</a:t>
              </a:r>
            </a:p>
            <a:p>
              <a:pPr defTabSz="914400"/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</a:t>
              </a:r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CEO·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실무자 </a:t>
              </a:r>
              <a:endPara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  <a:p>
              <a:pPr defTabSz="914400"/>
              <a:r>
                <a:rPr lang="en-US" altLang="ko-KR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    </a:t>
              </a:r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릴레이 인터뷰</a:t>
              </a:r>
            </a:p>
            <a:p>
              <a:pPr defTabSz="914400"/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콘텐츠 </a:t>
              </a:r>
              <a:r>
                <a:rPr lang="ko-KR" altLang="en-US" sz="1000" kern="0" spc="-50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재배포</a:t>
              </a:r>
              <a:endPara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01359F9B-9934-5934-AD83-76F2333596D7}"/>
                </a:ext>
              </a:extLst>
            </p:cNvPr>
            <p:cNvSpPr/>
            <p:nvPr/>
          </p:nvSpPr>
          <p:spPr bwMode="auto">
            <a:xfrm>
              <a:off x="3365500" y="2461499"/>
              <a:ext cx="1329678" cy="25331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5D6DBE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3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단계 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(11~12</a:t>
              </a:r>
              <a:r>
                <a:rPr lang="ko-KR" altLang="en-US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월</a:t>
              </a:r>
              <a:r>
                <a:rPr lang="en-US" altLang="ko-KR" sz="1000" b="1" kern="0" spc="-1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)</a:t>
              </a:r>
              <a:endParaRPr kumimoji="0" lang="ko-KR" altLang="en-US" sz="1000" b="1" i="0" u="none" strike="noStrike" kern="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0" name="사각형: 둥근 위쪽 모서리 19">
              <a:extLst>
                <a:ext uri="{FF2B5EF4-FFF2-40B4-BE49-F238E27FC236}">
                  <a16:creationId xmlns:a16="http://schemas.microsoft.com/office/drawing/2014/main" id="{E73A9008-3946-D8FA-44D2-04A463AD7569}"/>
                </a:ext>
              </a:extLst>
            </p:cNvPr>
            <p:cNvSpPr/>
            <p:nvPr/>
          </p:nvSpPr>
          <p:spPr bwMode="auto">
            <a:xfrm>
              <a:off x="3365499" y="2714817"/>
              <a:ext cx="1329678" cy="956345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72000" rIns="36000" bIns="0" rtlCol="0" anchor="t"/>
            <a:lstStyle/>
            <a:p>
              <a:pPr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rgbClr val="1040C3"/>
                  </a:solidFill>
                  <a:latin typeface="+mn-ea"/>
                </a:rPr>
                <a:t>검증 강화</a:t>
              </a:r>
            </a:p>
            <a:p>
              <a:pPr defTabSz="914400"/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우수사례집 발간</a:t>
              </a:r>
            </a:p>
            <a:p>
              <a:pPr defTabSz="914400"/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성과보고회</a:t>
              </a:r>
            </a:p>
            <a:p>
              <a:pPr defTabSz="914400"/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기획기사</a:t>
              </a:r>
            </a:p>
            <a:p>
              <a:pPr defTabSz="914400"/>
              <a:r>
                <a:rPr lang="ko-KR" altLang="en-US" sz="1000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└ 공적 검증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98834B0-C1FB-78BE-5AE2-8B1E85E9CEE7}"/>
              </a:ext>
            </a:extLst>
          </p:cNvPr>
          <p:cNvGrpSpPr/>
          <p:nvPr/>
        </p:nvGrpSpPr>
        <p:grpSpPr>
          <a:xfrm>
            <a:off x="396237" y="4158865"/>
            <a:ext cx="4443404" cy="1665814"/>
            <a:chOff x="386738" y="2051726"/>
            <a:chExt cx="4443404" cy="1665814"/>
          </a:xfrm>
        </p:grpSpPr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2CC0276B-E01E-773D-4289-E1FB832DEE8E}"/>
                </a:ext>
              </a:extLst>
            </p:cNvPr>
            <p:cNvSpPr/>
            <p:nvPr/>
          </p:nvSpPr>
          <p:spPr bwMode="auto">
            <a:xfrm>
              <a:off x="397174" y="2051726"/>
              <a:ext cx="4432968" cy="253319"/>
            </a:xfrm>
            <a:prstGeom prst="round2SameRect">
              <a:avLst>
                <a:gd name="adj1" fmla="val 17695"/>
                <a:gd name="adj2" fmla="val 0"/>
              </a:avLst>
            </a:prstGeom>
            <a:solidFill>
              <a:srgbClr val="1040C3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algn="ctr" defTabSz="914400"/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온</a:t>
              </a:r>
              <a:r>
                <a:rPr lang="en-US" altLang="ko-KR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·</a:t>
              </a:r>
              <a:r>
                <a:rPr lang="ko-KR" altLang="en-US" sz="1000" b="1" kern="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오프라인 통합 미디어 믹스</a:t>
              </a:r>
              <a:endParaRPr kumimoji="0" lang="ko-KR" altLang="en-US" sz="1000" b="1" i="0" u="none" strike="noStrike" kern="0" cap="none" spc="-50" normalizeH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C8C80647-5FEB-CBF2-9367-98893C98B951}"/>
                </a:ext>
              </a:extLst>
            </p:cNvPr>
            <p:cNvSpPr/>
            <p:nvPr/>
          </p:nvSpPr>
          <p:spPr bwMode="auto">
            <a:xfrm>
              <a:off x="386738" y="2305046"/>
              <a:ext cx="4443404" cy="141249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 rtlCol="0" anchor="ctr"/>
            <a:lstStyle/>
            <a:p>
              <a:pPr fontAlgn="base"/>
              <a:endPara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endParaRPr>
            </a:p>
          </p:txBody>
        </p:sp>
      </p:grp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585CF1A6-E39A-545A-14F7-A9D86257C2D9}"/>
              </a:ext>
            </a:extLst>
          </p:cNvPr>
          <p:cNvSpPr/>
          <p:nvPr/>
        </p:nvSpPr>
        <p:spPr bwMode="auto">
          <a:xfrm>
            <a:off x="5075858" y="2051726"/>
            <a:ext cx="4432968" cy="253319"/>
          </a:xfrm>
          <a:prstGeom prst="round2SameRect">
            <a:avLst>
              <a:gd name="adj1" fmla="val 17695"/>
              <a:gd name="adj2" fmla="val 0"/>
            </a:avLst>
          </a:prstGeom>
          <a:solidFill>
            <a:srgbClr val="1040C3"/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우수사례 선정 및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OSMU 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콘텐츠 전략</a:t>
            </a:r>
            <a:endParaRPr kumimoji="0" lang="ko-KR" altLang="en-US" sz="1000" b="1" i="0" u="none" strike="noStrike" kern="0" cap="none" spc="-50" normalizeH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1" name="사각형: 둥근 위쪽 모서리 30">
            <a:extLst>
              <a:ext uri="{FF2B5EF4-FFF2-40B4-BE49-F238E27FC236}">
                <a16:creationId xmlns:a16="http://schemas.microsoft.com/office/drawing/2014/main" id="{C6199A30-562D-0FD9-AA2C-B66F15416B4F}"/>
              </a:ext>
            </a:extLst>
          </p:cNvPr>
          <p:cNvSpPr/>
          <p:nvPr/>
        </p:nvSpPr>
        <p:spPr bwMode="auto">
          <a:xfrm>
            <a:off x="5065422" y="2305046"/>
            <a:ext cx="4443404" cy="178705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fontAlgn="base"/>
            <a:endParaRPr lang="ko-KR" altLang="en-US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</a:endParaRPr>
          </a:p>
        </p:txBody>
      </p:sp>
      <p:sp>
        <p:nvSpPr>
          <p:cNvPr id="32" name="사각형: 둥근 위쪽 모서리 31">
            <a:extLst>
              <a:ext uri="{FF2B5EF4-FFF2-40B4-BE49-F238E27FC236}">
                <a16:creationId xmlns:a16="http://schemas.microsoft.com/office/drawing/2014/main" id="{98B9F31C-1467-2792-886B-197C33CC532F}"/>
              </a:ext>
            </a:extLst>
          </p:cNvPr>
          <p:cNvSpPr/>
          <p:nvPr/>
        </p:nvSpPr>
        <p:spPr bwMode="auto">
          <a:xfrm>
            <a:off x="5207401" y="2389665"/>
            <a:ext cx="1336834" cy="85146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72000" rIns="36000" bIns="0" rtlCol="0" anchor="t"/>
          <a:lstStyle/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선정 기준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: </a:t>
            </a:r>
          </a:p>
          <a:p>
            <a:pPr defTabSz="914400"/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 핵심성과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고용유지 효과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정부지원금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노사합의</a:t>
            </a:r>
          </a:p>
        </p:txBody>
      </p:sp>
      <p:sp>
        <p:nvSpPr>
          <p:cNvPr id="33" name="사각형: 둥근 위쪽 모서리 32">
            <a:extLst>
              <a:ext uri="{FF2B5EF4-FFF2-40B4-BE49-F238E27FC236}">
                <a16:creationId xmlns:a16="http://schemas.microsoft.com/office/drawing/2014/main" id="{EED2FFF6-AA33-EDE3-7F7E-3BCAF5C69125}"/>
              </a:ext>
            </a:extLst>
          </p:cNvPr>
          <p:cNvSpPr/>
          <p:nvPr/>
        </p:nvSpPr>
        <p:spPr bwMode="auto">
          <a:xfrm>
            <a:off x="5207401" y="3476211"/>
            <a:ext cx="1336834" cy="45928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8A7A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72000" rIns="36000" bIns="0" rtlCol="0" anchor="t"/>
          <a:lstStyle/>
          <a:p>
            <a:pPr algn="ctr" defTabSz="914400"/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G-DAX 4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대 유형별 최우수사례 </a:t>
            </a:r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개씩 선정</a:t>
            </a:r>
          </a:p>
        </p:txBody>
      </p:sp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7DA2AD25-E568-E65C-BEB7-42F1A1AD7B0F}"/>
              </a:ext>
            </a:extLst>
          </p:cNvPr>
          <p:cNvSpPr/>
          <p:nvPr/>
        </p:nvSpPr>
        <p:spPr bwMode="auto">
          <a:xfrm>
            <a:off x="6686215" y="2389665"/>
            <a:ext cx="2691960" cy="27383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OSMU </a:t>
            </a:r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전략 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(One Source Multi Use)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159893AC-4DA7-4472-BDBA-A598FA0EDCE4}"/>
              </a:ext>
            </a:extLst>
          </p:cNvPr>
          <p:cNvSpPr/>
          <p:nvPr/>
        </p:nvSpPr>
        <p:spPr bwMode="auto">
          <a:xfrm>
            <a:off x="6686214" y="2663500"/>
            <a:ext cx="2691961" cy="46637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72000" rIns="36000" bIns="0" rtlCol="0" anchor="t"/>
          <a:lstStyle/>
          <a:p>
            <a:pPr algn="ctr" defTabSz="914400"/>
            <a:r>
              <a:rPr lang="en-US" altLang="ko-KR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1</a:t>
            </a:r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개 우수사례 → 다양한 형태로 가공 </a:t>
            </a:r>
            <a:endParaRPr lang="en-US" altLang="ko-KR" sz="1000" b="1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rgbClr val="1040C3"/>
              </a:solidFill>
              <a:latin typeface="+mn-ea"/>
            </a:endParaRPr>
          </a:p>
          <a:p>
            <a:pPr algn="ctr" defTabSz="914400"/>
            <a:r>
              <a:rPr lang="ko-KR" altLang="en-US" sz="1000" b="1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1040C3"/>
                </a:solidFill>
                <a:latin typeface="+mn-ea"/>
              </a:rPr>
              <a:t>→ 다중 채널 배포</a:t>
            </a:r>
            <a:endParaRPr lang="ko-KR" altLang="en-US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D7FF8C61-BF9B-9C01-E8FE-3E23E55B4DAB}"/>
              </a:ext>
            </a:extLst>
          </p:cNvPr>
          <p:cNvSpPr/>
          <p:nvPr/>
        </p:nvSpPr>
        <p:spPr bwMode="auto">
          <a:xfrm>
            <a:off x="6686214" y="3195815"/>
            <a:ext cx="2691961" cy="73967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숏폼영상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(1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분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 → </a:t>
            </a: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쇼츠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릴스</a:t>
            </a:r>
            <a:endParaRPr lang="ko-KR" altLang="en-US" sz="9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카드뉴스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컷툰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 → </a:t>
            </a: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카톡채널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블로그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우수사례집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책자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·PDF) → </a:t>
            </a:r>
            <a:r>
              <a:rPr lang="ko-KR" altLang="en-US" sz="9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산단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지방청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온라인</a:t>
            </a:r>
          </a:p>
          <a:p>
            <a:pPr marL="171450" indent="-171450" defTabSz="9144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기획기사 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인터뷰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 →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일간지</a:t>
            </a:r>
            <a:r>
              <a:rPr lang="en-US" altLang="ko-KR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경제지</a:t>
            </a:r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3BCCF20D-BD4B-566E-98FA-7AD60B0451DC}"/>
              </a:ext>
            </a:extLst>
          </p:cNvPr>
          <p:cNvSpPr>
            <a:spLocks noEditPoints="1"/>
          </p:cNvSpPr>
          <p:nvPr/>
        </p:nvSpPr>
        <p:spPr bwMode="auto">
          <a:xfrm rot="5400000" flipH="1">
            <a:off x="5781882" y="3256456"/>
            <a:ext cx="187871" cy="189271"/>
          </a:xfrm>
          <a:custGeom>
            <a:avLst/>
            <a:gdLst>
              <a:gd name="T0" fmla="*/ 159 w 317"/>
              <a:gd name="T1" fmla="*/ 0 h 317"/>
              <a:gd name="T2" fmla="*/ 317 w 317"/>
              <a:gd name="T3" fmla="*/ 158 h 317"/>
              <a:gd name="T4" fmla="*/ 159 w 317"/>
              <a:gd name="T5" fmla="*/ 317 h 317"/>
              <a:gd name="T6" fmla="*/ 0 w 317"/>
              <a:gd name="T7" fmla="*/ 158 h 317"/>
              <a:gd name="T8" fmla="*/ 159 w 317"/>
              <a:gd name="T9" fmla="*/ 0 h 317"/>
              <a:gd name="T10" fmla="*/ 135 w 317"/>
              <a:gd name="T11" fmla="*/ 183 h 317"/>
              <a:gd name="T12" fmla="*/ 239 w 317"/>
              <a:gd name="T13" fmla="*/ 183 h 317"/>
              <a:gd name="T14" fmla="*/ 240 w 317"/>
              <a:gd name="T15" fmla="*/ 133 h 317"/>
              <a:gd name="T16" fmla="*/ 135 w 317"/>
              <a:gd name="T17" fmla="*/ 134 h 317"/>
              <a:gd name="T18" fmla="*/ 154 w 317"/>
              <a:gd name="T19" fmla="*/ 117 h 317"/>
              <a:gd name="T20" fmla="*/ 118 w 317"/>
              <a:gd name="T21" fmla="*/ 82 h 317"/>
              <a:gd name="T22" fmla="*/ 49 w 317"/>
              <a:gd name="T23" fmla="*/ 159 h 317"/>
              <a:gd name="T24" fmla="*/ 118 w 317"/>
              <a:gd name="T25" fmla="*/ 235 h 317"/>
              <a:gd name="T26" fmla="*/ 154 w 317"/>
              <a:gd name="T27" fmla="*/ 201 h 317"/>
              <a:gd name="T28" fmla="*/ 135 w 317"/>
              <a:gd name="T29" fmla="*/ 183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7" h="317">
                <a:moveTo>
                  <a:pt x="159" y="0"/>
                </a:moveTo>
                <a:cubicBezTo>
                  <a:pt x="246" y="0"/>
                  <a:pt x="317" y="71"/>
                  <a:pt x="317" y="158"/>
                </a:cubicBezTo>
                <a:cubicBezTo>
                  <a:pt x="317" y="246"/>
                  <a:pt x="246" y="317"/>
                  <a:pt x="159" y="317"/>
                </a:cubicBezTo>
                <a:cubicBezTo>
                  <a:pt x="71" y="317"/>
                  <a:pt x="0" y="246"/>
                  <a:pt x="0" y="158"/>
                </a:cubicBezTo>
                <a:cubicBezTo>
                  <a:pt x="0" y="71"/>
                  <a:pt x="71" y="0"/>
                  <a:pt x="159" y="0"/>
                </a:cubicBezTo>
                <a:close/>
                <a:moveTo>
                  <a:pt x="135" y="183"/>
                </a:moveTo>
                <a:cubicBezTo>
                  <a:pt x="239" y="183"/>
                  <a:pt x="239" y="183"/>
                  <a:pt x="239" y="183"/>
                </a:cubicBezTo>
                <a:cubicBezTo>
                  <a:pt x="277" y="183"/>
                  <a:pt x="277" y="133"/>
                  <a:pt x="240" y="133"/>
                </a:cubicBezTo>
                <a:cubicBezTo>
                  <a:pt x="135" y="134"/>
                  <a:pt x="135" y="134"/>
                  <a:pt x="135" y="134"/>
                </a:cubicBezTo>
                <a:cubicBezTo>
                  <a:pt x="142" y="128"/>
                  <a:pt x="148" y="122"/>
                  <a:pt x="154" y="117"/>
                </a:cubicBezTo>
                <a:cubicBezTo>
                  <a:pt x="181" y="88"/>
                  <a:pt x="143" y="52"/>
                  <a:pt x="118" y="82"/>
                </a:cubicBezTo>
                <a:cubicBezTo>
                  <a:pt x="49" y="159"/>
                  <a:pt x="49" y="159"/>
                  <a:pt x="49" y="159"/>
                </a:cubicBezTo>
                <a:cubicBezTo>
                  <a:pt x="118" y="235"/>
                  <a:pt x="118" y="235"/>
                  <a:pt x="118" y="235"/>
                </a:cubicBezTo>
                <a:cubicBezTo>
                  <a:pt x="143" y="266"/>
                  <a:pt x="182" y="227"/>
                  <a:pt x="154" y="201"/>
                </a:cubicBezTo>
                <a:cubicBezTo>
                  <a:pt x="135" y="183"/>
                  <a:pt x="135" y="183"/>
                  <a:pt x="135" y="183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38" name="사각형: 둥근 위쪽 모서리 37">
            <a:extLst>
              <a:ext uri="{FF2B5EF4-FFF2-40B4-BE49-F238E27FC236}">
                <a16:creationId xmlns:a16="http://schemas.microsoft.com/office/drawing/2014/main" id="{03035BF4-76A6-5FAB-326D-8A7C68DD7754}"/>
              </a:ext>
            </a:extLst>
          </p:cNvPr>
          <p:cNvSpPr/>
          <p:nvPr/>
        </p:nvSpPr>
        <p:spPr bwMode="auto">
          <a:xfrm>
            <a:off x="502606" y="4581628"/>
            <a:ext cx="1982295" cy="22790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온라인 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(Digital)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9" name="사각형: 둥근 위쪽 모서리 38">
            <a:extLst>
              <a:ext uri="{FF2B5EF4-FFF2-40B4-BE49-F238E27FC236}">
                <a16:creationId xmlns:a16="http://schemas.microsoft.com/office/drawing/2014/main" id="{C12E38E2-8240-56FF-9634-6BB31520332F}"/>
              </a:ext>
            </a:extLst>
          </p:cNvPr>
          <p:cNvSpPr/>
          <p:nvPr/>
        </p:nvSpPr>
        <p:spPr bwMode="auto">
          <a:xfrm>
            <a:off x="502605" y="4809534"/>
            <a:ext cx="1982295" cy="88046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72000" rIns="36000" bIns="0" rtlCol="0" anchor="t"/>
          <a:lstStyle/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자가진단 이벤트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(KSA·SNS)</a:t>
            </a:r>
          </a:p>
          <a:p>
            <a:pPr defTabSz="914400"/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키워드 검색 광고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SNS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바이럴 마케팅</a:t>
            </a:r>
          </a:p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언론 기획기사 </a:t>
            </a:r>
            <a:b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    (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일간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경제지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지역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kern="0" spc="-5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산업지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</p:txBody>
      </p:sp>
      <p:sp>
        <p:nvSpPr>
          <p:cNvPr id="40" name="사각형: 둥근 위쪽 모서리 39">
            <a:extLst>
              <a:ext uri="{FF2B5EF4-FFF2-40B4-BE49-F238E27FC236}">
                <a16:creationId xmlns:a16="http://schemas.microsoft.com/office/drawing/2014/main" id="{A6F4A44A-FE5C-F46C-E74C-6B97C0B7F8F7}"/>
              </a:ext>
            </a:extLst>
          </p:cNvPr>
          <p:cNvSpPr/>
          <p:nvPr/>
        </p:nvSpPr>
        <p:spPr bwMode="auto">
          <a:xfrm>
            <a:off x="2706761" y="4581628"/>
            <a:ext cx="1982295" cy="22790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D6DBE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/>
          <a:p>
            <a:pPr algn="ctr" defTabSz="914400"/>
            <a:r>
              <a:rPr lang="ko-KR" altLang="en-US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오프라인 </a:t>
            </a:r>
            <a:r>
              <a:rPr lang="en-US" altLang="ko-KR" sz="1000" b="1" kern="0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(Traditional)</a:t>
            </a:r>
            <a:endParaRPr kumimoji="0" lang="ko-KR" altLang="en-US" sz="1000" b="1" i="0" u="none" strike="noStrike" kern="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1" name="사각형: 둥근 위쪽 모서리 40">
            <a:extLst>
              <a:ext uri="{FF2B5EF4-FFF2-40B4-BE49-F238E27FC236}">
                <a16:creationId xmlns:a16="http://schemas.microsoft.com/office/drawing/2014/main" id="{9E8F4479-6870-B020-C576-A5808E348F8B}"/>
              </a:ext>
            </a:extLst>
          </p:cNvPr>
          <p:cNvSpPr/>
          <p:nvPr/>
        </p:nvSpPr>
        <p:spPr bwMode="auto">
          <a:xfrm>
            <a:off x="2706760" y="4809534"/>
            <a:ext cx="1982295" cy="88046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72000" rIns="36000" bIns="0" rtlCol="0" anchor="t"/>
          <a:lstStyle/>
          <a:p>
            <a:pPr defTabSz="914400"/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찾아가는 설명회 </a:t>
            </a:r>
            <a:endParaRPr lang="en-US" altLang="ko-KR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   (12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개 지역본부 기반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  <a:p>
            <a:pPr defTabSz="914400"/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└ CEO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포럼 연계 </a:t>
            </a:r>
            <a:endParaRPr lang="en-US" altLang="ko-KR" sz="1000" kern="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/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   (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조찬회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경영진 네트워크</a:t>
            </a:r>
            <a:r>
              <a:rPr lang="en-US" altLang="ko-KR" sz="1000" kern="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)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7490FD2-AE15-755B-FD97-3EDCC155ADE4}"/>
              </a:ext>
            </a:extLst>
          </p:cNvPr>
          <p:cNvSpPr/>
          <p:nvPr/>
        </p:nvSpPr>
        <p:spPr bwMode="auto">
          <a:xfrm>
            <a:off x="5075859" y="4261193"/>
            <a:ext cx="4385186" cy="1541083"/>
          </a:xfrm>
          <a:prstGeom prst="roundRect">
            <a:avLst>
              <a:gd name="adj" fmla="val 8808"/>
            </a:avLst>
          </a:prstGeom>
          <a:solidFill>
            <a:schemeClr val="bg1"/>
          </a:solidFill>
          <a:ln w="57150">
            <a:solidFill>
              <a:srgbClr val="5D6DBE">
                <a:alpha val="40000"/>
              </a:srgbClr>
            </a:solidFill>
            <a:miter lim="800000"/>
            <a:headEnd/>
            <a:tailEnd/>
          </a:ln>
          <a:effectLst/>
        </p:spPr>
        <p:txBody>
          <a:bodyPr wrap="square" lIns="72000" tIns="0" rIns="36000" bIns="0" rtlCol="0" anchor="ctr"/>
          <a:lstStyle/>
          <a:p>
            <a:pPr defTabSz="914400">
              <a:spcAft>
                <a:spcPts val="600"/>
              </a:spcAft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대 핵심성과 기준으로 우수사례 엄격히 선정</a:t>
            </a:r>
          </a:p>
          <a:p>
            <a:pPr defTabSz="914400">
              <a:spcAft>
                <a:spcPts val="600"/>
              </a:spcAft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OSMU 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전략으로 하나의 우수사례를 다중 채널 활용</a:t>
            </a:r>
          </a:p>
          <a:p>
            <a:pPr defTabSz="914400">
              <a:spcAft>
                <a:spcPts val="600"/>
              </a:spcAft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단계 지속 로드맵으로 인지 → 확산 → 검증 강화</a:t>
            </a:r>
          </a:p>
          <a:p>
            <a:pPr defTabSz="914400">
              <a:spcAft>
                <a:spcPts val="600"/>
              </a:spcAft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온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오프라인 미디어 믹스로 최대 홍보 효과</a:t>
            </a:r>
          </a:p>
          <a:p>
            <a:pPr defTabSz="914400">
              <a:spcAft>
                <a:spcPts val="600"/>
              </a:spcAft>
            </a:pP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✓ 경영진</a:t>
            </a:r>
            <a:r>
              <a:rPr lang="en-US" altLang="ko-KR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00" b="1" kern="0" spc="-7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실무자 이원화 채널로 타깃 정확성 강화</a:t>
            </a:r>
          </a:p>
        </p:txBody>
      </p:sp>
      <p:pic>
        <p:nvPicPr>
          <p:cNvPr id="43" name="그림 42" descr="텍스트, 의류, 만화 영화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20002B-F946-3097-FAFE-D9268096FE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014" y="4467327"/>
            <a:ext cx="1174235" cy="11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01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6015434" y="3547332"/>
            <a:ext cx="3077767" cy="738664"/>
          </a:xfrm>
        </p:spPr>
        <p:txBody>
          <a:bodyPr/>
          <a:lstStyle/>
          <a:p>
            <a:pPr lvl="0"/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544987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디자인 사용자 지정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3175">
          <a:solidFill>
            <a:schemeClr val="bg1">
              <a:lumMod val="65000"/>
            </a:schemeClr>
          </a:solidFill>
          <a:miter lim="800000"/>
          <a:headEnd/>
          <a:tailEnd/>
        </a:ln>
        <a:effectLst/>
      </a:spPr>
      <a:bodyPr wrap="square" lIns="36000" tIns="0" rIns="36000" bIns="0" rtlCol="0" anchor="ctr"/>
      <a:lstStyle>
        <a:defPPr marL="88900" marR="0" indent="-88900" algn="l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 typeface="Arial" pitchFamily="34" charset="0"/>
          <a:buChar char="•"/>
          <a:tabLst/>
          <a:defRPr kumimoji="0" b="0" i="0" u="none" strike="noStrike" kern="0" cap="none" spc="0" normalizeH="0" baseline="0" noProof="0" dirty="0" smtClean="0">
            <a:ln>
              <a:noFill/>
            </a:ln>
            <a:solidFill>
              <a:sysClr val="windowText" lastClr="000000"/>
            </a:solidFill>
            <a:effectLst/>
            <a:uLnTx/>
            <a:uFillTx/>
            <a:latin typeface="+mn-ea"/>
            <a:ea typeface="+mn-ea"/>
          </a:defRPr>
        </a:defPPr>
      </a:lstStyle>
    </a:spDef>
    <a:lnDef>
      <a:spPr bwMode="auto">
        <a:solidFill>
          <a:srgbClr val="970F43"/>
        </a:solidFill>
        <a:ln w="635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>
        <a:spAutoFit/>
      </a:bodyPr>
      <a:lstStyle>
        <a:defPPr algn="l">
          <a:defRPr sz="1100" dirty="0">
            <a:solidFill>
              <a:schemeClr val="tx1"/>
            </a:solidFill>
          </a:defRPr>
        </a:defPPr>
      </a:lstStyle>
    </a:tx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10967</TotalTime>
  <Words>9537</Words>
  <Application>Microsoft Office PowerPoint</Application>
  <PresentationFormat>A4 용지(210x297mm)</PresentationFormat>
  <Paragraphs>1582</Paragraphs>
  <Slides>31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0" baseType="lpstr">
      <vt:lpstr>HY견명조</vt:lpstr>
      <vt:lpstr>HY헤드라인M</vt:lpstr>
      <vt:lpstr>맑은 고딕</vt:lpstr>
      <vt:lpstr>산돌고딕 M</vt:lpstr>
      <vt:lpstr>Arial</vt:lpstr>
      <vt:lpstr>Tahoma</vt:lpstr>
      <vt:lpstr>Wingdings</vt:lpstr>
      <vt:lpstr>7_디자인 사용자 지정</vt:lpstr>
      <vt:lpstr>think-cell Slide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KSA</cp:lastModifiedBy>
  <cp:revision>1962</cp:revision>
  <cp:lastPrinted>2021-05-06T06:14:31Z</cp:lastPrinted>
  <dcterms:created xsi:type="dcterms:W3CDTF">2015-12-07T00:11:22Z</dcterms:created>
  <dcterms:modified xsi:type="dcterms:W3CDTF">2026-02-03T01:37:12Z</dcterms:modified>
</cp:coreProperties>
</file>